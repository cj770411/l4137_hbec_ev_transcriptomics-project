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76" r:id="rId2"/>
    <p:sldId id="277" r:id="rId3"/>
    <p:sldId id="278" r:id="rId4"/>
    <p:sldId id="279" r:id="rId5"/>
    <p:sldId id="280" r:id="rId6"/>
    <p:sldId id="281" r:id="rId7"/>
    <p:sldId id="282" r:id="rId8"/>
    <p:sldId id="283" r:id="rId9"/>
    <p:sldId id="284" r:id="rId10"/>
    <p:sldId id="295" r:id="rId11"/>
    <p:sldId id="285" r:id="rId12"/>
    <p:sldId id="297" r:id="rId13"/>
    <p:sldId id="298" r:id="rId14"/>
    <p:sldId id="299" r:id="rId15"/>
    <p:sldId id="300" r:id="rId16"/>
    <p:sldId id="288" r:id="rId17"/>
    <p:sldId id="289" r:id="rId18"/>
    <p:sldId id="290" r:id="rId19"/>
    <p:sldId id="291" r:id="rId20"/>
    <p:sldId id="292" r:id="rId21"/>
    <p:sldId id="293" r:id="rId22"/>
    <p:sldId id="294" r:id="rId23"/>
    <p:sldId id="301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4B1156A-380E-4F78-BDF5-A606A8083BF9}" styleName="Medium Style 4 –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0505E3EF-67EA-436B-97B2-0124C06EBD24}" styleName="Medium Style 4 –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8A107856-5554-42FB-B03E-39F5DBC370BA}" styleName="Medium Style 4 –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9CF1AB2-1976-4502-BF36-3FF5EA218861}" styleName="Medium Style 4 –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–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–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–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–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344D84-9AFB-497E-A393-DC336BA19D2E}" styleName="Medium Style 3 –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2838BEF-8BB2-4498-84A7-C5851F593DF1}" styleName="Medium Style 4 –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–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–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–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–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–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Dark Style 1 –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–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660B408-B3CF-4A94-85FC-2B1E0A45F4A2}" styleName="Dark Style 2 –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EBBBCC-DAD2-459C-BE2E-F6DE35CF9A28}" styleName="Dark Style 2 –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–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–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–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–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–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–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–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–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–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–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–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–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–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–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–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–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–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–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–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–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103"/>
    <p:restoredTop sz="91349"/>
  </p:normalViewPr>
  <p:slideViewPr>
    <p:cSldViewPr snapToGrid="0">
      <p:cViewPr>
        <p:scale>
          <a:sx n="160" d="100"/>
          <a:sy n="160" d="100"/>
        </p:scale>
        <p:origin x="1960" y="6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BB9A7B-CC8D-CB4B-96C7-D620BE5EB343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1E7E17-40CA-274F-8297-5DBF26091F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45969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A18F0-ACFB-02DB-3275-5845B1943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06104A-D343-311F-55E8-AD70BBD8DC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840DF9-0CD9-0023-5AD2-BB9D20BABD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[need to state the aim is to use open-access software]</a:t>
            </a:r>
          </a:p>
          <a:p>
            <a:r>
              <a:rPr lang="en-GB" dirty="0"/>
              <a:t>[need to state the findings is that the workflow produced biologically plausible results on datasets where experimental design was appropriate but not when the design was inappropriate]</a:t>
            </a:r>
          </a:p>
          <a:p>
            <a:r>
              <a:rPr lang="en-GB" dirty="0"/>
              <a:t>[need to state the significance is also that it could save money on outsourcing transcriptomics]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F99C77-76B0-141B-21D5-0DDA18E7F1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7E17-40CA-274F-8297-5DBF26091FCD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28952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7E17-40CA-274F-8297-5DBF26091FCD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22622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E2178-C667-7E57-0F97-58554A0F9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947FB9-FC09-412A-76CE-3B3DC6DAB1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241B78-EA98-91A2-7967-F4485F72C6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[all allergens are nebulised with PBS as untreated control]</a:t>
            </a:r>
          </a:p>
          <a:p>
            <a:r>
              <a:rPr lang="en-GB" dirty="0"/>
              <a:t>[each condition contained 3 biological replicates]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02A046-3ACA-D6B2-DF13-5C8991F5DE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7E17-40CA-274F-8297-5DBF26091FCD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93185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63F940-5AC7-C269-1643-DF88951D6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4BAA39-A70B-2F5D-5C17-F09C999F4D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B72022-91BB-A65B-F56F-87033CABB3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[finish by signposting I'm going to go through the results]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21A46C-44E4-C87A-B072-9D1C318FD6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7E17-40CA-274F-8297-5DBF26091FCD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32475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A66EF-D406-8321-0981-4566AEADC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D414E3-4A1B-589F-F4C9-BEF3A61647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7A59BE-3E79-D86E-7EAD-722C232C53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CA2EDF-1D76-4B77-B437-610C54743D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7E17-40CA-274F-8297-5DBF26091FCD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45208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[essentially 50% split of upregulated and </a:t>
            </a:r>
            <a:r>
              <a:rPr lang="en-GB"/>
              <a:t>downregulated mirnas in dose 24]</a:t>
            </a:r>
          </a:p>
          <a:p>
            <a:r>
              <a:rPr lang="en-GB"/>
              <a:t>[even at exploratory FDR threshold, barely any more mirnas were identified as differentially expressed]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7E17-40CA-274F-8297-5DBF26091FCD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8523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DBF7F5-21CE-839E-E798-E8633B731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CE882F-23DE-1467-268D-31375FF614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6AC99D-F1B9-F7A2-D273-82E56CD575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[emphasise this was performed on primary HBEC samples exposed to dose 24 protease]</a:t>
            </a:r>
          </a:p>
          <a:p>
            <a:r>
              <a:rPr lang="en-GB" dirty="0"/>
              <a:t>[discuss the number of sig pathways from target-gene level versus miRNA-level]</a:t>
            </a:r>
          </a:p>
          <a:p>
            <a:r>
              <a:rPr lang="en-GB" dirty="0"/>
              <a:t>[0 significant pathways in downregulated miRNA ORA and both up- and down-regulated miRNA-SEA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D2A4B8-C590-E59C-C9D4-E6E85A6F69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7E17-40CA-274F-8297-5DBF26091FCD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44209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[segway from last slide is because there were too few de miRNAs, had to use a literature search instead]</a:t>
            </a:r>
          </a:p>
          <a:p>
            <a:r>
              <a:rPr lang="en-GB" dirty="0"/>
              <a:t>[then introduce the categories as categories relevant to airway inflammation, signalling and the airway epithelial barrier]</a:t>
            </a:r>
          </a:p>
          <a:p>
            <a:r>
              <a:rPr lang="en-GB" dirty="0"/>
              <a:t>[references to specific papers might be good e.g., respiratory diseases]</a:t>
            </a:r>
          </a:p>
          <a:p>
            <a:r>
              <a:rPr lang="en-GB" dirty="0"/>
              <a:t>[miR-125b-5p also appeared in the dose 24 protease samples]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7E17-40CA-274F-8297-5DBF26091FCD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36589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[during the course of this analysis, the following experimental design considerations were recommended to increase the robustness of </a:t>
            </a:r>
            <a:r>
              <a:rPr lang="en-GB" dirty="0" err="1"/>
              <a:t>transcriptmics</a:t>
            </a:r>
            <a:r>
              <a:rPr lang="en-GB" dirty="0"/>
              <a:t> for future studies]</a:t>
            </a:r>
          </a:p>
          <a:p>
            <a:r>
              <a:rPr lang="en-GB" dirty="0"/>
              <a:t>[sample size because replicates lacking concordance were identified and potential outlier samples were identified but these weren’t removed to retain 3 biological replicates]</a:t>
            </a:r>
          </a:p>
          <a:p>
            <a:r>
              <a:rPr lang="en-GB" dirty="0"/>
              <a:t>[increase EV size to increase miRNA abundance. This will increase the statistical power of diff expression analysis and may increase the number of miRNAs retained after filtering lowly expressed miRNAs]</a:t>
            </a:r>
          </a:p>
          <a:p>
            <a:r>
              <a:rPr lang="en-GB" dirty="0"/>
              <a:t>[integrate mRNA data to avoid context-dependent filtering problems – look for anticorrelated miRNA-mRNA relationships as miRNAs suppress mRNAs]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7E17-40CA-274F-8297-5DBF26091FCD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75894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2FDAA-EEEE-AF00-60CB-C87EE3516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97727A-A2B0-7625-85E8-62C1638C7D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D15D98-7D86-6833-8C53-55D614D175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[all allergens are nebulised with PBS as untreated control]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47F851-7380-74DC-9272-838314A02D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7E17-40CA-274F-8297-5DBF26091FCD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70645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7E17-40CA-274F-8297-5DBF26091FCD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910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54846-A774-D786-4B1D-6CB1586CB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872C7B-C90D-EA1A-C657-DF83FD61AE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6DA566-533A-F438-4344-2F2D3A7DF0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[sample size because replicates lacking concordance were identified and potential outlier samples were identified but these weren’t removed to retain 3 biological replicates]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11D1F5-410C-AB4C-1BC7-5831816F48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7E17-40CA-274F-8297-5DBF26091FCD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14247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4EEBB-5FA6-FD5B-1A7C-A0BB8F18A4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AF08B5-8E64-0051-9D54-83D6783597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0BA714-CAF2-697B-D374-EC6EB083A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1023E-778A-574F-80D3-C8C1C80DD39B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8A45EA-E969-3B8D-E043-84F5FC213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DFCA8A-E0DF-73B2-4A78-53FF840F3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2C436-2398-F34B-A706-69BC3409080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0082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D3AC8-233A-E279-38B4-3BD0A3407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74DE64-9F71-E9CE-84D7-C6B5668FD2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37EDA9-A344-DE37-CE81-92C23EE10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1023E-778A-574F-80D3-C8C1C80DD39B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45817D-36C4-5EC8-D361-6D55DC3BE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2E905B-F375-7567-00D1-48A2E59B9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2C436-2398-F34B-A706-69BC3409080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72435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62639-87E7-7B82-EE93-BDE3F8D60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854515-8183-3DFD-77FB-F58CC07553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00EC03-F221-DC2D-F3BD-4B2697F80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1023E-778A-574F-80D3-C8C1C80DD39B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3EF58-8DB0-CC21-2CEF-7831F2649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BFAB4A-908F-4627-FCAC-DAE3819A2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2C436-2398-F34B-A706-69BC3409080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68164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8C6A0-34F7-8DD9-0339-798CB40F1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9D8979-6E68-DDEC-AFCB-88A4FA22F7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9FB517-0D8D-4F58-DE36-17566F5F73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C9C1F0-DAFB-7308-355E-43514EF33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1023E-778A-574F-80D3-C8C1C80DD39B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EDF178-D4EA-4315-7F85-235055F38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B06BFB-30ED-C22D-1D68-11B9C58BA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2C436-2398-F34B-A706-69BC3409080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4551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52713-AE3E-E7C7-5C47-3DF42737E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A72BE8-786F-C013-DF8E-667BB398F4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65BA19-42B8-1B68-A79F-1F6ED0BB90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99AD99-22C6-1024-7C40-A788A78E71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DC7F92-75C3-53BD-BC20-D7EAF2F320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D9F70C-3F0C-562E-A9FC-0A1C5113D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1023E-778A-574F-80D3-C8C1C80DD39B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17E965-82F6-F91F-00A9-207318A52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639181-2072-519C-27F5-2C1D92236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2C436-2398-F34B-A706-69BC3409080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2615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574C7-3FB1-2C47-68BA-A3C2A3F44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157A85-133E-95B9-4A50-A1BBAC921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1023E-778A-574F-80D3-C8C1C80DD39B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A1287B-3885-13F2-DBAD-50AFEF492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B6876E-7911-53A2-E5FC-44E633F13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2C436-2398-F34B-A706-69BC3409080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3911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DCBCE5-9AA6-09FE-186E-1484C3CAE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1023E-778A-574F-80D3-C8C1C80DD39B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05A7D5-D834-33E7-4155-514F8D17B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3B60A3-E890-AC88-389B-323C242C8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2C436-2398-F34B-A706-69BC3409080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6318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74F55-774D-E0C1-CEB0-AAB70F6FE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4F8108-87B9-86CB-2533-C689E4645A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4FB6FD-BB76-911D-7858-0E250EACEB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138AC1-88DC-15F2-9EF1-BDC34FE16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1023E-778A-574F-80D3-C8C1C80DD39B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3DEFF8-EC0F-3018-A120-5C899354C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387783-0D77-6077-2722-CF160482E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2C436-2398-F34B-A706-69BC3409080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16075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1B396-D153-2886-7F7C-8C6B07B34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1FF8C9-01CA-DB9F-E9A4-4330814C6F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5E1FAE-ACD4-71AA-6378-63CDB8B4F9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DD35BF-DBBC-C4C6-DAB4-FF285CD94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1023E-778A-574F-80D3-C8C1C80DD39B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6C80E0-6E1F-26D1-5F5E-5D96F7CC5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3E5226-7AC7-7893-C995-E03F1A684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2C436-2398-F34B-A706-69BC3409080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258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69BF9-8314-4BB4-6863-6BF0B3C22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31E6C4-EA2F-B228-49C6-C54B85FC50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A0AAFE-9B03-D708-816F-93C8500D9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1023E-778A-574F-80D3-C8C1C80DD39B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7DCEA6-7ED8-A716-6BD8-C58A7CB9E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730B2F-CAB7-F9FE-E089-B225E2B40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2C436-2398-F34B-A706-69BC3409080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2116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CB63E7-2D80-6E63-A21A-74B5AC6B50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2C04C7-2EB7-8810-3B95-92F7DD6AC9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F6EC41-829F-5002-C952-239CBC6A7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1023E-778A-574F-80D3-C8C1C80DD39B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181911-9EA8-4CFE-4CF1-13BC9FC2E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D5534B-5CCE-9251-1308-D3AEBD658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2C436-2398-F34B-A706-69BC3409080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89533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3EE2C7-9E18-BFD5-7A11-E3A347F4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832A12-5364-CA10-56DA-FF98402BE1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098582-13D8-AB6B-DDA9-941CEF4419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A1023E-778A-574F-80D3-C8C1C80DD39B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446C69-8155-818A-EED5-629F43F5FF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085AF-B349-0AA8-90F8-4A4B9BC499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B2C436-2398-F34B-A706-69BC3409080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7267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jp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e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0.png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613795-BDB8-A8AE-9CCF-7D1FEEB4A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D1701-76B0-F084-A8F6-45B8B8BDB7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0372" y="1163161"/>
            <a:ext cx="10991256" cy="2031055"/>
          </a:xfrm>
        </p:spPr>
        <p:txBody>
          <a:bodyPr>
            <a:noAutofit/>
          </a:bodyPr>
          <a:lstStyle/>
          <a:p>
            <a:r>
              <a:rPr lang="en-GB" sz="2800" b="1" dirty="0">
                <a:solidFill>
                  <a:schemeClr val="accent1">
                    <a:lumMod val="50000"/>
                  </a:schemeClr>
                </a:solidFill>
              </a:rPr>
              <a:t>Transcriptomic analysis of extracellular vesicle miRNA cargo derived</a:t>
            </a:r>
            <a:br>
              <a:rPr lang="en-GB" sz="28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GB" sz="2800" b="1" dirty="0">
                <a:solidFill>
                  <a:schemeClr val="accent1">
                    <a:lumMod val="50000"/>
                  </a:schemeClr>
                </a:solidFill>
              </a:rPr>
              <a:t>from allergen-exposed airway epithelial cells using</a:t>
            </a:r>
            <a:br>
              <a:rPr lang="en-GB" sz="28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GB" sz="2800" b="1" dirty="0">
                <a:solidFill>
                  <a:schemeClr val="accent1">
                    <a:lumMod val="50000"/>
                  </a:schemeClr>
                </a:solidFill>
              </a:rPr>
              <a:t>open-access software</a:t>
            </a:r>
            <a:endParaRPr lang="en-GB" sz="28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46BBCD-7543-D2C9-E580-B4095680A7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5368" y="4160126"/>
            <a:ext cx="6105194" cy="682079"/>
          </a:xfrm>
        </p:spPr>
        <p:txBody>
          <a:bodyPr>
            <a:normAutofit lnSpcReduction="10000"/>
          </a:bodyPr>
          <a:lstStyle/>
          <a:p>
            <a:r>
              <a:rPr lang="en-GB" sz="1800" dirty="0">
                <a:solidFill>
                  <a:schemeClr val="tx2"/>
                </a:solidFill>
              </a:rPr>
              <a:t>Student ID: 	50805916</a:t>
            </a:r>
          </a:p>
          <a:p>
            <a:r>
              <a:rPr lang="en-GB" sz="1800" dirty="0">
                <a:solidFill>
                  <a:schemeClr val="tx2"/>
                </a:solidFill>
              </a:rPr>
              <a:t>   Name:	 Christopher Janschke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A2EC9B-6594-58D3-3A5F-66ECCBBC301B}"/>
              </a:ext>
            </a:extLst>
          </p:cNvPr>
          <p:cNvSpPr/>
          <p:nvPr/>
        </p:nvSpPr>
        <p:spPr>
          <a:xfrm>
            <a:off x="2828693" y="3531426"/>
            <a:ext cx="6534614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79543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02C24-B653-EB47-F571-F2364A227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25A764A-7D57-D403-CFFA-3874462E0262}"/>
              </a:ext>
            </a:extLst>
          </p:cNvPr>
          <p:cNvGraphicFramePr>
            <a:graphicFrameLocks noGrp="1"/>
          </p:cNvGraphicFramePr>
          <p:nvPr/>
        </p:nvGraphicFramePr>
        <p:xfrm>
          <a:off x="1153160" y="1268306"/>
          <a:ext cx="9184640" cy="4781976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923869">
                  <a:extLst>
                    <a:ext uri="{9D8B030D-6E8A-4147-A177-3AD203B41FA5}">
                      <a16:colId xmlns:a16="http://schemas.microsoft.com/office/drawing/2014/main" val="2734460248"/>
                    </a:ext>
                  </a:extLst>
                </a:gridCol>
                <a:gridCol w="7260771">
                  <a:extLst>
                    <a:ext uri="{9D8B030D-6E8A-4147-A177-3AD203B41FA5}">
                      <a16:colId xmlns:a16="http://schemas.microsoft.com/office/drawing/2014/main" val="3048280910"/>
                    </a:ext>
                  </a:extLst>
                </a:gridCol>
              </a:tblGrid>
              <a:tr h="1195494"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Aims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Determine impact of allergen exposure on airway biology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1550636"/>
                  </a:ext>
                </a:extLst>
              </a:tr>
              <a:tr h="1195494"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Methods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sym typeface="Wingdings" pitchFamily="2" charset="2"/>
                        </a:rPr>
                        <a:t>Differential Expression  </a:t>
                      </a:r>
                      <a:r>
                        <a:rPr lang="en-GB" dirty="0"/>
                        <a:t>Method</a:t>
                      </a:r>
                      <a:r>
                        <a:rPr lang="en-GB" dirty="0">
                          <a:sym typeface="Wingdings" pitchFamily="2" charset="2"/>
                        </a:rPr>
                        <a:t> </a:t>
                      </a:r>
                      <a:r>
                        <a:rPr lang="en-GB" dirty="0"/>
                        <a:t>development </a:t>
                      </a:r>
                      <a:r>
                        <a:rPr lang="en-GB" dirty="0">
                          <a:sym typeface="Wingdings" pitchFamily="2" charset="2"/>
                        </a:rPr>
                        <a:t> Pathway Analysis[] </a:t>
                      </a:r>
                      <a:endParaRPr lang="en-GB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9114698"/>
                  </a:ext>
                </a:extLst>
              </a:tr>
              <a:tr h="1195494"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Findings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Biologically plausible results are obtainable provided suitable experimental design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4479082"/>
                  </a:ext>
                </a:extLst>
              </a:tr>
              <a:tr h="1195494"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Significance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Informs experimental design for future experiments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368931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A15B1F5-867B-6049-0AA1-525006AFE51B}"/>
              </a:ext>
            </a:extLst>
          </p:cNvPr>
          <p:cNvSpPr txBox="1"/>
          <p:nvPr/>
        </p:nvSpPr>
        <p:spPr>
          <a:xfrm>
            <a:off x="304800" y="228600"/>
            <a:ext cx="29108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Project Summary</a:t>
            </a:r>
          </a:p>
        </p:txBody>
      </p:sp>
    </p:spTree>
    <p:extLst>
      <p:ext uri="{BB962C8B-B14F-4D97-AF65-F5344CB8AC3E}">
        <p14:creationId xmlns:p14="http://schemas.microsoft.com/office/powerpoint/2010/main" val="2565965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286E5-FB24-01A1-7F7A-D3357D5FD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6114825-89D4-D613-87F8-2E0B1338346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80" r="387"/>
          <a:stretch>
            <a:fillRect/>
          </a:stretch>
        </p:blipFill>
        <p:spPr>
          <a:xfrm>
            <a:off x="691256" y="1142360"/>
            <a:ext cx="10767319" cy="5324475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CE7D51B8-CC1E-CBE7-B0B3-11930DEACBBA}"/>
              </a:ext>
            </a:extLst>
          </p:cNvPr>
          <p:cNvSpPr/>
          <p:nvPr/>
        </p:nvSpPr>
        <p:spPr>
          <a:xfrm>
            <a:off x="774526" y="963280"/>
            <a:ext cx="408561" cy="40856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33CF72E-4AFC-8015-1CE2-DDCF11FD9E13}"/>
              </a:ext>
            </a:extLst>
          </p:cNvPr>
          <p:cNvSpPr/>
          <p:nvPr/>
        </p:nvSpPr>
        <p:spPr>
          <a:xfrm>
            <a:off x="3842451" y="963280"/>
            <a:ext cx="408561" cy="40856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5EAFEB1-07D8-B05F-5CE0-44B99D3F3C6E}"/>
              </a:ext>
            </a:extLst>
          </p:cNvPr>
          <p:cNvSpPr/>
          <p:nvPr/>
        </p:nvSpPr>
        <p:spPr>
          <a:xfrm>
            <a:off x="5892296" y="804032"/>
            <a:ext cx="408561" cy="40856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690B2A6-9AD2-62B3-17EE-9F884C085D3D}"/>
              </a:ext>
            </a:extLst>
          </p:cNvPr>
          <p:cNvSpPr/>
          <p:nvPr/>
        </p:nvSpPr>
        <p:spPr>
          <a:xfrm>
            <a:off x="8805581" y="804032"/>
            <a:ext cx="408561" cy="40856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4</a:t>
            </a:r>
          </a:p>
        </p:txBody>
      </p:sp>
      <p:pic>
        <p:nvPicPr>
          <p:cNvPr id="10" name="Graphic 9" descr="Close outline">
            <a:extLst>
              <a:ext uri="{FF2B5EF4-FFF2-40B4-BE49-F238E27FC236}">
                <a16:creationId xmlns:a16="http://schemas.microsoft.com/office/drawing/2014/main" id="{EABFA430-8485-59AC-4A08-72B44C739E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40236" y="2976274"/>
            <a:ext cx="905452" cy="905452"/>
          </a:xfrm>
          <a:prstGeom prst="rect">
            <a:avLst/>
          </a:prstGeom>
        </p:spPr>
      </p:pic>
      <p:pic>
        <p:nvPicPr>
          <p:cNvPr id="11" name="Graphic 10" descr="Close outline">
            <a:extLst>
              <a:ext uri="{FF2B5EF4-FFF2-40B4-BE49-F238E27FC236}">
                <a16:creationId xmlns:a16="http://schemas.microsoft.com/office/drawing/2014/main" id="{B75575C8-1B0A-6BC1-DB3E-AD04F1252B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40236" y="1624295"/>
            <a:ext cx="905452" cy="905452"/>
          </a:xfrm>
          <a:prstGeom prst="rect">
            <a:avLst/>
          </a:prstGeom>
        </p:spPr>
      </p:pic>
      <p:pic>
        <p:nvPicPr>
          <p:cNvPr id="12" name="Graphic 11" descr="Close with solid fill">
            <a:extLst>
              <a:ext uri="{FF2B5EF4-FFF2-40B4-BE49-F238E27FC236}">
                <a16:creationId xmlns:a16="http://schemas.microsoft.com/office/drawing/2014/main" id="{D1397304-EE8E-02CD-FAD8-492E1B07E8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55831" y="2571426"/>
            <a:ext cx="354031" cy="354031"/>
          </a:xfrm>
          <a:prstGeom prst="rect">
            <a:avLst/>
          </a:prstGeom>
        </p:spPr>
      </p:pic>
      <p:pic>
        <p:nvPicPr>
          <p:cNvPr id="13" name="Graphic 12" descr="Close with solid fill">
            <a:extLst>
              <a:ext uri="{FF2B5EF4-FFF2-40B4-BE49-F238E27FC236}">
                <a16:creationId xmlns:a16="http://schemas.microsoft.com/office/drawing/2014/main" id="{D7C48334-BAB4-8F07-A05B-A7A2D5D4D9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20787" y="3018294"/>
            <a:ext cx="354031" cy="354031"/>
          </a:xfrm>
          <a:prstGeom prst="rect">
            <a:avLst/>
          </a:prstGeom>
        </p:spPr>
      </p:pic>
      <p:pic>
        <p:nvPicPr>
          <p:cNvPr id="14" name="Graphic 13" descr="Close with solid fill">
            <a:extLst>
              <a:ext uri="{FF2B5EF4-FFF2-40B4-BE49-F238E27FC236}">
                <a16:creationId xmlns:a16="http://schemas.microsoft.com/office/drawing/2014/main" id="{E9771703-FAE2-71EC-663D-5C270B4285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990308" y="2748441"/>
            <a:ext cx="354031" cy="35403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B8A9FF6-2828-98EB-8489-19A3F691A183}"/>
              </a:ext>
            </a:extLst>
          </p:cNvPr>
          <p:cNvSpPr txBox="1"/>
          <p:nvPr/>
        </p:nvSpPr>
        <p:spPr>
          <a:xfrm>
            <a:off x="1183087" y="982895"/>
            <a:ext cx="2089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Allergen exposure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D432AA1-D1A3-67BE-D7DE-26FE96D16317}"/>
              </a:ext>
            </a:extLst>
          </p:cNvPr>
          <p:cNvSpPr txBox="1"/>
          <p:nvPr/>
        </p:nvSpPr>
        <p:spPr>
          <a:xfrm>
            <a:off x="4283796" y="982895"/>
            <a:ext cx="10903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EV cargo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C9BEDDE-B30D-3633-7513-82D8C15B55BC}"/>
              </a:ext>
            </a:extLst>
          </p:cNvPr>
          <p:cNvSpPr txBox="1"/>
          <p:nvPr/>
        </p:nvSpPr>
        <p:spPr>
          <a:xfrm>
            <a:off x="6299705" y="823647"/>
            <a:ext cx="2076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Gene suppression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7D6C48-5D77-45B3-83F8-F9B4A4DDD758}"/>
              </a:ext>
            </a:extLst>
          </p:cNvPr>
          <p:cNvSpPr txBox="1"/>
          <p:nvPr/>
        </p:nvSpPr>
        <p:spPr>
          <a:xfrm>
            <a:off x="9226594" y="823647"/>
            <a:ext cx="2274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Pathway disruption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E0F89B0-FF43-A3F8-3A2A-787C188AC797}"/>
              </a:ext>
            </a:extLst>
          </p:cNvPr>
          <p:cNvSpPr txBox="1"/>
          <p:nvPr/>
        </p:nvSpPr>
        <p:spPr>
          <a:xfrm>
            <a:off x="304800" y="228600"/>
            <a:ext cx="29108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Background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A14A2CC-D092-7756-DE28-191D851704E1}"/>
              </a:ext>
            </a:extLst>
          </p:cNvPr>
          <p:cNvSpPr txBox="1"/>
          <p:nvPr/>
        </p:nvSpPr>
        <p:spPr>
          <a:xfrm>
            <a:off x="691256" y="6466835"/>
            <a:ext cx="690727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Figure created in </a:t>
            </a:r>
            <a:r>
              <a:rPr lang="en-GB" sz="1000" dirty="0" err="1"/>
              <a:t>BioRender</a:t>
            </a:r>
            <a:r>
              <a:rPr lang="en-GB" sz="1000" dirty="0"/>
              <a:t>: https://</a:t>
            </a:r>
            <a:r>
              <a:rPr lang="en-GB" sz="1000" dirty="0" err="1"/>
              <a:t>BioRender.com</a:t>
            </a:r>
            <a:r>
              <a:rPr lang="en-GB" sz="1000" dirty="0">
                <a:effectLst/>
              </a:rPr>
              <a:t> </a:t>
            </a:r>
            <a:endParaRPr lang="en-GB" sz="10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C0485BD-8C49-D99B-7E3A-AC68C7285CFB}"/>
              </a:ext>
            </a:extLst>
          </p:cNvPr>
          <p:cNvSpPr/>
          <p:nvPr/>
        </p:nvSpPr>
        <p:spPr>
          <a:xfrm>
            <a:off x="548640" y="4572000"/>
            <a:ext cx="10952104" cy="18948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FB9B9E9D-29EE-A04A-FD04-75DFB646063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1203" t="12139" r="4305" b="36156"/>
          <a:stretch>
            <a:fillRect/>
          </a:stretch>
        </p:blipFill>
        <p:spPr>
          <a:xfrm>
            <a:off x="649087" y="4506723"/>
            <a:ext cx="5446914" cy="196011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02BC71E-02D8-E867-2B22-63DCBD262E73}"/>
              </a:ext>
            </a:extLst>
          </p:cNvPr>
          <p:cNvSpPr/>
          <p:nvPr/>
        </p:nvSpPr>
        <p:spPr>
          <a:xfrm>
            <a:off x="5892296" y="532015"/>
            <a:ext cx="5778773" cy="36742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DA9B12B-333E-13C1-05C1-5EEB4215B27B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9785" t="2966" r="13489" b="6566"/>
          <a:stretch>
            <a:fillRect/>
          </a:stretch>
        </p:blipFill>
        <p:spPr>
          <a:xfrm>
            <a:off x="6180483" y="1531091"/>
            <a:ext cx="5963556" cy="3429640"/>
          </a:xfrm>
          <a:prstGeom prst="rect">
            <a:avLst/>
          </a:prstGeom>
        </p:spPr>
      </p:pic>
      <p:sp>
        <p:nvSpPr>
          <p:cNvPr id="23" name="Oval 22">
            <a:extLst>
              <a:ext uri="{FF2B5EF4-FFF2-40B4-BE49-F238E27FC236}">
                <a16:creationId xmlns:a16="http://schemas.microsoft.com/office/drawing/2014/main" id="{D5AA484B-3BAE-23EB-1029-EE3189AAD3E5}"/>
              </a:ext>
            </a:extLst>
          </p:cNvPr>
          <p:cNvSpPr/>
          <p:nvPr/>
        </p:nvSpPr>
        <p:spPr>
          <a:xfrm>
            <a:off x="6044696" y="963280"/>
            <a:ext cx="408561" cy="40856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84A6F41-AF41-65B7-BDD0-C497E4DE14B0}"/>
              </a:ext>
            </a:extLst>
          </p:cNvPr>
          <p:cNvSpPr/>
          <p:nvPr/>
        </p:nvSpPr>
        <p:spPr>
          <a:xfrm>
            <a:off x="8957981" y="963280"/>
            <a:ext cx="408561" cy="40856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9423755-F455-8FF6-A1C8-6A3080688E1E}"/>
              </a:ext>
            </a:extLst>
          </p:cNvPr>
          <p:cNvSpPr txBox="1"/>
          <p:nvPr/>
        </p:nvSpPr>
        <p:spPr>
          <a:xfrm>
            <a:off x="6452105" y="982895"/>
            <a:ext cx="2076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Gene suppression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C6F3FB3-2521-3221-E8D1-DCE5FF6A9611}"/>
              </a:ext>
            </a:extLst>
          </p:cNvPr>
          <p:cNvSpPr txBox="1"/>
          <p:nvPr/>
        </p:nvSpPr>
        <p:spPr>
          <a:xfrm>
            <a:off x="9378994" y="982895"/>
            <a:ext cx="2274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Pathway disruption</a:t>
            </a:r>
          </a:p>
        </p:txBody>
      </p:sp>
      <p:pic>
        <p:nvPicPr>
          <p:cNvPr id="27" name="Graphic 26" descr="Close outline">
            <a:extLst>
              <a:ext uri="{FF2B5EF4-FFF2-40B4-BE49-F238E27FC236}">
                <a16:creationId xmlns:a16="http://schemas.microsoft.com/office/drawing/2014/main" id="{2B357205-17E6-3AAD-1E95-1C4C774E57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46483" y="2070822"/>
            <a:ext cx="905452" cy="905452"/>
          </a:xfrm>
          <a:prstGeom prst="rect">
            <a:avLst/>
          </a:prstGeom>
        </p:spPr>
      </p:pic>
      <p:pic>
        <p:nvPicPr>
          <p:cNvPr id="28" name="Graphic 27" descr="Close outline">
            <a:extLst>
              <a:ext uri="{FF2B5EF4-FFF2-40B4-BE49-F238E27FC236}">
                <a16:creationId xmlns:a16="http://schemas.microsoft.com/office/drawing/2014/main" id="{CCA0DBC9-E100-A5A5-5640-C4B564B8E4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46483" y="3678034"/>
            <a:ext cx="905452" cy="905452"/>
          </a:xfrm>
          <a:prstGeom prst="rect">
            <a:avLst/>
          </a:prstGeom>
        </p:spPr>
      </p:pic>
      <p:pic>
        <p:nvPicPr>
          <p:cNvPr id="29" name="Graphic 28" descr="Close with solid fill">
            <a:extLst>
              <a:ext uri="{FF2B5EF4-FFF2-40B4-BE49-F238E27FC236}">
                <a16:creationId xmlns:a16="http://schemas.microsoft.com/office/drawing/2014/main" id="{CCEAA365-9CA5-172C-5971-942E8B15B9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70327" y="3130866"/>
            <a:ext cx="354031" cy="354031"/>
          </a:xfrm>
          <a:prstGeom prst="rect">
            <a:avLst/>
          </a:prstGeom>
        </p:spPr>
      </p:pic>
      <p:pic>
        <p:nvPicPr>
          <p:cNvPr id="30" name="Graphic 29" descr="Close with solid fill">
            <a:extLst>
              <a:ext uri="{FF2B5EF4-FFF2-40B4-BE49-F238E27FC236}">
                <a16:creationId xmlns:a16="http://schemas.microsoft.com/office/drawing/2014/main" id="{0970A991-9714-FF57-0C54-AE9D489B83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39053" y="3678034"/>
            <a:ext cx="354031" cy="354031"/>
          </a:xfrm>
          <a:prstGeom prst="rect">
            <a:avLst/>
          </a:prstGeom>
        </p:spPr>
      </p:pic>
      <p:pic>
        <p:nvPicPr>
          <p:cNvPr id="31" name="Graphic 30" descr="Close with solid fill">
            <a:extLst>
              <a:ext uri="{FF2B5EF4-FFF2-40B4-BE49-F238E27FC236}">
                <a16:creationId xmlns:a16="http://schemas.microsoft.com/office/drawing/2014/main" id="{6677D165-8101-7FA9-D917-5ACA443AA9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689304" y="3324003"/>
            <a:ext cx="354031" cy="354031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3B374FB4-3336-7B75-0170-22181B14FBEF}"/>
              </a:ext>
            </a:extLst>
          </p:cNvPr>
          <p:cNvSpPr txBox="1"/>
          <p:nvPr/>
        </p:nvSpPr>
        <p:spPr>
          <a:xfrm>
            <a:off x="5958922" y="5244673"/>
            <a:ext cx="13346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Airway</a:t>
            </a:r>
          </a:p>
          <a:p>
            <a:r>
              <a:rPr lang="en-GB" sz="1600" dirty="0"/>
              <a:t>Epithelial Barrier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DC72CC7-192C-9D16-1039-0BF8B761DABA}"/>
              </a:ext>
            </a:extLst>
          </p:cNvPr>
          <p:cNvSpPr txBox="1"/>
          <p:nvPr/>
        </p:nvSpPr>
        <p:spPr>
          <a:xfrm>
            <a:off x="4141917" y="2102840"/>
            <a:ext cx="40856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/>
              <a:t>EV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90F1EB2E-FFDE-420D-58CA-F7A441E7832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8807" y="1650358"/>
            <a:ext cx="447868" cy="395014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A048A9BA-2A19-4BB9-29A7-AE309C1EAEC5}"/>
              </a:ext>
            </a:extLst>
          </p:cNvPr>
          <p:cNvSpPr txBox="1"/>
          <p:nvPr/>
        </p:nvSpPr>
        <p:spPr>
          <a:xfrm>
            <a:off x="4073406" y="1717987"/>
            <a:ext cx="59903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/>
              <a:t>miRNA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B3E008B1-06A8-A19C-E799-9FA01011041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89559" y="2023689"/>
            <a:ext cx="416529" cy="395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5294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488D2-229E-A853-CBAB-0B7999A98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EC206A8-B28D-E92A-1AE6-0E18061AABC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503" t="11725" b="63132"/>
          <a:stretch>
            <a:fillRect/>
          </a:stretch>
        </p:blipFill>
        <p:spPr>
          <a:xfrm rot="5400000">
            <a:off x="5724685" y="4609844"/>
            <a:ext cx="2209574" cy="64502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F5DFBE1-12AD-B971-1951-03F7FFA0B35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503" t="11725" b="63132"/>
          <a:stretch>
            <a:fillRect/>
          </a:stretch>
        </p:blipFill>
        <p:spPr>
          <a:xfrm rot="16200000">
            <a:off x="5544501" y="1501823"/>
            <a:ext cx="2209574" cy="64502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FCC2920-8374-5190-204D-DDAE5143CF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0837" y="2313589"/>
            <a:ext cx="3079405" cy="205293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CF84626-5020-A713-5A8C-9B33BECEB9F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686" t="39488" r="50915" b="48718"/>
          <a:stretch>
            <a:fillRect/>
          </a:stretch>
        </p:blipFill>
        <p:spPr>
          <a:xfrm rot="752272">
            <a:off x="3935913" y="3168423"/>
            <a:ext cx="1945964" cy="34738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FABFC3A-D01C-C3CB-F96F-15DDAC4FAEB9}"/>
              </a:ext>
            </a:extLst>
          </p:cNvPr>
          <p:cNvSpPr txBox="1"/>
          <p:nvPr/>
        </p:nvSpPr>
        <p:spPr>
          <a:xfrm>
            <a:off x="304800" y="228600"/>
            <a:ext cx="29108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Study Data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E040B64-355B-3DB7-0F82-792C5C2EC98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9213" t="8505" r="23376" b="54213"/>
          <a:stretch>
            <a:fillRect/>
          </a:stretch>
        </p:blipFill>
        <p:spPr>
          <a:xfrm>
            <a:off x="304801" y="1946442"/>
            <a:ext cx="3710539" cy="14986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2934883-8747-05AF-CFED-EBA43F730743}"/>
              </a:ext>
            </a:extLst>
          </p:cNvPr>
          <p:cNvSpPr txBox="1"/>
          <p:nvPr/>
        </p:nvSpPr>
        <p:spPr>
          <a:xfrm>
            <a:off x="532999" y="1579460"/>
            <a:ext cx="24544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Primary HBEC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59ED26F-929C-956B-C2AE-C10535A26A7C}"/>
              </a:ext>
            </a:extLst>
          </p:cNvPr>
          <p:cNvSpPr txBox="1"/>
          <p:nvPr/>
        </p:nvSpPr>
        <p:spPr>
          <a:xfrm>
            <a:off x="532998" y="3812024"/>
            <a:ext cx="28198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Calu-3 adenocarcinoma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4613728-61D4-F10D-BA6A-1FB4E18DA34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686" t="39488" r="50915" b="48718"/>
          <a:stretch>
            <a:fillRect/>
          </a:stretch>
        </p:blipFill>
        <p:spPr>
          <a:xfrm rot="20400988">
            <a:off x="3945815" y="4017533"/>
            <a:ext cx="1945964" cy="34738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F0273CA-2931-2F83-9461-DDA26FC761A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9213" t="71274" r="23376"/>
          <a:stretch>
            <a:fillRect/>
          </a:stretch>
        </p:blipFill>
        <p:spPr>
          <a:xfrm>
            <a:off x="304800" y="4123898"/>
            <a:ext cx="3710539" cy="1154642"/>
          </a:xfrm>
          <a:prstGeom prst="rect">
            <a:avLst/>
          </a:prstGeom>
        </p:spPr>
      </p:pic>
      <p:sp>
        <p:nvSpPr>
          <p:cNvPr id="22" name="Down Arrow 21">
            <a:extLst>
              <a:ext uri="{FF2B5EF4-FFF2-40B4-BE49-F238E27FC236}">
                <a16:creationId xmlns:a16="http://schemas.microsoft.com/office/drawing/2014/main" id="{3A3942CB-CA25-4B2C-0CC0-D1DC6A48C8E2}"/>
              </a:ext>
            </a:extLst>
          </p:cNvPr>
          <p:cNvSpPr/>
          <p:nvPr/>
        </p:nvSpPr>
        <p:spPr>
          <a:xfrm rot="16200000">
            <a:off x="8077422" y="2900716"/>
            <a:ext cx="656314" cy="1534995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BB5AC0B3-DAC2-A974-283F-9E977E1146D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47924" t="23573" r="5478" b="19535"/>
          <a:stretch>
            <a:fillRect/>
          </a:stretch>
        </p:blipFill>
        <p:spPr>
          <a:xfrm>
            <a:off x="9339486" y="2196546"/>
            <a:ext cx="2852514" cy="2287659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47507ED9-6D56-DE13-B836-9C4BE84CA621}"/>
              </a:ext>
            </a:extLst>
          </p:cNvPr>
          <p:cNvSpPr txBox="1"/>
          <p:nvPr/>
        </p:nvSpPr>
        <p:spPr>
          <a:xfrm>
            <a:off x="9903968" y="1870116"/>
            <a:ext cx="24544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Transcriptomics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93829F6-870F-FF67-6D4C-0FCD755B036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603" t="68233" r="23031" b="23100"/>
          <a:stretch>
            <a:fillRect/>
          </a:stretch>
        </p:blipFill>
        <p:spPr>
          <a:xfrm rot="20301830">
            <a:off x="3653585" y="1236353"/>
            <a:ext cx="2302135" cy="22234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D89DAC2-5E1F-6A66-D53D-1C39DB775F7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96006" y="5168180"/>
            <a:ext cx="1849066" cy="15307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EE2373C-02D9-A43E-038F-341D8CE8D3D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16926" y="53060"/>
            <a:ext cx="2025091" cy="15264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25D8F6F-0672-64C9-5DDF-964C4AB1085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603" t="68233" r="23031" b="23100"/>
          <a:stretch>
            <a:fillRect/>
          </a:stretch>
        </p:blipFill>
        <p:spPr>
          <a:xfrm rot="1420035">
            <a:off x="3447020" y="5741411"/>
            <a:ext cx="2302135" cy="22234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F32D12E-3455-2F1A-694B-2FF404549D19}"/>
              </a:ext>
            </a:extLst>
          </p:cNvPr>
          <p:cNvSpPr txBox="1"/>
          <p:nvPr/>
        </p:nvSpPr>
        <p:spPr>
          <a:xfrm>
            <a:off x="244707" y="6200959"/>
            <a:ext cx="690727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Figure created in </a:t>
            </a:r>
            <a:r>
              <a:rPr lang="en-GB" sz="1000" dirty="0" err="1"/>
              <a:t>BioRender</a:t>
            </a:r>
            <a:r>
              <a:rPr lang="en-GB" sz="1000" dirty="0"/>
              <a:t>: https://</a:t>
            </a:r>
            <a:r>
              <a:rPr lang="en-GB" sz="1000" dirty="0" err="1"/>
              <a:t>BioRender.com</a:t>
            </a:r>
            <a:r>
              <a:rPr lang="en-GB" sz="1000" dirty="0">
                <a:effectLst/>
              </a:rPr>
              <a:t> </a:t>
            </a:r>
            <a:endParaRPr lang="en-GB" sz="1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7C7C58-5FC1-D9ED-828C-6596055BAE89}"/>
              </a:ext>
            </a:extLst>
          </p:cNvPr>
          <p:cNvSpPr txBox="1"/>
          <p:nvPr/>
        </p:nvSpPr>
        <p:spPr>
          <a:xfrm rot="903980">
            <a:off x="4491070" y="3068077"/>
            <a:ext cx="94574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00" dirty="0"/>
              <a:t>Triplicate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968E6C-5D4C-CE57-7BE6-39044DDB9A13}"/>
              </a:ext>
            </a:extLst>
          </p:cNvPr>
          <p:cNvSpPr txBox="1"/>
          <p:nvPr/>
        </p:nvSpPr>
        <p:spPr>
          <a:xfrm rot="20385235">
            <a:off x="4612793" y="4178408"/>
            <a:ext cx="94574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00" dirty="0"/>
              <a:t>Triplicate</a:t>
            </a:r>
          </a:p>
        </p:txBody>
      </p:sp>
    </p:spTree>
    <p:extLst>
      <p:ext uri="{BB962C8B-B14F-4D97-AF65-F5344CB8AC3E}">
        <p14:creationId xmlns:p14="http://schemas.microsoft.com/office/powerpoint/2010/main" val="21825508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65142B-8672-2B84-1B21-E413CE86B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8952349C-2345-F4D9-B2C5-DF5FF6C98C3B}"/>
              </a:ext>
            </a:extLst>
          </p:cNvPr>
          <p:cNvSpPr/>
          <p:nvPr/>
        </p:nvSpPr>
        <p:spPr>
          <a:xfrm>
            <a:off x="1894984" y="2521466"/>
            <a:ext cx="9506857" cy="2184400"/>
          </a:xfrm>
          <a:prstGeom prst="roundRect">
            <a:avLst/>
          </a:prstGeom>
          <a:solidFill>
            <a:schemeClr val="accent1">
              <a:alpha val="7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EC08C3E7-79B2-07A2-5CEB-2EE421FB65B9}"/>
              </a:ext>
            </a:extLst>
          </p:cNvPr>
          <p:cNvGrpSpPr/>
          <p:nvPr/>
        </p:nvGrpSpPr>
        <p:grpSpPr>
          <a:xfrm>
            <a:off x="9018357" y="203886"/>
            <a:ext cx="2919600" cy="2792478"/>
            <a:chOff x="9018357" y="203886"/>
            <a:chExt cx="2919600" cy="2792478"/>
          </a:xfrm>
        </p:grpSpPr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9A2C40B7-C827-E7A7-5AD4-7F05248613D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9213" t="8505" r="23376" b="54213"/>
            <a:stretch>
              <a:fillRect/>
            </a:stretch>
          </p:blipFill>
          <p:spPr>
            <a:xfrm>
              <a:off x="9124912" y="1327140"/>
              <a:ext cx="2193931" cy="785610"/>
            </a:xfrm>
            <a:prstGeom prst="rect">
              <a:avLst/>
            </a:prstGeom>
          </p:spPr>
        </p:pic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7626B4F8-55B4-D832-7FA7-4DE44E811B9B}"/>
                </a:ext>
              </a:extLst>
            </p:cNvPr>
            <p:cNvSpPr txBox="1"/>
            <p:nvPr/>
          </p:nvSpPr>
          <p:spPr>
            <a:xfrm>
              <a:off x="9018357" y="203886"/>
              <a:ext cx="2919600" cy="1831271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b="1" dirty="0"/>
                <a:t>Method Development</a:t>
              </a:r>
            </a:p>
            <a:p>
              <a:pPr marL="342900" indent="-342900">
                <a:buAutoNum type="arabicPeriod"/>
              </a:pPr>
              <a:r>
                <a:rPr lang="en-GB" sz="1400" dirty="0"/>
                <a:t>Target gene-level</a:t>
              </a:r>
            </a:p>
            <a:p>
              <a:pPr marL="342900" indent="-342900">
                <a:buAutoNum type="arabicPeriod"/>
              </a:pPr>
              <a:endParaRPr lang="en-GB" sz="300" dirty="0"/>
            </a:p>
            <a:p>
              <a:pPr marL="342900" indent="-342900">
                <a:buAutoNum type="arabicPeriod"/>
              </a:pPr>
              <a:r>
                <a:rPr lang="en-GB" sz="1400" dirty="0"/>
                <a:t>miRNA-level</a:t>
              </a:r>
            </a:p>
            <a:p>
              <a:pPr marL="342900" indent="-342900">
                <a:buAutoNum type="arabicPeriod"/>
              </a:pPr>
              <a:endParaRPr lang="en-GB" sz="800" dirty="0"/>
            </a:p>
            <a:p>
              <a:r>
                <a:rPr lang="en-GB" sz="1400" dirty="0"/>
                <a:t>Cell type: Primary HBEC</a:t>
              </a:r>
            </a:p>
            <a:p>
              <a:pPr marL="342900" indent="-342900">
                <a:buAutoNum type="arabicPeriod"/>
              </a:pPr>
              <a:endParaRPr lang="en-GB" sz="2400" dirty="0"/>
            </a:p>
            <a:p>
              <a:pPr marL="342900" indent="-342900">
                <a:buAutoNum type="arabicPeriod"/>
              </a:pPr>
              <a:endParaRPr lang="en-GB" dirty="0"/>
            </a:p>
          </p:txBody>
        </p:sp>
        <p:sp>
          <p:nvSpPr>
            <p:cNvPr id="34" name="Down Arrow 33">
              <a:extLst>
                <a:ext uri="{FF2B5EF4-FFF2-40B4-BE49-F238E27FC236}">
                  <a16:creationId xmlns:a16="http://schemas.microsoft.com/office/drawing/2014/main" id="{DF7BC269-0F38-04BC-2B25-65262E9844B6}"/>
                </a:ext>
              </a:extLst>
            </p:cNvPr>
            <p:cNvSpPr/>
            <p:nvPr/>
          </p:nvSpPr>
          <p:spPr>
            <a:xfrm rot="10800000">
              <a:off x="10351749" y="2061023"/>
              <a:ext cx="431042" cy="935341"/>
            </a:xfrm>
            <a:prstGeom prst="downArrow">
              <a:avLst/>
            </a:prstGeom>
            <a:solidFill>
              <a:srgbClr val="FFC000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5B34106-3ADD-39A2-191E-09E77F334D61}"/>
              </a:ext>
            </a:extLst>
          </p:cNvPr>
          <p:cNvSpPr txBox="1"/>
          <p:nvPr/>
        </p:nvSpPr>
        <p:spPr>
          <a:xfrm>
            <a:off x="304800" y="228600"/>
            <a:ext cx="29108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Transcriptomics Workflow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C4DEB69-C20C-456D-DE65-C06C4AE5EF3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7924" t="23573" r="5478" b="19535"/>
          <a:stretch>
            <a:fillRect/>
          </a:stretch>
        </p:blipFill>
        <p:spPr>
          <a:xfrm>
            <a:off x="72532" y="2996364"/>
            <a:ext cx="1756685" cy="1408826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5851C7D3-E87C-6B11-4531-892B49FDCEA7}"/>
              </a:ext>
            </a:extLst>
          </p:cNvPr>
          <p:cNvSpPr/>
          <p:nvPr/>
        </p:nvSpPr>
        <p:spPr>
          <a:xfrm>
            <a:off x="2232444" y="3149208"/>
            <a:ext cx="1074058" cy="95799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ysClr val="windowText" lastClr="000000"/>
                </a:solidFill>
              </a:rPr>
              <a:t>Trimming</a:t>
            </a:r>
          </a:p>
        </p:txBody>
      </p:sp>
      <p:sp>
        <p:nvSpPr>
          <p:cNvPr id="25" name="Right Arrow 24">
            <a:extLst>
              <a:ext uri="{FF2B5EF4-FFF2-40B4-BE49-F238E27FC236}">
                <a16:creationId xmlns:a16="http://schemas.microsoft.com/office/drawing/2014/main" id="{9D98EE40-956B-AFDE-F251-197F23FD49F6}"/>
              </a:ext>
            </a:extLst>
          </p:cNvPr>
          <p:cNvSpPr/>
          <p:nvPr/>
        </p:nvSpPr>
        <p:spPr>
          <a:xfrm>
            <a:off x="3445294" y="3512091"/>
            <a:ext cx="587828" cy="2322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2C4ADBE-3749-5CFE-B64A-F80F167EAB80}"/>
              </a:ext>
            </a:extLst>
          </p:cNvPr>
          <p:cNvSpPr/>
          <p:nvPr/>
        </p:nvSpPr>
        <p:spPr>
          <a:xfrm>
            <a:off x="4171914" y="3149208"/>
            <a:ext cx="1074058" cy="95799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ysClr val="windowText" lastClr="000000"/>
                </a:solidFill>
              </a:rPr>
              <a:t>Quality</a:t>
            </a:r>
          </a:p>
          <a:p>
            <a:pPr algn="ctr"/>
            <a:r>
              <a:rPr lang="en-GB" sz="1400" dirty="0">
                <a:solidFill>
                  <a:sysClr val="windowText" lastClr="000000"/>
                </a:solidFill>
              </a:rPr>
              <a:t>Control</a:t>
            </a:r>
          </a:p>
        </p:txBody>
      </p:sp>
      <p:sp>
        <p:nvSpPr>
          <p:cNvPr id="27" name="Right Arrow 26">
            <a:extLst>
              <a:ext uri="{FF2B5EF4-FFF2-40B4-BE49-F238E27FC236}">
                <a16:creationId xmlns:a16="http://schemas.microsoft.com/office/drawing/2014/main" id="{BFB453D8-E34B-E2FF-642F-7387651CBFC2}"/>
              </a:ext>
            </a:extLst>
          </p:cNvPr>
          <p:cNvSpPr/>
          <p:nvPr/>
        </p:nvSpPr>
        <p:spPr>
          <a:xfrm>
            <a:off x="5384764" y="3512091"/>
            <a:ext cx="587828" cy="2322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AC714F2-0A55-0853-1DE9-06F59E2C4B3C}"/>
              </a:ext>
            </a:extLst>
          </p:cNvPr>
          <p:cNvSpPr/>
          <p:nvPr/>
        </p:nvSpPr>
        <p:spPr>
          <a:xfrm>
            <a:off x="6111384" y="3105665"/>
            <a:ext cx="1074058" cy="95799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ysClr val="windowText" lastClr="000000"/>
                </a:solidFill>
              </a:rPr>
              <a:t>miRNA Mapping</a:t>
            </a:r>
          </a:p>
        </p:txBody>
      </p:sp>
      <p:sp>
        <p:nvSpPr>
          <p:cNvPr id="29" name="Right Arrow 28">
            <a:extLst>
              <a:ext uri="{FF2B5EF4-FFF2-40B4-BE49-F238E27FC236}">
                <a16:creationId xmlns:a16="http://schemas.microsoft.com/office/drawing/2014/main" id="{86F963C6-6654-3E71-5C6B-0AB075BAC902}"/>
              </a:ext>
            </a:extLst>
          </p:cNvPr>
          <p:cNvSpPr/>
          <p:nvPr/>
        </p:nvSpPr>
        <p:spPr>
          <a:xfrm>
            <a:off x="7324234" y="3468548"/>
            <a:ext cx="587828" cy="2322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9550911-D385-4D87-E306-76ECD5B3B0BA}"/>
              </a:ext>
            </a:extLst>
          </p:cNvPr>
          <p:cNvSpPr/>
          <p:nvPr/>
        </p:nvSpPr>
        <p:spPr>
          <a:xfrm>
            <a:off x="8050854" y="3105665"/>
            <a:ext cx="1074058" cy="95799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ysClr val="windowText" lastClr="000000"/>
                </a:solidFill>
              </a:rPr>
              <a:t>Differential Expression</a:t>
            </a:r>
          </a:p>
        </p:txBody>
      </p:sp>
      <p:sp>
        <p:nvSpPr>
          <p:cNvPr id="31" name="Right Arrow 30">
            <a:extLst>
              <a:ext uri="{FF2B5EF4-FFF2-40B4-BE49-F238E27FC236}">
                <a16:creationId xmlns:a16="http://schemas.microsoft.com/office/drawing/2014/main" id="{C2EAB085-E14A-4B25-7A64-B0129EE9B9D7}"/>
              </a:ext>
            </a:extLst>
          </p:cNvPr>
          <p:cNvSpPr/>
          <p:nvPr/>
        </p:nvSpPr>
        <p:spPr>
          <a:xfrm>
            <a:off x="9263704" y="3468548"/>
            <a:ext cx="587828" cy="2322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0B39F44-ADBC-1A93-09FC-C69904F998E3}"/>
              </a:ext>
            </a:extLst>
          </p:cNvPr>
          <p:cNvSpPr/>
          <p:nvPr/>
        </p:nvSpPr>
        <p:spPr>
          <a:xfrm>
            <a:off x="9990325" y="3105664"/>
            <a:ext cx="1153890" cy="95799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ysClr val="windowText" lastClr="000000"/>
                </a:solidFill>
              </a:rPr>
              <a:t>Pathway Enrichment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F5C523E0-707C-2750-5F80-99703A363299}"/>
              </a:ext>
            </a:extLst>
          </p:cNvPr>
          <p:cNvGrpSpPr/>
          <p:nvPr/>
        </p:nvGrpSpPr>
        <p:grpSpPr>
          <a:xfrm>
            <a:off x="8953350" y="4107204"/>
            <a:ext cx="2982713" cy="2533157"/>
            <a:chOff x="8953350" y="4107204"/>
            <a:chExt cx="2982713" cy="2533157"/>
          </a:xfrm>
        </p:grpSpPr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AAFD0309-2B48-F2EB-A31C-23B26D822F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9213" t="71274" r="23376"/>
            <a:stretch>
              <a:fillRect/>
            </a:stretch>
          </p:blipFill>
          <p:spPr>
            <a:xfrm>
              <a:off x="8953350" y="5826050"/>
              <a:ext cx="2633703" cy="784800"/>
            </a:xfrm>
            <a:prstGeom prst="rect">
              <a:avLst/>
            </a:prstGeom>
          </p:spPr>
        </p:pic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06B093BD-8347-994E-4213-3CA3F97C32CC}"/>
                </a:ext>
              </a:extLst>
            </p:cNvPr>
            <p:cNvSpPr txBox="1"/>
            <p:nvPr/>
          </p:nvSpPr>
          <p:spPr>
            <a:xfrm>
              <a:off x="9018357" y="5086089"/>
              <a:ext cx="2917706" cy="1554272"/>
            </a:xfrm>
            <a:prstGeom prst="rect">
              <a:avLst/>
            </a:prstGeom>
            <a:noFill/>
            <a:ln w="19050">
              <a:solidFill>
                <a:schemeClr val="accent3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sz="2000" b="1" dirty="0"/>
                <a:t>Literature Search</a:t>
              </a:r>
            </a:p>
            <a:p>
              <a:endParaRPr lang="en-GB" sz="600" dirty="0"/>
            </a:p>
            <a:p>
              <a:endParaRPr lang="en-GB" sz="300" dirty="0"/>
            </a:p>
            <a:p>
              <a:r>
                <a:rPr lang="en-GB" sz="1400" dirty="0"/>
                <a:t>Cell type: Calu-3</a:t>
              </a:r>
            </a:p>
            <a:p>
              <a:endParaRPr lang="en-GB" sz="2400" dirty="0"/>
            </a:p>
            <a:p>
              <a:endParaRPr lang="en-GB" sz="1400" dirty="0"/>
            </a:p>
            <a:p>
              <a:endParaRPr lang="en-GB" sz="1400" dirty="0"/>
            </a:p>
          </p:txBody>
        </p:sp>
        <p:sp>
          <p:nvSpPr>
            <p:cNvPr id="38" name="Down Arrow 37">
              <a:extLst>
                <a:ext uri="{FF2B5EF4-FFF2-40B4-BE49-F238E27FC236}">
                  <a16:creationId xmlns:a16="http://schemas.microsoft.com/office/drawing/2014/main" id="{0332363D-56D8-6C44-50B8-CEDCF83D6836}"/>
                </a:ext>
              </a:extLst>
            </p:cNvPr>
            <p:cNvSpPr/>
            <p:nvPr/>
          </p:nvSpPr>
          <p:spPr>
            <a:xfrm>
              <a:off x="10414506" y="4107204"/>
              <a:ext cx="431042" cy="935341"/>
            </a:xfrm>
            <a:prstGeom prst="downArrow">
              <a:avLst/>
            </a:prstGeom>
            <a:solidFill>
              <a:schemeClr val="accent6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406708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BFF15-5FF0-6894-CE25-6CB0DF0BD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EE2FE7F-F56C-9BBF-1A99-86066B3165BD}"/>
              </a:ext>
            </a:extLst>
          </p:cNvPr>
          <p:cNvSpPr txBox="1"/>
          <p:nvPr/>
        </p:nvSpPr>
        <p:spPr>
          <a:xfrm>
            <a:off x="304800" y="228600"/>
            <a:ext cx="29108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Results (1)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180D9F-AF6E-50C4-C64B-5FF97D0EF3F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03" t="32411" r="10388" b="33218"/>
          <a:stretch>
            <a:fillRect/>
          </a:stretch>
        </p:blipFill>
        <p:spPr>
          <a:xfrm>
            <a:off x="2405411" y="1721708"/>
            <a:ext cx="7956852" cy="222421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F6DAE2E-1654-7754-6DF8-173D3C7D42F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9213" t="8505" r="23376" b="54213"/>
          <a:stretch>
            <a:fillRect/>
          </a:stretch>
        </p:blipFill>
        <p:spPr>
          <a:xfrm>
            <a:off x="493869" y="2326076"/>
            <a:ext cx="2079860" cy="84000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31876C7-D7D3-18FD-A7D3-C9CFBB35F25A}"/>
              </a:ext>
            </a:extLst>
          </p:cNvPr>
          <p:cNvSpPr txBox="1"/>
          <p:nvPr/>
        </p:nvSpPr>
        <p:spPr>
          <a:xfrm>
            <a:off x="567609" y="2039413"/>
            <a:ext cx="24544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Primary HBEC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2B043C-7E24-0C35-68D6-2DA40C902D58}"/>
              </a:ext>
            </a:extLst>
          </p:cNvPr>
          <p:cNvSpPr txBox="1"/>
          <p:nvPr/>
        </p:nvSpPr>
        <p:spPr>
          <a:xfrm>
            <a:off x="493869" y="4696865"/>
            <a:ext cx="28198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Calu-3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E279421-2426-F9BE-75E0-3338EF11ECE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1717" t="71274" r="23377"/>
          <a:stretch>
            <a:fillRect/>
          </a:stretch>
        </p:blipFill>
        <p:spPr>
          <a:xfrm>
            <a:off x="493869" y="4993495"/>
            <a:ext cx="1915297" cy="62318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87EC3DE-C90C-B619-7612-B38621EC0C0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03" t="66782" r="10388"/>
          <a:stretch>
            <a:fillRect/>
          </a:stretch>
        </p:blipFill>
        <p:spPr>
          <a:xfrm>
            <a:off x="2444158" y="4312456"/>
            <a:ext cx="7956000" cy="195711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8308D17-83D7-D099-36C7-FD957CB138B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9253" t="69850" b="8497"/>
          <a:stretch>
            <a:fillRect/>
          </a:stretch>
        </p:blipFill>
        <p:spPr>
          <a:xfrm>
            <a:off x="10096946" y="2598545"/>
            <a:ext cx="1905583" cy="246823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5F778A5B-8DC7-F279-F324-7632B81AED3B}"/>
              </a:ext>
            </a:extLst>
          </p:cNvPr>
          <p:cNvSpPr/>
          <p:nvPr/>
        </p:nvSpPr>
        <p:spPr>
          <a:xfrm>
            <a:off x="2677297" y="1721708"/>
            <a:ext cx="7419649" cy="51898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305575BF-7EF5-B606-BA53-DE158286E28C}"/>
              </a:ext>
            </a:extLst>
          </p:cNvPr>
          <p:cNvGraphicFramePr>
            <a:graphicFrameLocks noGrp="1"/>
          </p:cNvGraphicFramePr>
          <p:nvPr/>
        </p:nvGraphicFramePr>
        <p:xfrm>
          <a:off x="4448432" y="149893"/>
          <a:ext cx="6295768" cy="1316567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6295768">
                  <a:extLst>
                    <a:ext uri="{9D8B030D-6E8A-4147-A177-3AD203B41FA5}">
                      <a16:colId xmlns:a16="http://schemas.microsoft.com/office/drawing/2014/main" val="3859239714"/>
                    </a:ext>
                  </a:extLst>
                </a:gridCol>
              </a:tblGrid>
              <a:tr h="447715">
                <a:tc>
                  <a:txBody>
                    <a:bodyPr/>
                    <a:lstStyle/>
                    <a:p>
                      <a:r>
                        <a:rPr lang="en-GB" dirty="0"/>
                        <a:t>Summary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4715783"/>
                  </a:ext>
                </a:extLst>
              </a:tr>
              <a:tr h="457221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GB" dirty="0"/>
                        <a:t>Low miRNA abundance in Calu-3 samples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3029511"/>
                  </a:ext>
                </a:extLst>
              </a:tr>
              <a:tr h="411631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n-GB" dirty="0"/>
                        <a:t>High rRNA/</a:t>
                      </a:r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tRNA content in dose 24 </a:t>
                      </a:r>
                      <a:r>
                        <a:rPr lang="en-GB" sz="1800" kern="1200" dirty="0">
                          <a:solidFill>
                            <a:schemeClr val="tx1"/>
                          </a:solidFill>
                          <a:effectLst/>
                        </a:rPr>
                        <a:t>µg/cm</a:t>
                      </a:r>
                      <a:r>
                        <a:rPr lang="en-GB" sz="1800" kern="1200" baseline="30000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r>
                        <a:rPr lang="en-GB" sz="1800" kern="1200" dirty="0">
                          <a:solidFill>
                            <a:schemeClr val="tx1"/>
                          </a:solidFill>
                          <a:effectLst/>
                        </a:rPr>
                        <a:t> samples</a:t>
                      </a:r>
                      <a:r>
                        <a:rPr lang="en-GB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7405829"/>
                  </a:ext>
                </a:extLst>
              </a:tr>
            </a:tbl>
          </a:graphicData>
        </a:graphic>
      </p:graphicFrame>
      <p:grpSp>
        <p:nvGrpSpPr>
          <p:cNvPr id="24" name="Group 23">
            <a:extLst>
              <a:ext uri="{FF2B5EF4-FFF2-40B4-BE49-F238E27FC236}">
                <a16:creationId xmlns:a16="http://schemas.microsoft.com/office/drawing/2014/main" id="{5009F648-B151-B013-5398-A3529A62DCCF}"/>
              </a:ext>
            </a:extLst>
          </p:cNvPr>
          <p:cNvGrpSpPr/>
          <p:nvPr/>
        </p:nvGrpSpPr>
        <p:grpSpPr>
          <a:xfrm>
            <a:off x="3443416" y="1276832"/>
            <a:ext cx="1005016" cy="3046562"/>
            <a:chOff x="3443416" y="1276832"/>
            <a:chExt cx="1005016" cy="3046562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977F1AB-D5C6-2E6D-CD19-65E8527D8373}"/>
                </a:ext>
              </a:extLst>
            </p:cNvPr>
            <p:cNvGrpSpPr/>
            <p:nvPr/>
          </p:nvGrpSpPr>
          <p:grpSpPr>
            <a:xfrm>
              <a:off x="3443416" y="1276832"/>
              <a:ext cx="1005016" cy="527254"/>
              <a:chOff x="3443416" y="1276832"/>
              <a:chExt cx="1005016" cy="527254"/>
            </a:xfrm>
          </p:grpSpPr>
          <p:sp>
            <p:nvSpPr>
              <p:cNvPr id="18" name="Down Arrow 17">
                <a:extLst>
                  <a:ext uri="{FF2B5EF4-FFF2-40B4-BE49-F238E27FC236}">
                    <a16:creationId xmlns:a16="http://schemas.microsoft.com/office/drawing/2014/main" id="{EACF5436-CDB9-D351-D5EA-F1334C69568A}"/>
                  </a:ext>
                </a:extLst>
              </p:cNvPr>
              <p:cNvSpPr/>
              <p:nvPr/>
            </p:nvSpPr>
            <p:spPr>
              <a:xfrm>
                <a:off x="3674076" y="1540476"/>
                <a:ext cx="164756" cy="263610"/>
              </a:xfrm>
              <a:prstGeom prst="downArrow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480DF22-685C-47EA-A14B-B8EBF1CD0665}"/>
                  </a:ext>
                </a:extLst>
              </p:cNvPr>
              <p:cNvSpPr txBox="1"/>
              <p:nvPr/>
            </p:nvSpPr>
            <p:spPr>
              <a:xfrm>
                <a:off x="3443416" y="1276832"/>
                <a:ext cx="1005016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100" dirty="0"/>
                  <a:t>miRNA</a:t>
                </a: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3A5D26D5-7CF5-E29B-4946-7666FDC49920}"/>
                </a:ext>
              </a:extLst>
            </p:cNvPr>
            <p:cNvGrpSpPr/>
            <p:nvPr/>
          </p:nvGrpSpPr>
          <p:grpSpPr>
            <a:xfrm>
              <a:off x="3443416" y="3796140"/>
              <a:ext cx="1005016" cy="527254"/>
              <a:chOff x="3443416" y="1276832"/>
              <a:chExt cx="1005016" cy="527254"/>
            </a:xfrm>
          </p:grpSpPr>
          <p:sp>
            <p:nvSpPr>
              <p:cNvPr id="22" name="Down Arrow 21">
                <a:extLst>
                  <a:ext uri="{FF2B5EF4-FFF2-40B4-BE49-F238E27FC236}">
                    <a16:creationId xmlns:a16="http://schemas.microsoft.com/office/drawing/2014/main" id="{1F13E713-F796-23BE-B957-417C79F15BB3}"/>
                  </a:ext>
                </a:extLst>
              </p:cNvPr>
              <p:cNvSpPr/>
              <p:nvPr/>
            </p:nvSpPr>
            <p:spPr>
              <a:xfrm>
                <a:off x="3674076" y="1540476"/>
                <a:ext cx="164756" cy="263610"/>
              </a:xfrm>
              <a:prstGeom prst="downArrow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14F4EDB-0274-6DD5-9DBB-977137F5D6C2}"/>
                  </a:ext>
                </a:extLst>
              </p:cNvPr>
              <p:cNvSpPr txBox="1"/>
              <p:nvPr/>
            </p:nvSpPr>
            <p:spPr>
              <a:xfrm>
                <a:off x="3443416" y="1276832"/>
                <a:ext cx="1005016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100" dirty="0"/>
                  <a:t>miRNA</a:t>
                </a:r>
              </a:p>
            </p:txBody>
          </p:sp>
        </p:grp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6B0FC612-C8A6-8D25-8CA0-63C7427EB4B5}"/>
              </a:ext>
            </a:extLst>
          </p:cNvPr>
          <p:cNvSpPr txBox="1"/>
          <p:nvPr/>
        </p:nvSpPr>
        <p:spPr>
          <a:xfrm>
            <a:off x="532609" y="6146463"/>
            <a:ext cx="690727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Figure derived from thesis Figure 3</a:t>
            </a:r>
          </a:p>
        </p:txBody>
      </p:sp>
    </p:spTree>
    <p:extLst>
      <p:ext uri="{BB962C8B-B14F-4D97-AF65-F5344CB8AC3E}">
        <p14:creationId xmlns:p14="http://schemas.microsoft.com/office/powerpoint/2010/main" val="110584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5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A966E3-DEB2-055F-A778-E548ACAB7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D79A0F7-261D-63F8-003C-D707A68999C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2917"/>
          <a:stretch>
            <a:fillRect/>
          </a:stretch>
        </p:blipFill>
        <p:spPr>
          <a:xfrm>
            <a:off x="1552591" y="2929799"/>
            <a:ext cx="8773207" cy="28914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D7547A4-68EF-3612-FB13-6C96F4D84FB3}"/>
              </a:ext>
            </a:extLst>
          </p:cNvPr>
          <p:cNvSpPr txBox="1"/>
          <p:nvPr/>
        </p:nvSpPr>
        <p:spPr>
          <a:xfrm>
            <a:off x="304800" y="228600"/>
            <a:ext cx="29108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Results (2)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C0F1D99-31FA-DB62-B7C9-13EA0B8481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7618142"/>
              </p:ext>
            </p:extLst>
          </p:nvPr>
        </p:nvGraphicFramePr>
        <p:xfrm>
          <a:off x="2911290" y="274034"/>
          <a:ext cx="6596266" cy="1280483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6596266">
                  <a:extLst>
                    <a:ext uri="{9D8B030D-6E8A-4147-A177-3AD203B41FA5}">
                      <a16:colId xmlns:a16="http://schemas.microsoft.com/office/drawing/2014/main" val="3859239714"/>
                    </a:ext>
                  </a:extLst>
                </a:gridCol>
              </a:tblGrid>
              <a:tr h="411631">
                <a:tc>
                  <a:txBody>
                    <a:bodyPr/>
                    <a:lstStyle/>
                    <a:p>
                      <a:r>
                        <a:rPr lang="en-GB" dirty="0"/>
                        <a:t>Summary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4715783"/>
                  </a:ext>
                </a:extLst>
              </a:tr>
              <a:tr h="457221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GB" dirty="0"/>
                        <a:t>High differential expression in protease dose 24 </a:t>
                      </a:r>
                      <a:r>
                        <a:rPr lang="en-GB" sz="1800" kern="1200" dirty="0">
                          <a:solidFill>
                            <a:schemeClr val="tx1"/>
                          </a:solidFill>
                          <a:effectLst/>
                        </a:rPr>
                        <a:t>µg/cm</a:t>
                      </a:r>
                      <a:r>
                        <a:rPr lang="en-GB" sz="1800" kern="1200" baseline="30000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3029511"/>
                  </a:ext>
                </a:extLst>
              </a:tr>
              <a:tr h="411631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n-GB" dirty="0"/>
                        <a:t>Minimal differential expression in Calu-3 samples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7405829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90BAFE53-C3D7-A1B9-C0C6-C39D645FC6B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302" t="8505" r="23375" b="54213"/>
          <a:stretch>
            <a:fillRect/>
          </a:stretch>
        </p:blipFill>
        <p:spPr>
          <a:xfrm>
            <a:off x="2034460" y="2180410"/>
            <a:ext cx="3904735" cy="84000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A9A755E-0D0C-64AA-200A-2E408F77D8B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1717" t="71274" r="23377"/>
          <a:stretch>
            <a:fillRect/>
          </a:stretch>
        </p:blipFill>
        <p:spPr>
          <a:xfrm>
            <a:off x="6021574" y="2180409"/>
            <a:ext cx="3031524" cy="84000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3D1FABB-D0F0-2882-73EB-F868A10FB552}"/>
              </a:ext>
            </a:extLst>
          </p:cNvPr>
          <p:cNvSpPr txBox="1"/>
          <p:nvPr/>
        </p:nvSpPr>
        <p:spPr>
          <a:xfrm>
            <a:off x="3088101" y="1898779"/>
            <a:ext cx="24544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Primary HBEC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3638AA-A890-BC4C-C872-36904061E7FD}"/>
              </a:ext>
            </a:extLst>
          </p:cNvPr>
          <p:cNvSpPr txBox="1"/>
          <p:nvPr/>
        </p:nvSpPr>
        <p:spPr>
          <a:xfrm>
            <a:off x="7235006" y="1898779"/>
            <a:ext cx="24544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Calu-3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8F6AFF5-30E4-4338-880E-36D607066BA0}"/>
              </a:ext>
            </a:extLst>
          </p:cNvPr>
          <p:cNvCxnSpPr>
            <a:cxnSpLocks/>
          </p:cNvCxnSpPr>
          <p:nvPr/>
        </p:nvCxnSpPr>
        <p:spPr>
          <a:xfrm>
            <a:off x="6021574" y="1878607"/>
            <a:ext cx="0" cy="3642416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E8497DA-BAA3-7B03-B353-72F939F7F834}"/>
              </a:ext>
            </a:extLst>
          </p:cNvPr>
          <p:cNvGrpSpPr/>
          <p:nvPr/>
        </p:nvGrpSpPr>
        <p:grpSpPr>
          <a:xfrm>
            <a:off x="6073600" y="4930686"/>
            <a:ext cx="3100522" cy="328259"/>
            <a:chOff x="6065648" y="4941794"/>
            <a:chExt cx="3100522" cy="328259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2052A2A-C48C-3D74-C97F-BDC130857D9F}"/>
                </a:ext>
              </a:extLst>
            </p:cNvPr>
            <p:cNvSpPr txBox="1"/>
            <p:nvPr/>
          </p:nvSpPr>
          <p:spPr>
            <a:xfrm>
              <a:off x="6065648" y="4941794"/>
              <a:ext cx="110938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200" b="1" dirty="0"/>
                <a:t>FDR &lt; 0.05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CF1F139-5E0A-FC1B-76B0-4E36B3B92D43}"/>
                </a:ext>
              </a:extLst>
            </p:cNvPr>
            <p:cNvSpPr txBox="1"/>
            <p:nvPr/>
          </p:nvSpPr>
          <p:spPr>
            <a:xfrm>
              <a:off x="8056789" y="4993054"/>
              <a:ext cx="110938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200" b="1" dirty="0"/>
                <a:t>FDR &lt; 0.2</a:t>
              </a: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DC16C1A0-AB7F-5DBD-4E52-4CDF0D116DE9}"/>
              </a:ext>
            </a:extLst>
          </p:cNvPr>
          <p:cNvSpPr txBox="1"/>
          <p:nvPr/>
        </p:nvSpPr>
        <p:spPr>
          <a:xfrm>
            <a:off x="1926818" y="5857526"/>
            <a:ext cx="690727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Figure derived from thesis Figure 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31D477A-F594-862D-FD38-EA7EB6796AEE}"/>
              </a:ext>
            </a:extLst>
          </p:cNvPr>
          <p:cNvSpPr/>
          <p:nvPr/>
        </p:nvSpPr>
        <p:spPr>
          <a:xfrm>
            <a:off x="7969923" y="5258945"/>
            <a:ext cx="1083175" cy="1799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2603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CF628-1234-0BA3-EDA4-8359FEA67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244C97A-9BAC-07AF-A7FD-A4744A73281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111"/>
          <a:stretch>
            <a:fillRect/>
          </a:stretch>
        </p:blipFill>
        <p:spPr>
          <a:xfrm>
            <a:off x="539119" y="1942759"/>
            <a:ext cx="6402248" cy="4050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4ECCF83-33BE-2E00-491F-97DA3FCDC01C}"/>
              </a:ext>
            </a:extLst>
          </p:cNvPr>
          <p:cNvSpPr txBox="1"/>
          <p:nvPr/>
        </p:nvSpPr>
        <p:spPr>
          <a:xfrm>
            <a:off x="304800" y="228600"/>
            <a:ext cx="29108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Results (3)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30B2F4D-2ED1-6AB7-E1D8-2327A6CB4117}"/>
              </a:ext>
            </a:extLst>
          </p:cNvPr>
          <p:cNvGraphicFramePr>
            <a:graphicFrameLocks noGrp="1"/>
          </p:cNvGraphicFramePr>
          <p:nvPr/>
        </p:nvGraphicFramePr>
        <p:xfrm>
          <a:off x="7331242" y="4365666"/>
          <a:ext cx="4530783" cy="1744847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4530783">
                  <a:extLst>
                    <a:ext uri="{9D8B030D-6E8A-4147-A177-3AD203B41FA5}">
                      <a16:colId xmlns:a16="http://schemas.microsoft.com/office/drawing/2014/main" val="3859239714"/>
                    </a:ext>
                  </a:extLst>
                </a:gridCol>
              </a:tblGrid>
              <a:tr h="490817">
                <a:tc>
                  <a:txBody>
                    <a:bodyPr/>
                    <a:lstStyle/>
                    <a:p>
                      <a:r>
                        <a:rPr lang="en-GB" dirty="0"/>
                        <a:t>Summary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4715783"/>
                  </a:ext>
                </a:extLst>
              </a:tr>
              <a:tr h="763213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GB" dirty="0"/>
                        <a:t>More pathways from target gene-level enrichment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3029511"/>
                  </a:ext>
                </a:extLst>
              </a:tr>
              <a:tr h="490817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n-GB" dirty="0"/>
                        <a:t>Biologically plausible pathways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740582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9C5FCAF-A8C5-33CC-DB2B-EEF46C51A5D9}"/>
              </a:ext>
            </a:extLst>
          </p:cNvPr>
          <p:cNvSpPr txBox="1"/>
          <p:nvPr/>
        </p:nvSpPr>
        <p:spPr>
          <a:xfrm>
            <a:off x="510896" y="5990224"/>
            <a:ext cx="690727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Figure derived from thesis Figure 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E1CD5EF-F269-4BC0-42FE-055C0B5249D8}"/>
              </a:ext>
            </a:extLst>
          </p:cNvPr>
          <p:cNvSpPr txBox="1"/>
          <p:nvPr/>
        </p:nvSpPr>
        <p:spPr>
          <a:xfrm>
            <a:off x="1872514" y="1347804"/>
            <a:ext cx="1219828" cy="523220"/>
          </a:xfrm>
          <a:prstGeom prst="rect">
            <a:avLst/>
          </a:prstGeom>
          <a:solidFill>
            <a:schemeClr val="bg1"/>
          </a:solidFill>
          <a:ln w="19050"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sz="1400" b="1" dirty="0"/>
              <a:t>Upregulated</a:t>
            </a:r>
          </a:p>
          <a:p>
            <a:r>
              <a:rPr lang="en-GB" sz="1400" b="1" dirty="0"/>
              <a:t>N = 164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373D75-49E7-89F1-5C28-58AD93B61B19}"/>
              </a:ext>
            </a:extLst>
          </p:cNvPr>
          <p:cNvSpPr txBox="1"/>
          <p:nvPr/>
        </p:nvSpPr>
        <p:spPr>
          <a:xfrm>
            <a:off x="539119" y="839300"/>
            <a:ext cx="4764506" cy="3689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u="sng" dirty="0"/>
              <a:t>Target gene-level enrichment</a:t>
            </a:r>
            <a:r>
              <a:rPr lang="en-GB" dirty="0"/>
              <a:t> (ORA)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206DFC3-598A-31D7-E47F-161C2B18B6FA}"/>
              </a:ext>
            </a:extLst>
          </p:cNvPr>
          <p:cNvSpPr txBox="1"/>
          <p:nvPr/>
        </p:nvSpPr>
        <p:spPr>
          <a:xfrm>
            <a:off x="5001299" y="1347804"/>
            <a:ext cx="1443530" cy="523220"/>
          </a:xfrm>
          <a:prstGeom prst="rect">
            <a:avLst/>
          </a:prstGeom>
          <a:solidFill>
            <a:schemeClr val="bg1"/>
          </a:solidFill>
          <a:ln w="19050"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sz="1400" b="1" dirty="0"/>
              <a:t>Downregulated</a:t>
            </a:r>
          </a:p>
          <a:p>
            <a:r>
              <a:rPr lang="en-GB" sz="1400" b="1" dirty="0"/>
              <a:t>N = 464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C385D8B-168F-C30E-C43C-1298A3E56A19}"/>
              </a:ext>
            </a:extLst>
          </p:cNvPr>
          <p:cNvSpPr/>
          <p:nvPr/>
        </p:nvSpPr>
        <p:spPr>
          <a:xfrm>
            <a:off x="446124" y="762000"/>
            <a:ext cx="6495242" cy="5497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D87FADB-FAAD-B41A-C1E0-94932ADE5FC0}"/>
              </a:ext>
            </a:extLst>
          </p:cNvPr>
          <p:cNvGrpSpPr/>
          <p:nvPr/>
        </p:nvGrpSpPr>
        <p:grpSpPr>
          <a:xfrm>
            <a:off x="7418175" y="761999"/>
            <a:ext cx="6907279" cy="3120189"/>
            <a:chOff x="7418175" y="761999"/>
            <a:chExt cx="6907279" cy="3120189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27D67E69-DF2C-54EF-DD62-6003D361891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25300" t="48946" r="26257" b="45666"/>
            <a:stretch>
              <a:fillRect/>
            </a:stretch>
          </p:blipFill>
          <p:spPr>
            <a:xfrm>
              <a:off x="7418176" y="2662269"/>
              <a:ext cx="3765176" cy="242047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A67DA203-2A10-A9DF-F931-02AA4FAFC53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73512" t="3742" r="22884" b="12388"/>
            <a:stretch>
              <a:fillRect/>
            </a:stretch>
          </p:blipFill>
          <p:spPr>
            <a:xfrm rot="16200000">
              <a:off x="9838243" y="467532"/>
              <a:ext cx="280147" cy="3767418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113B52F-5F4A-FB6C-20A1-50D282AE2F20}"/>
                </a:ext>
              </a:extLst>
            </p:cNvPr>
            <p:cNvSpPr txBox="1"/>
            <p:nvPr/>
          </p:nvSpPr>
          <p:spPr>
            <a:xfrm>
              <a:off x="7519335" y="864327"/>
              <a:ext cx="4764506" cy="3689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u="sng" dirty="0"/>
                <a:t>miRNA-level enrichment</a:t>
              </a:r>
              <a:r>
                <a:rPr lang="en-GB" dirty="0"/>
                <a:t> (ORA)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DB1A577-811C-DA31-011A-A58012A27C4E}"/>
                </a:ext>
              </a:extLst>
            </p:cNvPr>
            <p:cNvSpPr txBox="1"/>
            <p:nvPr/>
          </p:nvSpPr>
          <p:spPr>
            <a:xfrm>
              <a:off x="9114897" y="1347804"/>
              <a:ext cx="1219828" cy="52322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bg2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sz="1400" b="1" dirty="0"/>
                <a:t>Upregulated</a:t>
              </a:r>
            </a:p>
            <a:p>
              <a:r>
                <a:rPr lang="en-GB" sz="1400" b="1" dirty="0"/>
                <a:t>N = 2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1CE4EBE-A3F8-C43D-3AE2-9AFDF2083BCD}"/>
                </a:ext>
              </a:extLst>
            </p:cNvPr>
            <p:cNvSpPr/>
            <p:nvPr/>
          </p:nvSpPr>
          <p:spPr>
            <a:xfrm>
              <a:off x="7418175" y="761999"/>
              <a:ext cx="4443850" cy="3120189"/>
            </a:xfrm>
            <a:prstGeom prst="rect">
              <a:avLst/>
            </a:prstGeom>
            <a:noFill/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93CD48C-70E0-348F-ABDF-4738A43BC064}"/>
                </a:ext>
              </a:extLst>
            </p:cNvPr>
            <p:cNvSpPr txBox="1"/>
            <p:nvPr/>
          </p:nvSpPr>
          <p:spPr>
            <a:xfrm>
              <a:off x="7418175" y="3596807"/>
              <a:ext cx="690727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000" dirty="0"/>
                <a:t>Figure obtained from </a:t>
              </a:r>
              <a:r>
                <a:rPr lang="en-GB" sz="1000" dirty="0" err="1"/>
                <a:t>miEAA</a:t>
              </a:r>
              <a:r>
                <a:rPr lang="en-GB" sz="1000" dirty="0"/>
                <a:t> 2.0: </a:t>
              </a:r>
              <a:r>
                <a:rPr lang="en-GB" sz="900" dirty="0"/>
                <a:t>https://ccb-compute2.cs.uni-saarland.de/mieaa2/</a:t>
              </a:r>
              <a:endParaRPr lang="en-GB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059412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A4A2E-97FA-7758-3EF6-AA7DA6673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1D782DF-C804-ED49-03A0-F68AC52F46D8}"/>
              </a:ext>
            </a:extLst>
          </p:cNvPr>
          <p:cNvSpPr txBox="1"/>
          <p:nvPr/>
        </p:nvSpPr>
        <p:spPr>
          <a:xfrm>
            <a:off x="304800" y="228600"/>
            <a:ext cx="29108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Results (4)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95ECD43-FD47-B1C7-211B-8E5CD99A4F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2440134"/>
              </p:ext>
            </p:extLst>
          </p:nvPr>
        </p:nvGraphicFramePr>
        <p:xfrm>
          <a:off x="4652210" y="244642"/>
          <a:ext cx="6665495" cy="982579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6665495">
                  <a:extLst>
                    <a:ext uri="{9D8B030D-6E8A-4147-A177-3AD203B41FA5}">
                      <a16:colId xmlns:a16="http://schemas.microsoft.com/office/drawing/2014/main" val="3859239714"/>
                    </a:ext>
                  </a:extLst>
                </a:gridCol>
              </a:tblGrid>
              <a:tr h="384573">
                <a:tc>
                  <a:txBody>
                    <a:bodyPr/>
                    <a:lstStyle/>
                    <a:p>
                      <a:r>
                        <a:rPr lang="en-GB" dirty="0"/>
                        <a:t>Summary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4715783"/>
                  </a:ext>
                </a:extLst>
              </a:tr>
              <a:tr h="598006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GB" dirty="0"/>
                        <a:t>Greater support for miR-125b-5p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3029511"/>
                  </a:ext>
                </a:extLst>
              </a:tr>
            </a:tbl>
          </a:graphicData>
        </a:graphic>
      </p:graphicFrame>
      <p:pic>
        <p:nvPicPr>
          <p:cNvPr id="16" name="Picture 15">
            <a:extLst>
              <a:ext uri="{FF2B5EF4-FFF2-40B4-BE49-F238E27FC236}">
                <a16:creationId xmlns:a16="http://schemas.microsoft.com/office/drawing/2014/main" id="{387444D5-FAD7-4F6F-AE4C-6A002B77BC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7208" y="1845335"/>
            <a:ext cx="4320000" cy="43200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5CB574D-1F93-E391-0A6C-BA97E40C7B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3634" y="1771990"/>
            <a:ext cx="4320000" cy="43200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E9C96D1-C9E1-6DD7-CCA1-F75E575E787E}"/>
              </a:ext>
            </a:extLst>
          </p:cNvPr>
          <p:cNvSpPr txBox="1"/>
          <p:nvPr/>
        </p:nvSpPr>
        <p:spPr>
          <a:xfrm>
            <a:off x="2466067" y="1725287"/>
            <a:ext cx="2258328" cy="584775"/>
          </a:xfrm>
          <a:prstGeom prst="rect">
            <a:avLst/>
          </a:prstGeom>
          <a:solidFill>
            <a:schemeClr val="bg1"/>
          </a:solidFill>
          <a:ln w="19050"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b="1" dirty="0"/>
              <a:t>miR-125b-5p</a:t>
            </a:r>
          </a:p>
          <a:p>
            <a:r>
              <a:rPr lang="en-GB" sz="1400" dirty="0"/>
              <a:t>Total Publications = 324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9EDB33A-14B7-F1B2-56B5-B7D9FA52A179}"/>
              </a:ext>
            </a:extLst>
          </p:cNvPr>
          <p:cNvSpPr txBox="1"/>
          <p:nvPr/>
        </p:nvSpPr>
        <p:spPr>
          <a:xfrm>
            <a:off x="7640741" y="1725287"/>
            <a:ext cx="2258328" cy="584775"/>
          </a:xfrm>
          <a:prstGeom prst="rect">
            <a:avLst/>
          </a:prstGeom>
          <a:solidFill>
            <a:schemeClr val="bg1"/>
          </a:solidFill>
          <a:ln w="19050"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b="1" dirty="0"/>
              <a:t>miR-574-5p</a:t>
            </a:r>
          </a:p>
          <a:p>
            <a:r>
              <a:rPr lang="en-GB" sz="1400" dirty="0"/>
              <a:t>Total Publications = 65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FB7EC29-FD23-EA16-0E00-259F60C2ADD0}"/>
              </a:ext>
            </a:extLst>
          </p:cNvPr>
          <p:cNvSpPr txBox="1"/>
          <p:nvPr/>
        </p:nvSpPr>
        <p:spPr>
          <a:xfrm>
            <a:off x="510896" y="5990224"/>
            <a:ext cx="690727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Figure created in RStudio</a:t>
            </a:r>
          </a:p>
        </p:txBody>
      </p:sp>
    </p:spTree>
    <p:extLst>
      <p:ext uri="{BB962C8B-B14F-4D97-AF65-F5344CB8AC3E}">
        <p14:creationId xmlns:p14="http://schemas.microsoft.com/office/powerpoint/2010/main" val="2473047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73FAC-BC29-5B0A-E7D2-F04BBA2BC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CB650FC3-41BB-CAA7-00BB-3A04CE58B108}"/>
              </a:ext>
            </a:extLst>
          </p:cNvPr>
          <p:cNvSpPr txBox="1"/>
          <p:nvPr/>
        </p:nvSpPr>
        <p:spPr>
          <a:xfrm>
            <a:off x="2639833" y="2242268"/>
            <a:ext cx="38643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[starting from searching for ‘[]’ in presentation plan]</a:t>
            </a:r>
          </a:p>
        </p:txBody>
      </p:sp>
    </p:spTree>
    <p:extLst>
      <p:ext uri="{BB962C8B-B14F-4D97-AF65-F5344CB8AC3E}">
        <p14:creationId xmlns:p14="http://schemas.microsoft.com/office/powerpoint/2010/main" val="32974922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DB389-642D-EDE5-F95A-DF66B187D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74590515-21AB-7481-23DC-9F7A44CA938E}"/>
              </a:ext>
            </a:extLst>
          </p:cNvPr>
          <p:cNvSpPr txBox="1"/>
          <p:nvPr/>
        </p:nvSpPr>
        <p:spPr>
          <a:xfrm>
            <a:off x="304799" y="228600"/>
            <a:ext cx="55078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Experimental Design Optimisations</a:t>
            </a:r>
          </a:p>
        </p:txBody>
      </p: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7930E269-D74F-AF76-B617-7CC74B9BEBA0}"/>
              </a:ext>
            </a:extLst>
          </p:cNvPr>
          <p:cNvGrpSpPr/>
          <p:nvPr/>
        </p:nvGrpSpPr>
        <p:grpSpPr>
          <a:xfrm>
            <a:off x="833274" y="1898185"/>
            <a:ext cx="3151327" cy="3123406"/>
            <a:chOff x="833274" y="1898185"/>
            <a:chExt cx="3151327" cy="3123406"/>
          </a:xfrm>
        </p:grpSpPr>
        <p:grpSp>
          <p:nvGrpSpPr>
            <p:cNvPr id="136" name="Group 135">
              <a:extLst>
                <a:ext uri="{FF2B5EF4-FFF2-40B4-BE49-F238E27FC236}">
                  <a16:creationId xmlns:a16="http://schemas.microsoft.com/office/drawing/2014/main" id="{E8806DFD-8FA2-9AB4-58A6-3066A93B0369}"/>
                </a:ext>
              </a:extLst>
            </p:cNvPr>
            <p:cNvGrpSpPr/>
            <p:nvPr/>
          </p:nvGrpSpPr>
          <p:grpSpPr>
            <a:xfrm>
              <a:off x="861195" y="1898185"/>
              <a:ext cx="3123406" cy="3123406"/>
              <a:chOff x="4676730" y="1797059"/>
              <a:chExt cx="3123406" cy="3123406"/>
            </a:xfrm>
          </p:grpSpPr>
          <p:sp>
            <p:nvSpPr>
              <p:cNvPr id="137" name="Freeform 136">
                <a:extLst>
                  <a:ext uri="{FF2B5EF4-FFF2-40B4-BE49-F238E27FC236}">
                    <a16:creationId xmlns:a16="http://schemas.microsoft.com/office/drawing/2014/main" id="{349EB149-2A86-896D-DDD8-6B75C40FEEE6}"/>
                  </a:ext>
                </a:extLst>
              </p:cNvPr>
              <p:cNvSpPr/>
              <p:nvPr/>
            </p:nvSpPr>
            <p:spPr>
              <a:xfrm>
                <a:off x="4676730" y="1797059"/>
                <a:ext cx="3123406" cy="3123406"/>
              </a:xfrm>
              <a:custGeom>
                <a:avLst/>
                <a:gdLst>
                  <a:gd name="csX0" fmla="*/ 0 w 3123406"/>
                  <a:gd name="csY0" fmla="*/ 1561703 h 3123406"/>
                  <a:gd name="csX1" fmla="*/ 1561703 w 3123406"/>
                  <a:gd name="csY1" fmla="*/ 0 h 3123406"/>
                  <a:gd name="csX2" fmla="*/ 3123406 w 3123406"/>
                  <a:gd name="csY2" fmla="*/ 1561703 h 3123406"/>
                  <a:gd name="csX3" fmla="*/ 1561703 w 3123406"/>
                  <a:gd name="csY3" fmla="*/ 3123406 h 3123406"/>
                  <a:gd name="csX4" fmla="*/ 0 w 3123406"/>
                  <a:gd name="csY4" fmla="*/ 1561703 h 312340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3123406" h="3123406">
                    <a:moveTo>
                      <a:pt x="0" y="1561703"/>
                    </a:moveTo>
                    <a:cubicBezTo>
                      <a:pt x="0" y="699198"/>
                      <a:pt x="699198" y="0"/>
                      <a:pt x="1561703" y="0"/>
                    </a:cubicBezTo>
                    <a:cubicBezTo>
                      <a:pt x="2424208" y="0"/>
                      <a:pt x="3123406" y="699198"/>
                      <a:pt x="3123406" y="1561703"/>
                    </a:cubicBezTo>
                    <a:cubicBezTo>
                      <a:pt x="3123406" y="2424208"/>
                      <a:pt x="2424208" y="3123406"/>
                      <a:pt x="1561703" y="3123406"/>
                    </a:cubicBezTo>
                    <a:cubicBezTo>
                      <a:pt x="699198" y="3123406"/>
                      <a:pt x="0" y="2424208"/>
                      <a:pt x="0" y="1561703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</a:ln>
              <a:scene3d>
                <a:camera prst="orthographicFront"/>
                <a:lightRig rig="flat" dir="t"/>
              </a:scene3d>
              <a:sp3d prstMaterial="dkEdge">
                <a:bevelT w="8200" h="38100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2">
                <a:schemeClr val="accent1">
                  <a:alpha val="5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alpha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/>
              </a:fontRef>
            </p:style>
            <p:txBody>
              <a:bodyPr spcFirstLastPara="0" vert="horz" wrap="square" lIns="629303" tIns="538692" rIns="629303" bIns="538692" numCol="1" spcCol="1270" anchor="ctr" anchorCtr="0">
                <a:noAutofit/>
              </a:bodyPr>
              <a:lstStyle/>
              <a:p>
                <a:pPr marL="0" lvl="0" indent="0" algn="ctr" defTabSz="28448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n-GB" sz="6400" kern="1200" dirty="0"/>
              </a:p>
            </p:txBody>
          </p:sp>
          <p:sp>
            <p:nvSpPr>
              <p:cNvPr id="138" name="Freeform 137">
                <a:extLst>
                  <a:ext uri="{FF2B5EF4-FFF2-40B4-BE49-F238E27FC236}">
                    <a16:creationId xmlns:a16="http://schemas.microsoft.com/office/drawing/2014/main" id="{2C4F4F3F-85F0-A844-2252-6E3DD645EACE}"/>
                  </a:ext>
                </a:extLst>
              </p:cNvPr>
              <p:cNvSpPr/>
              <p:nvPr/>
            </p:nvSpPr>
            <p:spPr>
              <a:xfrm>
                <a:off x="4719022" y="3714584"/>
                <a:ext cx="3038822" cy="1205881"/>
              </a:xfrm>
              <a:custGeom>
                <a:avLst/>
                <a:gdLst>
                  <a:gd name="csX0" fmla="*/ 0 w 3038822"/>
                  <a:gd name="csY0" fmla="*/ 0 h 1205881"/>
                  <a:gd name="csX1" fmla="*/ 3038822 w 3038822"/>
                  <a:gd name="csY1" fmla="*/ 0 h 1205881"/>
                  <a:gd name="csX2" fmla="*/ 3010903 w 3038822"/>
                  <a:gd name="csY2" fmla="*/ 108581 h 1205881"/>
                  <a:gd name="csX3" fmla="*/ 1519411 w 3038822"/>
                  <a:gd name="csY3" fmla="*/ 1205881 h 1205881"/>
                  <a:gd name="csX4" fmla="*/ 27919 w 3038822"/>
                  <a:gd name="csY4" fmla="*/ 108581 h 120588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3038822" h="1205881">
                    <a:moveTo>
                      <a:pt x="0" y="0"/>
                    </a:moveTo>
                    <a:lnTo>
                      <a:pt x="3038822" y="0"/>
                    </a:lnTo>
                    <a:lnTo>
                      <a:pt x="3010903" y="108581"/>
                    </a:lnTo>
                    <a:cubicBezTo>
                      <a:pt x="2813174" y="744301"/>
                      <a:pt x="2220196" y="1205881"/>
                      <a:pt x="1519411" y="1205881"/>
                    </a:cubicBezTo>
                    <a:cubicBezTo>
                      <a:pt x="818626" y="1205881"/>
                      <a:pt x="225649" y="744301"/>
                      <a:pt x="27919" y="108581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GB"/>
              </a:p>
            </p:txBody>
          </p:sp>
        </p:grp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5621EF58-E706-10BB-8FF9-DA584A940799}"/>
                </a:ext>
              </a:extLst>
            </p:cNvPr>
            <p:cNvSpPr txBox="1"/>
            <p:nvPr/>
          </p:nvSpPr>
          <p:spPr>
            <a:xfrm>
              <a:off x="1241835" y="3998088"/>
              <a:ext cx="26130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b="1" dirty="0"/>
                <a:t>Increase sample size</a:t>
              </a:r>
            </a:p>
          </p:txBody>
        </p:sp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70BBDEE2-470C-298C-9016-D7120B571086}"/>
                </a:ext>
              </a:extLst>
            </p:cNvPr>
            <p:cNvGrpSpPr/>
            <p:nvPr/>
          </p:nvGrpSpPr>
          <p:grpSpPr>
            <a:xfrm>
              <a:off x="1704991" y="2183791"/>
              <a:ext cx="1435814" cy="1398040"/>
              <a:chOff x="1754231" y="1813275"/>
              <a:chExt cx="1435814" cy="1398040"/>
            </a:xfrm>
          </p:grpSpPr>
          <p:pic>
            <p:nvPicPr>
              <p:cNvPr id="141" name="Picture 140">
                <a:extLst>
                  <a:ext uri="{FF2B5EF4-FFF2-40B4-BE49-F238E27FC236}">
                    <a16:creationId xmlns:a16="http://schemas.microsoft.com/office/drawing/2014/main" id="{2E32CF04-DAE3-5890-1605-73082277509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54231" y="1813275"/>
                <a:ext cx="350265" cy="1398040"/>
              </a:xfrm>
              <a:prstGeom prst="rect">
                <a:avLst/>
              </a:prstGeom>
            </p:spPr>
          </p:pic>
          <p:pic>
            <p:nvPicPr>
              <p:cNvPr id="142" name="Graphic 141" descr="Group of people with solid fill">
                <a:extLst>
                  <a:ext uri="{FF2B5EF4-FFF2-40B4-BE49-F238E27FC236}">
                    <a16:creationId xmlns:a16="http://schemas.microsoft.com/office/drawing/2014/main" id="{3E437AF1-C3D2-55E5-511E-DD01B804951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2077074" y="2096018"/>
                <a:ext cx="1112971" cy="1112971"/>
              </a:xfrm>
              <a:prstGeom prst="rect">
                <a:avLst/>
              </a:prstGeom>
            </p:spPr>
          </p:pic>
        </p:grpSp>
        <p:sp>
          <p:nvSpPr>
            <p:cNvPr id="162" name="Rounded Rectangle 161">
              <a:extLst>
                <a:ext uri="{FF2B5EF4-FFF2-40B4-BE49-F238E27FC236}">
                  <a16:creationId xmlns:a16="http://schemas.microsoft.com/office/drawing/2014/main" id="{D47CEC2D-BBF7-7D2F-356B-2405892585F2}"/>
                </a:ext>
              </a:extLst>
            </p:cNvPr>
            <p:cNvSpPr/>
            <p:nvPr/>
          </p:nvSpPr>
          <p:spPr>
            <a:xfrm>
              <a:off x="833274" y="1898185"/>
              <a:ext cx="408561" cy="408562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1</a:t>
              </a:r>
            </a:p>
          </p:txBody>
        </p:sp>
      </p:grp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355132A2-195B-AB50-B6D5-BDCF8B95F402}"/>
              </a:ext>
            </a:extLst>
          </p:cNvPr>
          <p:cNvGrpSpPr/>
          <p:nvPr/>
        </p:nvGrpSpPr>
        <p:grpSpPr>
          <a:xfrm>
            <a:off x="4293908" y="1898185"/>
            <a:ext cx="3123406" cy="3123406"/>
            <a:chOff x="4293908" y="1898185"/>
            <a:chExt cx="3123406" cy="3123406"/>
          </a:xfrm>
        </p:grpSpPr>
        <p:grpSp>
          <p:nvGrpSpPr>
            <p:cNvPr id="143" name="Group 142">
              <a:extLst>
                <a:ext uri="{FF2B5EF4-FFF2-40B4-BE49-F238E27FC236}">
                  <a16:creationId xmlns:a16="http://schemas.microsoft.com/office/drawing/2014/main" id="{2F99D102-B347-C0D4-54CA-1A2D1124D50C}"/>
                </a:ext>
              </a:extLst>
            </p:cNvPr>
            <p:cNvGrpSpPr/>
            <p:nvPr/>
          </p:nvGrpSpPr>
          <p:grpSpPr>
            <a:xfrm>
              <a:off x="4293908" y="1898185"/>
              <a:ext cx="3123406" cy="3123406"/>
              <a:chOff x="4676730" y="1797059"/>
              <a:chExt cx="3123406" cy="3123406"/>
            </a:xfrm>
          </p:grpSpPr>
          <p:sp>
            <p:nvSpPr>
              <p:cNvPr id="144" name="Freeform 143">
                <a:extLst>
                  <a:ext uri="{FF2B5EF4-FFF2-40B4-BE49-F238E27FC236}">
                    <a16:creationId xmlns:a16="http://schemas.microsoft.com/office/drawing/2014/main" id="{5EB69914-1325-FE67-89D1-61E739A9164D}"/>
                  </a:ext>
                </a:extLst>
              </p:cNvPr>
              <p:cNvSpPr/>
              <p:nvPr/>
            </p:nvSpPr>
            <p:spPr>
              <a:xfrm>
                <a:off x="4676730" y="1797059"/>
                <a:ext cx="3123406" cy="3123406"/>
              </a:xfrm>
              <a:custGeom>
                <a:avLst/>
                <a:gdLst>
                  <a:gd name="csX0" fmla="*/ 0 w 3123406"/>
                  <a:gd name="csY0" fmla="*/ 1561703 h 3123406"/>
                  <a:gd name="csX1" fmla="*/ 1561703 w 3123406"/>
                  <a:gd name="csY1" fmla="*/ 0 h 3123406"/>
                  <a:gd name="csX2" fmla="*/ 3123406 w 3123406"/>
                  <a:gd name="csY2" fmla="*/ 1561703 h 3123406"/>
                  <a:gd name="csX3" fmla="*/ 1561703 w 3123406"/>
                  <a:gd name="csY3" fmla="*/ 3123406 h 3123406"/>
                  <a:gd name="csX4" fmla="*/ 0 w 3123406"/>
                  <a:gd name="csY4" fmla="*/ 1561703 h 312340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3123406" h="3123406">
                    <a:moveTo>
                      <a:pt x="0" y="1561703"/>
                    </a:moveTo>
                    <a:cubicBezTo>
                      <a:pt x="0" y="699198"/>
                      <a:pt x="699198" y="0"/>
                      <a:pt x="1561703" y="0"/>
                    </a:cubicBezTo>
                    <a:cubicBezTo>
                      <a:pt x="2424208" y="0"/>
                      <a:pt x="3123406" y="699198"/>
                      <a:pt x="3123406" y="1561703"/>
                    </a:cubicBezTo>
                    <a:cubicBezTo>
                      <a:pt x="3123406" y="2424208"/>
                      <a:pt x="2424208" y="3123406"/>
                      <a:pt x="1561703" y="3123406"/>
                    </a:cubicBezTo>
                    <a:cubicBezTo>
                      <a:pt x="699198" y="3123406"/>
                      <a:pt x="0" y="2424208"/>
                      <a:pt x="0" y="1561703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</a:ln>
              <a:scene3d>
                <a:camera prst="orthographicFront"/>
                <a:lightRig rig="flat" dir="t"/>
              </a:scene3d>
              <a:sp3d prstMaterial="dkEdge">
                <a:bevelT w="8200" h="38100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2">
                <a:schemeClr val="accent1">
                  <a:alpha val="5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alpha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/>
              </a:fontRef>
            </p:style>
            <p:txBody>
              <a:bodyPr spcFirstLastPara="0" vert="horz" wrap="square" lIns="629303" tIns="538692" rIns="629303" bIns="538692" numCol="1" spcCol="1270" anchor="ctr" anchorCtr="0">
                <a:noAutofit/>
              </a:bodyPr>
              <a:lstStyle/>
              <a:p>
                <a:pPr marL="0" lvl="0" indent="0" algn="ctr" defTabSz="28448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n-GB" sz="6400" kern="1200" dirty="0"/>
              </a:p>
            </p:txBody>
          </p:sp>
          <p:sp>
            <p:nvSpPr>
              <p:cNvPr id="145" name="Freeform 144">
                <a:extLst>
                  <a:ext uri="{FF2B5EF4-FFF2-40B4-BE49-F238E27FC236}">
                    <a16:creationId xmlns:a16="http://schemas.microsoft.com/office/drawing/2014/main" id="{A0987705-1C0D-3940-7EB8-1BA6EA211DE1}"/>
                  </a:ext>
                </a:extLst>
              </p:cNvPr>
              <p:cNvSpPr/>
              <p:nvPr/>
            </p:nvSpPr>
            <p:spPr>
              <a:xfrm>
                <a:off x="4719022" y="3714584"/>
                <a:ext cx="3038822" cy="1205881"/>
              </a:xfrm>
              <a:custGeom>
                <a:avLst/>
                <a:gdLst>
                  <a:gd name="csX0" fmla="*/ 0 w 3038822"/>
                  <a:gd name="csY0" fmla="*/ 0 h 1205881"/>
                  <a:gd name="csX1" fmla="*/ 3038822 w 3038822"/>
                  <a:gd name="csY1" fmla="*/ 0 h 1205881"/>
                  <a:gd name="csX2" fmla="*/ 3010903 w 3038822"/>
                  <a:gd name="csY2" fmla="*/ 108581 h 1205881"/>
                  <a:gd name="csX3" fmla="*/ 1519411 w 3038822"/>
                  <a:gd name="csY3" fmla="*/ 1205881 h 1205881"/>
                  <a:gd name="csX4" fmla="*/ 27919 w 3038822"/>
                  <a:gd name="csY4" fmla="*/ 108581 h 120588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3038822" h="1205881">
                    <a:moveTo>
                      <a:pt x="0" y="0"/>
                    </a:moveTo>
                    <a:lnTo>
                      <a:pt x="3038822" y="0"/>
                    </a:lnTo>
                    <a:lnTo>
                      <a:pt x="3010903" y="108581"/>
                    </a:lnTo>
                    <a:cubicBezTo>
                      <a:pt x="2813174" y="744301"/>
                      <a:pt x="2220196" y="1205881"/>
                      <a:pt x="1519411" y="1205881"/>
                    </a:cubicBezTo>
                    <a:cubicBezTo>
                      <a:pt x="818626" y="1205881"/>
                      <a:pt x="225649" y="744301"/>
                      <a:pt x="27919" y="108581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GB"/>
              </a:p>
            </p:txBody>
          </p:sp>
        </p:grp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0B17AF89-ED80-71C6-38FE-5AB7BEDD79A6}"/>
                </a:ext>
              </a:extLst>
            </p:cNvPr>
            <p:cNvSpPr txBox="1"/>
            <p:nvPr/>
          </p:nvSpPr>
          <p:spPr>
            <a:xfrm>
              <a:off x="4783100" y="3998088"/>
              <a:ext cx="26130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b="1" dirty="0"/>
                <a:t>Increase EV quantity</a:t>
              </a:r>
            </a:p>
          </p:txBody>
        </p:sp>
        <p:grpSp>
          <p:nvGrpSpPr>
            <p:cNvPr id="151" name="Group 150">
              <a:extLst>
                <a:ext uri="{FF2B5EF4-FFF2-40B4-BE49-F238E27FC236}">
                  <a16:creationId xmlns:a16="http://schemas.microsoft.com/office/drawing/2014/main" id="{6ADE3043-4F6C-F3F4-EE5F-EC07CCFC0B4C}"/>
                </a:ext>
              </a:extLst>
            </p:cNvPr>
            <p:cNvGrpSpPr/>
            <p:nvPr/>
          </p:nvGrpSpPr>
          <p:grpSpPr>
            <a:xfrm>
              <a:off x="5096742" y="2219792"/>
              <a:ext cx="1554097" cy="1398040"/>
              <a:chOff x="5136798" y="2168752"/>
              <a:chExt cx="1554097" cy="1398040"/>
            </a:xfrm>
          </p:grpSpPr>
          <p:pic>
            <p:nvPicPr>
              <p:cNvPr id="152" name="Picture 151">
                <a:extLst>
                  <a:ext uri="{FF2B5EF4-FFF2-40B4-BE49-F238E27FC236}">
                    <a16:creationId xmlns:a16="http://schemas.microsoft.com/office/drawing/2014/main" id="{AD3C2110-0FC9-6E77-467B-CCD1A3B690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136798" y="2168752"/>
                <a:ext cx="350265" cy="1398040"/>
              </a:xfrm>
              <a:prstGeom prst="rect">
                <a:avLst/>
              </a:prstGeom>
            </p:spPr>
          </p:pic>
          <p:pic>
            <p:nvPicPr>
              <p:cNvPr id="153" name="Picture 152">
                <a:extLst>
                  <a:ext uri="{FF2B5EF4-FFF2-40B4-BE49-F238E27FC236}">
                    <a16:creationId xmlns:a16="http://schemas.microsoft.com/office/drawing/2014/main" id="{6EBA107E-98DD-639C-1687-163C126EE6A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507798" y="2457084"/>
                <a:ext cx="352926" cy="334696"/>
              </a:xfrm>
              <a:prstGeom prst="rect">
                <a:avLst/>
              </a:prstGeom>
            </p:spPr>
          </p:pic>
          <p:pic>
            <p:nvPicPr>
              <p:cNvPr id="154" name="Picture 153">
                <a:extLst>
                  <a:ext uri="{FF2B5EF4-FFF2-40B4-BE49-F238E27FC236}">
                    <a16:creationId xmlns:a16="http://schemas.microsoft.com/office/drawing/2014/main" id="{0B484996-15E8-446D-90CF-5EE293B4208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704305" y="3173851"/>
                <a:ext cx="352926" cy="334696"/>
              </a:xfrm>
              <a:prstGeom prst="rect">
                <a:avLst/>
              </a:prstGeom>
            </p:spPr>
          </p:pic>
          <p:pic>
            <p:nvPicPr>
              <p:cNvPr id="155" name="Picture 154">
                <a:extLst>
                  <a:ext uri="{FF2B5EF4-FFF2-40B4-BE49-F238E27FC236}">
                    <a16:creationId xmlns:a16="http://schemas.microsoft.com/office/drawing/2014/main" id="{EE5276C8-3618-177B-85D1-1575378DD4D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852695" y="2751789"/>
                <a:ext cx="352926" cy="334696"/>
              </a:xfrm>
              <a:prstGeom prst="rect">
                <a:avLst/>
              </a:prstGeom>
            </p:spPr>
          </p:pic>
          <p:pic>
            <p:nvPicPr>
              <p:cNvPr id="156" name="Picture 155">
                <a:extLst>
                  <a:ext uri="{FF2B5EF4-FFF2-40B4-BE49-F238E27FC236}">
                    <a16:creationId xmlns:a16="http://schemas.microsoft.com/office/drawing/2014/main" id="{9227F557-4C3E-8634-2C21-8935F7A1933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33169" y="3075364"/>
                <a:ext cx="352926" cy="334696"/>
              </a:xfrm>
              <a:prstGeom prst="rect">
                <a:avLst/>
              </a:prstGeom>
            </p:spPr>
          </p:pic>
          <p:pic>
            <p:nvPicPr>
              <p:cNvPr id="157" name="Picture 156">
                <a:extLst>
                  <a:ext uri="{FF2B5EF4-FFF2-40B4-BE49-F238E27FC236}">
                    <a16:creationId xmlns:a16="http://schemas.microsoft.com/office/drawing/2014/main" id="{E1269030-A996-14A0-A1C5-D39C770CA1C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830641" y="2333419"/>
                <a:ext cx="352926" cy="334696"/>
              </a:xfrm>
              <a:prstGeom prst="rect">
                <a:avLst/>
              </a:prstGeom>
            </p:spPr>
          </p:pic>
          <p:pic>
            <p:nvPicPr>
              <p:cNvPr id="158" name="Picture 157">
                <a:extLst>
                  <a:ext uri="{FF2B5EF4-FFF2-40B4-BE49-F238E27FC236}">
                    <a16:creationId xmlns:a16="http://schemas.microsoft.com/office/drawing/2014/main" id="{FFF71463-632F-62AD-30C9-140FA0AEF03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161506" y="2497075"/>
                <a:ext cx="352926" cy="334696"/>
              </a:xfrm>
              <a:prstGeom prst="rect">
                <a:avLst/>
              </a:prstGeom>
            </p:spPr>
          </p:pic>
          <p:pic>
            <p:nvPicPr>
              <p:cNvPr id="159" name="Picture 158">
                <a:extLst>
                  <a:ext uri="{FF2B5EF4-FFF2-40B4-BE49-F238E27FC236}">
                    <a16:creationId xmlns:a16="http://schemas.microsoft.com/office/drawing/2014/main" id="{780E7EFD-DBF8-77BD-3292-05F5A5E90CF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337969" y="2831771"/>
                <a:ext cx="352926" cy="334696"/>
              </a:xfrm>
              <a:prstGeom prst="rect">
                <a:avLst/>
              </a:prstGeom>
            </p:spPr>
          </p:pic>
          <p:pic>
            <p:nvPicPr>
              <p:cNvPr id="160" name="Picture 159">
                <a:extLst>
                  <a:ext uri="{FF2B5EF4-FFF2-40B4-BE49-F238E27FC236}">
                    <a16:creationId xmlns:a16="http://schemas.microsoft.com/office/drawing/2014/main" id="{84F8E324-73DC-53B4-C726-4DC5A3AB598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449648" y="2815467"/>
                <a:ext cx="352926" cy="334696"/>
              </a:xfrm>
              <a:prstGeom prst="rect">
                <a:avLst/>
              </a:prstGeom>
            </p:spPr>
          </p:pic>
        </p:grpSp>
        <p:sp>
          <p:nvSpPr>
            <p:cNvPr id="163" name="Rounded Rectangle 162">
              <a:extLst>
                <a:ext uri="{FF2B5EF4-FFF2-40B4-BE49-F238E27FC236}">
                  <a16:creationId xmlns:a16="http://schemas.microsoft.com/office/drawing/2014/main" id="{C8E5FB25-C034-41B5-6B53-0D650DC0097C}"/>
                </a:ext>
              </a:extLst>
            </p:cNvPr>
            <p:cNvSpPr/>
            <p:nvPr/>
          </p:nvSpPr>
          <p:spPr>
            <a:xfrm>
              <a:off x="4336432" y="1898185"/>
              <a:ext cx="408561" cy="408562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2</a:t>
              </a:r>
            </a:p>
          </p:txBody>
        </p:sp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7B301E62-ADC7-7F21-0A00-2C76AF077286}"/>
              </a:ext>
            </a:extLst>
          </p:cNvPr>
          <p:cNvGrpSpPr/>
          <p:nvPr/>
        </p:nvGrpSpPr>
        <p:grpSpPr>
          <a:xfrm>
            <a:off x="7699537" y="1894177"/>
            <a:ext cx="3144552" cy="3130041"/>
            <a:chOff x="7699537" y="1894177"/>
            <a:chExt cx="3144552" cy="3130041"/>
          </a:xfrm>
        </p:grpSpPr>
        <p:grpSp>
          <p:nvGrpSpPr>
            <p:cNvPr id="147" name="Group 146">
              <a:extLst>
                <a:ext uri="{FF2B5EF4-FFF2-40B4-BE49-F238E27FC236}">
                  <a16:creationId xmlns:a16="http://schemas.microsoft.com/office/drawing/2014/main" id="{CF9C7ACE-F734-21FE-6B23-AE68A1EFA857}"/>
                </a:ext>
              </a:extLst>
            </p:cNvPr>
            <p:cNvGrpSpPr/>
            <p:nvPr/>
          </p:nvGrpSpPr>
          <p:grpSpPr>
            <a:xfrm>
              <a:off x="7699537" y="1900812"/>
              <a:ext cx="3123406" cy="3123406"/>
              <a:chOff x="4676730" y="1797059"/>
              <a:chExt cx="3123406" cy="3123406"/>
            </a:xfrm>
          </p:grpSpPr>
          <p:sp>
            <p:nvSpPr>
              <p:cNvPr id="148" name="Freeform 147">
                <a:extLst>
                  <a:ext uri="{FF2B5EF4-FFF2-40B4-BE49-F238E27FC236}">
                    <a16:creationId xmlns:a16="http://schemas.microsoft.com/office/drawing/2014/main" id="{5661AE0F-EED8-6F5C-33D8-2C0252ED149B}"/>
                  </a:ext>
                </a:extLst>
              </p:cNvPr>
              <p:cNvSpPr/>
              <p:nvPr/>
            </p:nvSpPr>
            <p:spPr>
              <a:xfrm>
                <a:off x="4676730" y="1797059"/>
                <a:ext cx="3123406" cy="3123406"/>
              </a:xfrm>
              <a:custGeom>
                <a:avLst/>
                <a:gdLst>
                  <a:gd name="csX0" fmla="*/ 0 w 3123406"/>
                  <a:gd name="csY0" fmla="*/ 1561703 h 3123406"/>
                  <a:gd name="csX1" fmla="*/ 1561703 w 3123406"/>
                  <a:gd name="csY1" fmla="*/ 0 h 3123406"/>
                  <a:gd name="csX2" fmla="*/ 3123406 w 3123406"/>
                  <a:gd name="csY2" fmla="*/ 1561703 h 3123406"/>
                  <a:gd name="csX3" fmla="*/ 1561703 w 3123406"/>
                  <a:gd name="csY3" fmla="*/ 3123406 h 3123406"/>
                  <a:gd name="csX4" fmla="*/ 0 w 3123406"/>
                  <a:gd name="csY4" fmla="*/ 1561703 h 312340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3123406" h="3123406">
                    <a:moveTo>
                      <a:pt x="0" y="1561703"/>
                    </a:moveTo>
                    <a:cubicBezTo>
                      <a:pt x="0" y="699198"/>
                      <a:pt x="699198" y="0"/>
                      <a:pt x="1561703" y="0"/>
                    </a:cubicBezTo>
                    <a:cubicBezTo>
                      <a:pt x="2424208" y="0"/>
                      <a:pt x="3123406" y="699198"/>
                      <a:pt x="3123406" y="1561703"/>
                    </a:cubicBezTo>
                    <a:cubicBezTo>
                      <a:pt x="3123406" y="2424208"/>
                      <a:pt x="2424208" y="3123406"/>
                      <a:pt x="1561703" y="3123406"/>
                    </a:cubicBezTo>
                    <a:cubicBezTo>
                      <a:pt x="699198" y="3123406"/>
                      <a:pt x="0" y="2424208"/>
                      <a:pt x="0" y="1561703"/>
                    </a:cubicBez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</a:ln>
              <a:scene3d>
                <a:camera prst="orthographicFront"/>
                <a:lightRig rig="flat" dir="t"/>
              </a:scene3d>
              <a:sp3d prstMaterial="dkEdge">
                <a:bevelT w="8200" h="38100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2">
                <a:schemeClr val="accent1">
                  <a:alpha val="5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alpha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/>
              </a:fontRef>
            </p:style>
            <p:txBody>
              <a:bodyPr spcFirstLastPara="0" vert="horz" wrap="square" lIns="629303" tIns="538692" rIns="629303" bIns="538692" numCol="1" spcCol="1270" anchor="ctr" anchorCtr="0">
                <a:noAutofit/>
              </a:bodyPr>
              <a:lstStyle/>
              <a:p>
                <a:pPr marL="0" lvl="0" indent="0" algn="ctr" defTabSz="28448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n-GB" sz="6400" kern="1200" dirty="0"/>
              </a:p>
            </p:txBody>
          </p:sp>
          <p:sp>
            <p:nvSpPr>
              <p:cNvPr id="149" name="Freeform 148">
                <a:extLst>
                  <a:ext uri="{FF2B5EF4-FFF2-40B4-BE49-F238E27FC236}">
                    <a16:creationId xmlns:a16="http://schemas.microsoft.com/office/drawing/2014/main" id="{9E761FA5-6F07-4E78-1200-01C278392737}"/>
                  </a:ext>
                </a:extLst>
              </p:cNvPr>
              <p:cNvSpPr/>
              <p:nvPr/>
            </p:nvSpPr>
            <p:spPr>
              <a:xfrm>
                <a:off x="4719022" y="3714584"/>
                <a:ext cx="3038822" cy="1205881"/>
              </a:xfrm>
              <a:custGeom>
                <a:avLst/>
                <a:gdLst>
                  <a:gd name="csX0" fmla="*/ 0 w 3038822"/>
                  <a:gd name="csY0" fmla="*/ 0 h 1205881"/>
                  <a:gd name="csX1" fmla="*/ 3038822 w 3038822"/>
                  <a:gd name="csY1" fmla="*/ 0 h 1205881"/>
                  <a:gd name="csX2" fmla="*/ 3010903 w 3038822"/>
                  <a:gd name="csY2" fmla="*/ 108581 h 1205881"/>
                  <a:gd name="csX3" fmla="*/ 1519411 w 3038822"/>
                  <a:gd name="csY3" fmla="*/ 1205881 h 1205881"/>
                  <a:gd name="csX4" fmla="*/ 27919 w 3038822"/>
                  <a:gd name="csY4" fmla="*/ 108581 h 120588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3038822" h="1205881">
                    <a:moveTo>
                      <a:pt x="0" y="0"/>
                    </a:moveTo>
                    <a:lnTo>
                      <a:pt x="3038822" y="0"/>
                    </a:lnTo>
                    <a:lnTo>
                      <a:pt x="3010903" y="108581"/>
                    </a:lnTo>
                    <a:cubicBezTo>
                      <a:pt x="2813174" y="744301"/>
                      <a:pt x="2220196" y="1205881"/>
                      <a:pt x="1519411" y="1205881"/>
                    </a:cubicBezTo>
                    <a:cubicBezTo>
                      <a:pt x="818626" y="1205881"/>
                      <a:pt x="225649" y="744301"/>
                      <a:pt x="27919" y="108581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GB"/>
              </a:p>
            </p:txBody>
          </p:sp>
        </p:grp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2366287D-F23E-BA01-EEEF-D6374792D1C7}"/>
                </a:ext>
              </a:extLst>
            </p:cNvPr>
            <p:cNvSpPr txBox="1"/>
            <p:nvPr/>
          </p:nvSpPr>
          <p:spPr>
            <a:xfrm>
              <a:off x="8231021" y="3979199"/>
              <a:ext cx="261306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b="1" dirty="0"/>
                <a:t>Integrate matched miRNA-mRNA data</a:t>
              </a:r>
            </a:p>
          </p:txBody>
        </p:sp>
        <p:pic>
          <p:nvPicPr>
            <p:cNvPr id="161" name="Picture 160">
              <a:extLst>
                <a:ext uri="{FF2B5EF4-FFF2-40B4-BE49-F238E27FC236}">
                  <a16:creationId xmlns:a16="http://schemas.microsoft.com/office/drawing/2014/main" id="{E89B738E-058E-551C-F350-3B1520EEF44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036724" y="2704665"/>
              <a:ext cx="2545739" cy="562406"/>
            </a:xfrm>
            <a:prstGeom prst="rect">
              <a:avLst/>
            </a:prstGeom>
          </p:spPr>
        </p:pic>
        <p:sp>
          <p:nvSpPr>
            <p:cNvPr id="164" name="Rounded Rectangle 163">
              <a:extLst>
                <a:ext uri="{FF2B5EF4-FFF2-40B4-BE49-F238E27FC236}">
                  <a16:creationId xmlns:a16="http://schemas.microsoft.com/office/drawing/2014/main" id="{0A789EF7-590A-603D-4BF3-0F73885C7E11}"/>
                </a:ext>
              </a:extLst>
            </p:cNvPr>
            <p:cNvSpPr/>
            <p:nvPr/>
          </p:nvSpPr>
          <p:spPr>
            <a:xfrm>
              <a:off x="7708152" y="1894177"/>
              <a:ext cx="408561" cy="408562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3</a:t>
              </a:r>
            </a:p>
          </p:txBody>
        </p:sp>
      </p:grpSp>
      <p:sp>
        <p:nvSpPr>
          <p:cNvPr id="166" name="TextBox 165">
            <a:extLst>
              <a:ext uri="{FF2B5EF4-FFF2-40B4-BE49-F238E27FC236}">
                <a16:creationId xmlns:a16="http://schemas.microsoft.com/office/drawing/2014/main" id="{0022214B-E338-08F9-420E-FF62B05C1598}"/>
              </a:ext>
            </a:extLst>
          </p:cNvPr>
          <p:cNvSpPr txBox="1"/>
          <p:nvPr/>
        </p:nvSpPr>
        <p:spPr>
          <a:xfrm>
            <a:off x="141340" y="6383179"/>
            <a:ext cx="690727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Figure created in </a:t>
            </a:r>
            <a:r>
              <a:rPr lang="en-GB" sz="1000" dirty="0" err="1"/>
              <a:t>BioRender</a:t>
            </a:r>
            <a:r>
              <a:rPr lang="en-GB" sz="1000" dirty="0"/>
              <a:t>: https://</a:t>
            </a:r>
            <a:r>
              <a:rPr lang="en-GB" sz="1000" dirty="0" err="1"/>
              <a:t>BioRender.com</a:t>
            </a:r>
            <a:r>
              <a:rPr lang="en-GB" sz="1000" dirty="0">
                <a:effectLst/>
              </a:rPr>
              <a:t> </a:t>
            </a:r>
            <a:endParaRPr lang="en-GB" sz="1000" dirty="0"/>
          </a:p>
        </p:txBody>
      </p:sp>
    </p:spTree>
    <p:extLst>
      <p:ext uri="{BB962C8B-B14F-4D97-AF65-F5344CB8AC3E}">
        <p14:creationId xmlns:p14="http://schemas.microsoft.com/office/powerpoint/2010/main" val="44260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63532-546C-649A-394C-7C8DA9DFA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16156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6990AD-F519-0319-34D1-759B0ADD1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23384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2958B-7021-9DC6-3755-982DC06DD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4604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CF5F1B-56CD-AFBA-B4AB-6561C27F7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10555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5D480-7978-9281-3E12-A23492F5C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1513662-08CA-2884-4389-DFA4B25F52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3100" y="2146300"/>
            <a:ext cx="3225800" cy="25654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76E4E08-A8B6-C592-389E-64622E3146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845553" y="1816100"/>
            <a:ext cx="3225800" cy="25654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FCA370B-C509-A7A9-2312-FBE0AF3DB3C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725" b="63132"/>
          <a:stretch>
            <a:fillRect/>
          </a:stretch>
        </p:blipFill>
        <p:spPr>
          <a:xfrm rot="16200000">
            <a:off x="7160461" y="2776287"/>
            <a:ext cx="3225800" cy="64502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FFF90FC-442E-83E3-5681-73C86A8755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603" t="68233" r="23031" b="23100"/>
          <a:stretch>
            <a:fillRect/>
          </a:stretch>
        </p:blipFill>
        <p:spPr>
          <a:xfrm rot="16200000">
            <a:off x="8273712" y="3449461"/>
            <a:ext cx="2302135" cy="222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8901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7178D-8529-BFCD-C9B3-2F96AF93D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98D07-F313-135C-E75A-5829E6FC4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234" y="1889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8800" dirty="0"/>
              <a:t>Archive</a:t>
            </a:r>
          </a:p>
        </p:txBody>
      </p:sp>
    </p:spTree>
    <p:extLst>
      <p:ext uri="{BB962C8B-B14F-4D97-AF65-F5344CB8AC3E}">
        <p14:creationId xmlns:p14="http://schemas.microsoft.com/office/powerpoint/2010/main" val="1537797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03899-6408-ED96-8BDC-CDE54485C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F3E23D2-A17F-D068-BD18-69634BFF04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80" r="387"/>
          <a:stretch>
            <a:fillRect/>
          </a:stretch>
        </p:blipFill>
        <p:spPr>
          <a:xfrm>
            <a:off x="691256" y="1142360"/>
            <a:ext cx="10767319" cy="5324475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440B328A-423A-D35F-C649-BF11BB70D4FE}"/>
              </a:ext>
            </a:extLst>
          </p:cNvPr>
          <p:cNvSpPr/>
          <p:nvPr/>
        </p:nvSpPr>
        <p:spPr>
          <a:xfrm>
            <a:off x="774526" y="970129"/>
            <a:ext cx="408561" cy="40856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79E1E55-2B8E-1AFA-D5F8-BCD47B2BA68D}"/>
              </a:ext>
            </a:extLst>
          </p:cNvPr>
          <p:cNvSpPr/>
          <p:nvPr/>
        </p:nvSpPr>
        <p:spPr>
          <a:xfrm>
            <a:off x="3842451" y="970129"/>
            <a:ext cx="408561" cy="40856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9BB8354-CBAA-A87C-7610-FCE2CA79F118}"/>
              </a:ext>
            </a:extLst>
          </p:cNvPr>
          <p:cNvSpPr/>
          <p:nvPr/>
        </p:nvSpPr>
        <p:spPr>
          <a:xfrm>
            <a:off x="5892296" y="970129"/>
            <a:ext cx="408561" cy="40856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2C2AB7A-42E1-CB52-D443-B7B0EECE49F0}"/>
              </a:ext>
            </a:extLst>
          </p:cNvPr>
          <p:cNvSpPr/>
          <p:nvPr/>
        </p:nvSpPr>
        <p:spPr>
          <a:xfrm>
            <a:off x="8805581" y="970129"/>
            <a:ext cx="408561" cy="40856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4</a:t>
            </a:r>
          </a:p>
        </p:txBody>
      </p:sp>
      <p:pic>
        <p:nvPicPr>
          <p:cNvPr id="20" name="Graphic 19" descr="Close outline">
            <a:extLst>
              <a:ext uri="{FF2B5EF4-FFF2-40B4-BE49-F238E27FC236}">
                <a16:creationId xmlns:a16="http://schemas.microsoft.com/office/drawing/2014/main" id="{65C9F4D2-4F38-538B-EC4F-CB42F7205A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40236" y="2976274"/>
            <a:ext cx="905452" cy="905452"/>
          </a:xfrm>
          <a:prstGeom prst="rect">
            <a:avLst/>
          </a:prstGeom>
        </p:spPr>
      </p:pic>
      <p:pic>
        <p:nvPicPr>
          <p:cNvPr id="21" name="Graphic 20" descr="Close outline">
            <a:extLst>
              <a:ext uri="{FF2B5EF4-FFF2-40B4-BE49-F238E27FC236}">
                <a16:creationId xmlns:a16="http://schemas.microsoft.com/office/drawing/2014/main" id="{5840AA8B-2906-2867-51FE-D154EC67B2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40236" y="1624295"/>
            <a:ext cx="905452" cy="905452"/>
          </a:xfrm>
          <a:prstGeom prst="rect">
            <a:avLst/>
          </a:prstGeom>
        </p:spPr>
      </p:pic>
      <p:pic>
        <p:nvPicPr>
          <p:cNvPr id="24" name="Graphic 23" descr="Close with solid fill">
            <a:extLst>
              <a:ext uri="{FF2B5EF4-FFF2-40B4-BE49-F238E27FC236}">
                <a16:creationId xmlns:a16="http://schemas.microsoft.com/office/drawing/2014/main" id="{553216EA-6F1F-B17D-3FF4-843F60D8FF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55831" y="2571426"/>
            <a:ext cx="354031" cy="354031"/>
          </a:xfrm>
          <a:prstGeom prst="rect">
            <a:avLst/>
          </a:prstGeom>
        </p:spPr>
      </p:pic>
      <p:pic>
        <p:nvPicPr>
          <p:cNvPr id="25" name="Graphic 24" descr="Close with solid fill">
            <a:extLst>
              <a:ext uri="{FF2B5EF4-FFF2-40B4-BE49-F238E27FC236}">
                <a16:creationId xmlns:a16="http://schemas.microsoft.com/office/drawing/2014/main" id="{129F40D1-0F50-2C1A-3BAC-150F763C0A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20787" y="3018294"/>
            <a:ext cx="354031" cy="354031"/>
          </a:xfrm>
          <a:prstGeom prst="rect">
            <a:avLst/>
          </a:prstGeom>
        </p:spPr>
      </p:pic>
      <p:pic>
        <p:nvPicPr>
          <p:cNvPr id="26" name="Graphic 25" descr="Close with solid fill">
            <a:extLst>
              <a:ext uri="{FF2B5EF4-FFF2-40B4-BE49-F238E27FC236}">
                <a16:creationId xmlns:a16="http://schemas.microsoft.com/office/drawing/2014/main" id="{F52D1291-A8FD-5C93-C737-B91505BCAC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90308" y="2748441"/>
            <a:ext cx="354031" cy="354031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BF6C3CB9-492F-E31B-41C7-830FF8C24CA8}"/>
              </a:ext>
            </a:extLst>
          </p:cNvPr>
          <p:cNvSpPr txBox="1"/>
          <p:nvPr/>
        </p:nvSpPr>
        <p:spPr>
          <a:xfrm>
            <a:off x="1183087" y="989744"/>
            <a:ext cx="2089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Allergen exposure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B21760A-8C19-A3B4-6C5F-C73170E395BC}"/>
              </a:ext>
            </a:extLst>
          </p:cNvPr>
          <p:cNvSpPr txBox="1"/>
          <p:nvPr/>
        </p:nvSpPr>
        <p:spPr>
          <a:xfrm>
            <a:off x="4283796" y="989744"/>
            <a:ext cx="10903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EV cargo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6E0EA5-701F-2918-F709-11F5246DC239}"/>
              </a:ext>
            </a:extLst>
          </p:cNvPr>
          <p:cNvSpPr txBox="1"/>
          <p:nvPr/>
        </p:nvSpPr>
        <p:spPr>
          <a:xfrm>
            <a:off x="6299705" y="989744"/>
            <a:ext cx="2076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Gene suppression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316E25A-015B-59B3-B209-6C40C92E7179}"/>
              </a:ext>
            </a:extLst>
          </p:cNvPr>
          <p:cNvSpPr txBox="1"/>
          <p:nvPr/>
        </p:nvSpPr>
        <p:spPr>
          <a:xfrm>
            <a:off x="9226594" y="989744"/>
            <a:ext cx="2274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Pathway disruption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9ED76F6-99CD-42AE-B0F9-1B678D48DB7A}"/>
              </a:ext>
            </a:extLst>
          </p:cNvPr>
          <p:cNvSpPr txBox="1"/>
          <p:nvPr/>
        </p:nvSpPr>
        <p:spPr>
          <a:xfrm>
            <a:off x="304800" y="228600"/>
            <a:ext cx="29108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Background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04F877C-5EE0-D843-A119-A859360081ED}"/>
              </a:ext>
            </a:extLst>
          </p:cNvPr>
          <p:cNvSpPr txBox="1"/>
          <p:nvPr/>
        </p:nvSpPr>
        <p:spPr>
          <a:xfrm>
            <a:off x="691256" y="6466835"/>
            <a:ext cx="69072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Figure created by Chris Janschke in </a:t>
            </a:r>
            <a:r>
              <a:rPr lang="en-GB" sz="1200" dirty="0" err="1"/>
              <a:t>BioRender</a:t>
            </a:r>
            <a:r>
              <a:rPr lang="en-GB" sz="1200" dirty="0"/>
              <a:t>: https://</a:t>
            </a:r>
            <a:r>
              <a:rPr lang="en-GB" sz="1200" dirty="0" err="1"/>
              <a:t>BioRender.com</a:t>
            </a:r>
            <a:r>
              <a:rPr lang="en-GB" sz="1200" dirty="0">
                <a:effectLst/>
              </a:rPr>
              <a:t> </a:t>
            </a: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37618811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A45F6E-955B-46BF-0251-9D9C6C951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63F6F81-3344-BAE7-4B29-5639965FE0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80" r="387"/>
          <a:stretch>
            <a:fillRect/>
          </a:stretch>
        </p:blipFill>
        <p:spPr>
          <a:xfrm>
            <a:off x="691256" y="1142360"/>
            <a:ext cx="10767319" cy="5324475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3E179657-C73D-9781-BAB5-BCFA44AFEB87}"/>
              </a:ext>
            </a:extLst>
          </p:cNvPr>
          <p:cNvSpPr/>
          <p:nvPr/>
        </p:nvSpPr>
        <p:spPr>
          <a:xfrm>
            <a:off x="774526" y="970129"/>
            <a:ext cx="408561" cy="40856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F6AF091-1C8A-D344-4EE9-8812F15BB4E7}"/>
              </a:ext>
            </a:extLst>
          </p:cNvPr>
          <p:cNvSpPr/>
          <p:nvPr/>
        </p:nvSpPr>
        <p:spPr>
          <a:xfrm>
            <a:off x="3842451" y="970129"/>
            <a:ext cx="408561" cy="40856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460F8E0-2426-F992-E0A5-6747C0AAC78B}"/>
              </a:ext>
            </a:extLst>
          </p:cNvPr>
          <p:cNvSpPr/>
          <p:nvPr/>
        </p:nvSpPr>
        <p:spPr>
          <a:xfrm>
            <a:off x="5892296" y="970129"/>
            <a:ext cx="408561" cy="40856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FB1503A-8D5F-AFB8-1B27-43C2E2C78219}"/>
              </a:ext>
            </a:extLst>
          </p:cNvPr>
          <p:cNvSpPr/>
          <p:nvPr/>
        </p:nvSpPr>
        <p:spPr>
          <a:xfrm>
            <a:off x="8805581" y="970129"/>
            <a:ext cx="408561" cy="40856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4</a:t>
            </a:r>
          </a:p>
        </p:txBody>
      </p:sp>
      <p:pic>
        <p:nvPicPr>
          <p:cNvPr id="10" name="Graphic 9" descr="Close outline">
            <a:extLst>
              <a:ext uri="{FF2B5EF4-FFF2-40B4-BE49-F238E27FC236}">
                <a16:creationId xmlns:a16="http://schemas.microsoft.com/office/drawing/2014/main" id="{4CF55A00-3101-31FA-DD14-35079CB5A1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40236" y="2976274"/>
            <a:ext cx="905452" cy="905452"/>
          </a:xfrm>
          <a:prstGeom prst="rect">
            <a:avLst/>
          </a:prstGeom>
        </p:spPr>
      </p:pic>
      <p:pic>
        <p:nvPicPr>
          <p:cNvPr id="11" name="Graphic 10" descr="Close outline">
            <a:extLst>
              <a:ext uri="{FF2B5EF4-FFF2-40B4-BE49-F238E27FC236}">
                <a16:creationId xmlns:a16="http://schemas.microsoft.com/office/drawing/2014/main" id="{DF90022F-BBAA-5232-1862-10203F5511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40236" y="1624295"/>
            <a:ext cx="905452" cy="905452"/>
          </a:xfrm>
          <a:prstGeom prst="rect">
            <a:avLst/>
          </a:prstGeom>
        </p:spPr>
      </p:pic>
      <p:pic>
        <p:nvPicPr>
          <p:cNvPr id="12" name="Graphic 11" descr="Close with solid fill">
            <a:extLst>
              <a:ext uri="{FF2B5EF4-FFF2-40B4-BE49-F238E27FC236}">
                <a16:creationId xmlns:a16="http://schemas.microsoft.com/office/drawing/2014/main" id="{6A4841BA-C3B9-ED5B-642F-57874E0C06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55831" y="2571426"/>
            <a:ext cx="354031" cy="354031"/>
          </a:xfrm>
          <a:prstGeom prst="rect">
            <a:avLst/>
          </a:prstGeom>
        </p:spPr>
      </p:pic>
      <p:pic>
        <p:nvPicPr>
          <p:cNvPr id="13" name="Graphic 12" descr="Close with solid fill">
            <a:extLst>
              <a:ext uri="{FF2B5EF4-FFF2-40B4-BE49-F238E27FC236}">
                <a16:creationId xmlns:a16="http://schemas.microsoft.com/office/drawing/2014/main" id="{E027F8B8-85E1-D0FD-4704-47C5653286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20787" y="3018294"/>
            <a:ext cx="354031" cy="354031"/>
          </a:xfrm>
          <a:prstGeom prst="rect">
            <a:avLst/>
          </a:prstGeom>
        </p:spPr>
      </p:pic>
      <p:pic>
        <p:nvPicPr>
          <p:cNvPr id="14" name="Graphic 13" descr="Close with solid fill">
            <a:extLst>
              <a:ext uri="{FF2B5EF4-FFF2-40B4-BE49-F238E27FC236}">
                <a16:creationId xmlns:a16="http://schemas.microsoft.com/office/drawing/2014/main" id="{4BDA8863-ED97-D213-D264-4A6B9EF9CC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90308" y="2748441"/>
            <a:ext cx="354031" cy="35403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C9A2176-7507-459A-B355-30095D45DD83}"/>
              </a:ext>
            </a:extLst>
          </p:cNvPr>
          <p:cNvSpPr txBox="1"/>
          <p:nvPr/>
        </p:nvSpPr>
        <p:spPr>
          <a:xfrm>
            <a:off x="1183087" y="989744"/>
            <a:ext cx="2089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Allergen exposure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8FE38EC-9E62-E242-52A3-47B7E14176E4}"/>
              </a:ext>
            </a:extLst>
          </p:cNvPr>
          <p:cNvSpPr txBox="1"/>
          <p:nvPr/>
        </p:nvSpPr>
        <p:spPr>
          <a:xfrm>
            <a:off x="4283796" y="989744"/>
            <a:ext cx="10903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EV cargo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4DAFC59-356C-6D13-1432-D92F2636ECEE}"/>
              </a:ext>
            </a:extLst>
          </p:cNvPr>
          <p:cNvSpPr txBox="1"/>
          <p:nvPr/>
        </p:nvSpPr>
        <p:spPr>
          <a:xfrm>
            <a:off x="6299705" y="989744"/>
            <a:ext cx="2076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Gene suppression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5B31C5B-FB15-7E18-1D39-70A2AEB32D3B}"/>
              </a:ext>
            </a:extLst>
          </p:cNvPr>
          <p:cNvSpPr txBox="1"/>
          <p:nvPr/>
        </p:nvSpPr>
        <p:spPr>
          <a:xfrm>
            <a:off x="9226594" y="989744"/>
            <a:ext cx="2274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Pathway disruption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DAB541B-BFE2-555F-79B5-BD7B0A108D58}"/>
              </a:ext>
            </a:extLst>
          </p:cNvPr>
          <p:cNvSpPr txBox="1"/>
          <p:nvPr/>
        </p:nvSpPr>
        <p:spPr>
          <a:xfrm>
            <a:off x="304800" y="228600"/>
            <a:ext cx="29108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Background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001D4AE-E06D-3FCA-59EC-4483A72B2C81}"/>
              </a:ext>
            </a:extLst>
          </p:cNvPr>
          <p:cNvSpPr txBox="1"/>
          <p:nvPr/>
        </p:nvSpPr>
        <p:spPr>
          <a:xfrm>
            <a:off x="691256" y="6466835"/>
            <a:ext cx="69072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Figure created by Chris Janschke in </a:t>
            </a:r>
            <a:r>
              <a:rPr lang="en-GB" sz="1200" dirty="0" err="1"/>
              <a:t>BioRender</a:t>
            </a:r>
            <a:r>
              <a:rPr lang="en-GB" sz="1200" dirty="0"/>
              <a:t>: https://</a:t>
            </a:r>
            <a:r>
              <a:rPr lang="en-GB" sz="1200" dirty="0" err="1"/>
              <a:t>BioRender.com</a:t>
            </a:r>
            <a:r>
              <a:rPr lang="en-GB" sz="1200" dirty="0">
                <a:effectLst/>
              </a:rPr>
              <a:t> </a:t>
            </a:r>
            <a:endParaRPr lang="en-GB" sz="12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FBE83A3-1C85-54F1-CE0E-257F64DA292D}"/>
              </a:ext>
            </a:extLst>
          </p:cNvPr>
          <p:cNvSpPr/>
          <p:nvPr/>
        </p:nvSpPr>
        <p:spPr>
          <a:xfrm>
            <a:off x="548640" y="4572000"/>
            <a:ext cx="10952104" cy="18948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8B1CB79-E4E4-4CD6-17C5-BA02893C8EF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1203" t="12139" r="4305" b="36156"/>
          <a:stretch>
            <a:fillRect/>
          </a:stretch>
        </p:blipFill>
        <p:spPr>
          <a:xfrm>
            <a:off x="649086" y="4506723"/>
            <a:ext cx="10952103" cy="1960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2432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40D1F-561F-330E-A9CF-37D1C74E5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8A1A35AF-20B7-D28E-28B7-61AAB48291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8895" y="2262819"/>
            <a:ext cx="3657600" cy="24384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BC6092F-6F69-3809-8EC2-84487DB2DEC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686" t="39488" r="50915" b="48718"/>
          <a:stretch>
            <a:fillRect/>
          </a:stretch>
        </p:blipFill>
        <p:spPr>
          <a:xfrm rot="752272">
            <a:off x="3935913" y="3168423"/>
            <a:ext cx="1945964" cy="34738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98C665C-DEC4-E7D5-CC42-823132263337}"/>
              </a:ext>
            </a:extLst>
          </p:cNvPr>
          <p:cNvSpPr txBox="1"/>
          <p:nvPr/>
        </p:nvSpPr>
        <p:spPr>
          <a:xfrm>
            <a:off x="304800" y="228600"/>
            <a:ext cx="29108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Study Data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5FB0D40-321B-4820-6C7E-6F2E421F6BB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9213" t="8505" r="23376" b="54213"/>
          <a:stretch>
            <a:fillRect/>
          </a:stretch>
        </p:blipFill>
        <p:spPr>
          <a:xfrm>
            <a:off x="304801" y="1946442"/>
            <a:ext cx="3710539" cy="14986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E535AE4-ADB5-CC41-1819-13B395884EC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5552" r="36171" b="70647"/>
          <a:stretch>
            <a:fillRect/>
          </a:stretch>
        </p:blipFill>
        <p:spPr>
          <a:xfrm>
            <a:off x="5504234" y="228600"/>
            <a:ext cx="2910840" cy="198482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8B96D42-4E21-3326-F293-148A1010496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5552" t="66174" r="36171"/>
          <a:stretch>
            <a:fillRect/>
          </a:stretch>
        </p:blipFill>
        <p:spPr>
          <a:xfrm>
            <a:off x="5744865" y="4701219"/>
            <a:ext cx="2453850" cy="192818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CE9DB7C-0EFE-D18E-C62F-91C02AF55AF6}"/>
              </a:ext>
            </a:extLst>
          </p:cNvPr>
          <p:cNvSpPr txBox="1"/>
          <p:nvPr/>
        </p:nvSpPr>
        <p:spPr>
          <a:xfrm>
            <a:off x="532999" y="1579460"/>
            <a:ext cx="24544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Primary HBEC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B9BF9A3-199C-9DDC-219E-BEA03FB0A16C}"/>
              </a:ext>
            </a:extLst>
          </p:cNvPr>
          <p:cNvSpPr txBox="1"/>
          <p:nvPr/>
        </p:nvSpPr>
        <p:spPr>
          <a:xfrm>
            <a:off x="532998" y="3812024"/>
            <a:ext cx="28198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Calu-3 adenocarcinoma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3241FDD8-9D2C-6756-9BC6-624508DEAA9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686" t="39488" r="50915" b="48718"/>
          <a:stretch>
            <a:fillRect/>
          </a:stretch>
        </p:blipFill>
        <p:spPr>
          <a:xfrm rot="20400988">
            <a:off x="3945815" y="4017533"/>
            <a:ext cx="1945964" cy="34738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A0821E3-217C-4EAD-01C2-DA68BD7D8E2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9213" t="71274" r="23376"/>
          <a:stretch>
            <a:fillRect/>
          </a:stretch>
        </p:blipFill>
        <p:spPr>
          <a:xfrm>
            <a:off x="304800" y="4123898"/>
            <a:ext cx="3710539" cy="1154642"/>
          </a:xfrm>
          <a:prstGeom prst="rect">
            <a:avLst/>
          </a:prstGeom>
        </p:spPr>
      </p:pic>
      <p:sp>
        <p:nvSpPr>
          <p:cNvPr id="22" name="Down Arrow 21">
            <a:extLst>
              <a:ext uri="{FF2B5EF4-FFF2-40B4-BE49-F238E27FC236}">
                <a16:creationId xmlns:a16="http://schemas.microsoft.com/office/drawing/2014/main" id="{7C93550D-DEFE-6351-062C-40CA0AC2C3E5}"/>
              </a:ext>
            </a:extLst>
          </p:cNvPr>
          <p:cNvSpPr/>
          <p:nvPr/>
        </p:nvSpPr>
        <p:spPr>
          <a:xfrm rot="16200000">
            <a:off x="8238338" y="2897833"/>
            <a:ext cx="656314" cy="1534995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98111081-A49F-3754-B7AC-9BD982A3244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47924" t="23573" r="5478" b="19535"/>
          <a:stretch>
            <a:fillRect/>
          </a:stretch>
        </p:blipFill>
        <p:spPr>
          <a:xfrm>
            <a:off x="9339486" y="2196546"/>
            <a:ext cx="2852514" cy="2287659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9C8756CF-CF27-9E0B-9691-C4AEF8E5100E}"/>
              </a:ext>
            </a:extLst>
          </p:cNvPr>
          <p:cNvSpPr txBox="1"/>
          <p:nvPr/>
        </p:nvSpPr>
        <p:spPr>
          <a:xfrm>
            <a:off x="9903968" y="1870116"/>
            <a:ext cx="24544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Transcriptomics</a:t>
            </a:r>
          </a:p>
        </p:txBody>
      </p:sp>
    </p:spTree>
    <p:extLst>
      <p:ext uri="{BB962C8B-B14F-4D97-AF65-F5344CB8AC3E}">
        <p14:creationId xmlns:p14="http://schemas.microsoft.com/office/powerpoint/2010/main" val="11217086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2D5BD-3B05-AA7A-CD3A-49A1B9606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C930F64-2188-4222-B01A-D732B00007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747" y="1419225"/>
            <a:ext cx="7772400" cy="40195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6057117-A78D-0089-294B-C2890FBC62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631" y="990600"/>
            <a:ext cx="3657600" cy="24384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2E8DC05-958A-D2D8-D880-7D4D81AA927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5552" r="36171"/>
          <a:stretch>
            <a:fillRect/>
          </a:stretch>
        </p:blipFill>
        <p:spPr>
          <a:xfrm>
            <a:off x="9994231" y="745456"/>
            <a:ext cx="2197769" cy="51054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85AFE94-2804-D267-5955-1A1CB8D0D19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686" t="39488" r="50915" b="48718"/>
          <a:stretch>
            <a:fillRect/>
          </a:stretch>
        </p:blipFill>
        <p:spPr>
          <a:xfrm>
            <a:off x="2651760" y="2892279"/>
            <a:ext cx="3373120" cy="60215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5159C32-2447-309F-12D9-0EF3C31D3E0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7924" t="23573" r="5478" b="19535"/>
          <a:stretch>
            <a:fillRect/>
          </a:stretch>
        </p:blipFill>
        <p:spPr>
          <a:xfrm>
            <a:off x="6372489" y="3674144"/>
            <a:ext cx="3621742" cy="2904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1578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5F34B-D0E0-661D-4B1B-51944ECE0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1B8687C-37AB-636D-5369-E9CB15F398B6}"/>
              </a:ext>
            </a:extLst>
          </p:cNvPr>
          <p:cNvSpPr txBox="1"/>
          <p:nvPr/>
        </p:nvSpPr>
        <p:spPr>
          <a:xfrm>
            <a:off x="304800" y="228600"/>
            <a:ext cx="29108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Transcriptomics Workflow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9E5BE1-26DD-B362-4715-9E74E8288CA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7924" t="23573" r="5478" b="19535"/>
          <a:stretch>
            <a:fillRect/>
          </a:stretch>
        </p:blipFill>
        <p:spPr>
          <a:xfrm>
            <a:off x="64858" y="1715845"/>
            <a:ext cx="1756685" cy="1408826"/>
          </a:xfrm>
          <a:prstGeom prst="rect">
            <a:avLst/>
          </a:prstGeom>
        </p:spPr>
      </p:pic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F61CAF2-B7B3-8145-C277-396DC1D35516}"/>
              </a:ext>
            </a:extLst>
          </p:cNvPr>
          <p:cNvSpPr/>
          <p:nvPr/>
        </p:nvSpPr>
        <p:spPr>
          <a:xfrm>
            <a:off x="2126343" y="1328058"/>
            <a:ext cx="9506857" cy="218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7ED84A-4755-05D9-543C-DA7E180CC980}"/>
              </a:ext>
            </a:extLst>
          </p:cNvPr>
          <p:cNvSpPr/>
          <p:nvPr/>
        </p:nvSpPr>
        <p:spPr>
          <a:xfrm>
            <a:off x="2380343" y="1915886"/>
            <a:ext cx="1364343" cy="92891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Trimming</a:t>
            </a:r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3762D85D-B1FC-9C30-CAFC-7ABE8EAD7053}"/>
              </a:ext>
            </a:extLst>
          </p:cNvPr>
          <p:cNvSpPr/>
          <p:nvPr/>
        </p:nvSpPr>
        <p:spPr>
          <a:xfrm>
            <a:off x="3824514" y="2264229"/>
            <a:ext cx="885372" cy="2322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30AACE4-5A41-4404-2B93-8A0DBA95BA96}"/>
              </a:ext>
            </a:extLst>
          </p:cNvPr>
          <p:cNvSpPr/>
          <p:nvPr/>
        </p:nvSpPr>
        <p:spPr>
          <a:xfrm>
            <a:off x="4855029" y="1915885"/>
            <a:ext cx="1364343" cy="92891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Quality</a:t>
            </a:r>
          </a:p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Control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A910E53-4FBD-0EFB-0787-458EDB2A1ED3}"/>
              </a:ext>
            </a:extLst>
          </p:cNvPr>
          <p:cNvSpPr/>
          <p:nvPr/>
        </p:nvSpPr>
        <p:spPr>
          <a:xfrm>
            <a:off x="7329715" y="1915884"/>
            <a:ext cx="1364343" cy="92891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miRNA mapping</a:t>
            </a:r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CE326598-AE0E-AE3D-E1E7-2532438129DF}"/>
              </a:ext>
            </a:extLst>
          </p:cNvPr>
          <p:cNvSpPr/>
          <p:nvPr/>
        </p:nvSpPr>
        <p:spPr>
          <a:xfrm>
            <a:off x="8773886" y="2264227"/>
            <a:ext cx="885372" cy="2322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FA2DFCA-F45E-5CEB-E1AF-858235080DD8}"/>
              </a:ext>
            </a:extLst>
          </p:cNvPr>
          <p:cNvSpPr/>
          <p:nvPr/>
        </p:nvSpPr>
        <p:spPr>
          <a:xfrm>
            <a:off x="9804401" y="1915883"/>
            <a:ext cx="1364343" cy="92891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Differential Expression</a:t>
            </a:r>
          </a:p>
        </p:txBody>
      </p:sp>
      <p:sp>
        <p:nvSpPr>
          <p:cNvPr id="12" name="Right Arrow 11">
            <a:extLst>
              <a:ext uri="{FF2B5EF4-FFF2-40B4-BE49-F238E27FC236}">
                <a16:creationId xmlns:a16="http://schemas.microsoft.com/office/drawing/2014/main" id="{00A087C3-E2D9-9B77-9A29-BCB36BEF7B0A}"/>
              </a:ext>
            </a:extLst>
          </p:cNvPr>
          <p:cNvSpPr/>
          <p:nvPr/>
        </p:nvSpPr>
        <p:spPr>
          <a:xfrm>
            <a:off x="6306457" y="2264229"/>
            <a:ext cx="885372" cy="2322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E8729C5-E313-1206-4F53-71ABF9B70D99}"/>
              </a:ext>
            </a:extLst>
          </p:cNvPr>
          <p:cNvCxnSpPr/>
          <p:nvPr/>
        </p:nvCxnSpPr>
        <p:spPr>
          <a:xfrm>
            <a:off x="10486571" y="3512458"/>
            <a:ext cx="0" cy="121919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5B5070AF-ED70-A3DB-96E4-7F4E1D650EBC}"/>
              </a:ext>
            </a:extLst>
          </p:cNvPr>
          <p:cNvSpPr/>
          <p:nvPr/>
        </p:nvSpPr>
        <p:spPr>
          <a:xfrm>
            <a:off x="2126343" y="4307117"/>
            <a:ext cx="9506857" cy="218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AE6148E-F405-CE7B-2DF2-94BE3655DDBF}"/>
              </a:ext>
            </a:extLst>
          </p:cNvPr>
          <p:cNvSpPr/>
          <p:nvPr/>
        </p:nvSpPr>
        <p:spPr>
          <a:xfrm>
            <a:off x="2380343" y="4894945"/>
            <a:ext cx="1364343" cy="92891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Trimming</a:t>
            </a:r>
          </a:p>
        </p:txBody>
      </p:sp>
      <p:sp>
        <p:nvSpPr>
          <p:cNvPr id="17" name="Right Arrow 16">
            <a:extLst>
              <a:ext uri="{FF2B5EF4-FFF2-40B4-BE49-F238E27FC236}">
                <a16:creationId xmlns:a16="http://schemas.microsoft.com/office/drawing/2014/main" id="{D3EB04D4-1C3E-AD5D-62B0-DCAA6FD69C58}"/>
              </a:ext>
            </a:extLst>
          </p:cNvPr>
          <p:cNvSpPr/>
          <p:nvPr/>
        </p:nvSpPr>
        <p:spPr>
          <a:xfrm rot="10800000">
            <a:off x="3824514" y="5243288"/>
            <a:ext cx="885372" cy="2322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C812BD8-F0D4-99EE-E5B7-177CB3D8F7BE}"/>
              </a:ext>
            </a:extLst>
          </p:cNvPr>
          <p:cNvSpPr/>
          <p:nvPr/>
        </p:nvSpPr>
        <p:spPr>
          <a:xfrm>
            <a:off x="4855029" y="4894944"/>
            <a:ext cx="1364343" cy="92891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Quality</a:t>
            </a:r>
          </a:p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Control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FF88888-0332-3335-F809-4F48295CED2E}"/>
              </a:ext>
            </a:extLst>
          </p:cNvPr>
          <p:cNvSpPr/>
          <p:nvPr/>
        </p:nvSpPr>
        <p:spPr>
          <a:xfrm>
            <a:off x="7329715" y="4894943"/>
            <a:ext cx="1364343" cy="92891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miRNA mapping</a:t>
            </a:r>
          </a:p>
        </p:txBody>
      </p:sp>
      <p:sp>
        <p:nvSpPr>
          <p:cNvPr id="20" name="Right Arrow 19">
            <a:extLst>
              <a:ext uri="{FF2B5EF4-FFF2-40B4-BE49-F238E27FC236}">
                <a16:creationId xmlns:a16="http://schemas.microsoft.com/office/drawing/2014/main" id="{9CD3FEEA-33D1-507C-3458-75A04EBB405F}"/>
              </a:ext>
            </a:extLst>
          </p:cNvPr>
          <p:cNvSpPr/>
          <p:nvPr/>
        </p:nvSpPr>
        <p:spPr>
          <a:xfrm rot="10800000">
            <a:off x="8773886" y="5243286"/>
            <a:ext cx="885372" cy="2322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3B7292F-CADA-A686-DC08-794710F08EAC}"/>
              </a:ext>
            </a:extLst>
          </p:cNvPr>
          <p:cNvSpPr/>
          <p:nvPr/>
        </p:nvSpPr>
        <p:spPr>
          <a:xfrm>
            <a:off x="9804401" y="4894942"/>
            <a:ext cx="1364343" cy="92891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Pathway Enrichment</a:t>
            </a:r>
          </a:p>
        </p:txBody>
      </p:sp>
      <p:sp>
        <p:nvSpPr>
          <p:cNvPr id="22" name="Right Arrow 21">
            <a:extLst>
              <a:ext uri="{FF2B5EF4-FFF2-40B4-BE49-F238E27FC236}">
                <a16:creationId xmlns:a16="http://schemas.microsoft.com/office/drawing/2014/main" id="{4017169C-AE98-783F-5456-BCC6B1280988}"/>
              </a:ext>
            </a:extLst>
          </p:cNvPr>
          <p:cNvSpPr/>
          <p:nvPr/>
        </p:nvSpPr>
        <p:spPr>
          <a:xfrm rot="10800000">
            <a:off x="6306457" y="5243288"/>
            <a:ext cx="885372" cy="2322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29642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95FE9-A229-16F4-CBED-0EF04F27D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D39E4B4D-4B3E-ABDA-B122-17B206716816}"/>
              </a:ext>
            </a:extLst>
          </p:cNvPr>
          <p:cNvSpPr txBox="1"/>
          <p:nvPr/>
        </p:nvSpPr>
        <p:spPr>
          <a:xfrm>
            <a:off x="304800" y="228600"/>
            <a:ext cx="29108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Results (5)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494C3CF1-E263-6213-5D7B-B58BAF8B0982}"/>
              </a:ext>
            </a:extLst>
          </p:cNvPr>
          <p:cNvGraphicFramePr>
            <a:graphicFrameLocks noGrp="1"/>
          </p:cNvGraphicFramePr>
          <p:nvPr/>
        </p:nvGraphicFramePr>
        <p:xfrm>
          <a:off x="4443664" y="244642"/>
          <a:ext cx="6874042" cy="982579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6874042">
                  <a:extLst>
                    <a:ext uri="{9D8B030D-6E8A-4147-A177-3AD203B41FA5}">
                      <a16:colId xmlns:a16="http://schemas.microsoft.com/office/drawing/2014/main" val="3859239714"/>
                    </a:ext>
                  </a:extLst>
                </a:gridCol>
              </a:tblGrid>
              <a:tr h="384573">
                <a:tc>
                  <a:txBody>
                    <a:bodyPr/>
                    <a:lstStyle/>
                    <a:p>
                      <a:r>
                        <a:rPr lang="en-GB" dirty="0"/>
                        <a:t>Summary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4715783"/>
                  </a:ext>
                </a:extLst>
              </a:tr>
              <a:tr h="598006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GB" dirty="0"/>
                        <a:t>Experimental design optimisation could improve transcriptomics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3029511"/>
                  </a:ext>
                </a:extLst>
              </a:tr>
            </a:tbl>
          </a:graphicData>
        </a:graphic>
      </p:graphicFrame>
      <p:sp>
        <p:nvSpPr>
          <p:cNvPr id="49" name="TextBox 48">
            <a:extLst>
              <a:ext uri="{FF2B5EF4-FFF2-40B4-BE49-F238E27FC236}">
                <a16:creationId xmlns:a16="http://schemas.microsoft.com/office/drawing/2014/main" id="{48B4AAC1-7E41-F864-A13F-833015CB881F}"/>
              </a:ext>
            </a:extLst>
          </p:cNvPr>
          <p:cNvSpPr txBox="1"/>
          <p:nvPr/>
        </p:nvSpPr>
        <p:spPr>
          <a:xfrm>
            <a:off x="232611" y="1804737"/>
            <a:ext cx="27913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u="sng" dirty="0"/>
              <a:t>Experimental Design</a:t>
            </a:r>
          </a:p>
        </p:txBody>
      </p:sp>
      <p:sp>
        <p:nvSpPr>
          <p:cNvPr id="73" name="Freeform 72">
            <a:extLst>
              <a:ext uri="{FF2B5EF4-FFF2-40B4-BE49-F238E27FC236}">
                <a16:creationId xmlns:a16="http://schemas.microsoft.com/office/drawing/2014/main" id="{24F9B2DA-8353-EB3F-3D8E-EF1FFCF5EF91}"/>
              </a:ext>
            </a:extLst>
          </p:cNvPr>
          <p:cNvSpPr/>
          <p:nvPr/>
        </p:nvSpPr>
        <p:spPr>
          <a:xfrm>
            <a:off x="946243" y="2463643"/>
            <a:ext cx="3123406" cy="3123406"/>
          </a:xfrm>
          <a:custGeom>
            <a:avLst/>
            <a:gdLst>
              <a:gd name="csX0" fmla="*/ 0 w 3123406"/>
              <a:gd name="csY0" fmla="*/ 1561703 h 3123406"/>
              <a:gd name="csX1" fmla="*/ 1561703 w 3123406"/>
              <a:gd name="csY1" fmla="*/ 0 h 3123406"/>
              <a:gd name="csX2" fmla="*/ 3123406 w 3123406"/>
              <a:gd name="csY2" fmla="*/ 1561703 h 3123406"/>
              <a:gd name="csX3" fmla="*/ 1561703 w 3123406"/>
              <a:gd name="csY3" fmla="*/ 3123406 h 3123406"/>
              <a:gd name="csX4" fmla="*/ 0 w 3123406"/>
              <a:gd name="csY4" fmla="*/ 1561703 h 31234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23406" h="3123406">
                <a:moveTo>
                  <a:pt x="0" y="1561703"/>
                </a:moveTo>
                <a:cubicBezTo>
                  <a:pt x="0" y="699198"/>
                  <a:pt x="699198" y="0"/>
                  <a:pt x="1561703" y="0"/>
                </a:cubicBezTo>
                <a:cubicBezTo>
                  <a:pt x="2424208" y="0"/>
                  <a:pt x="3123406" y="699198"/>
                  <a:pt x="3123406" y="1561703"/>
                </a:cubicBezTo>
                <a:cubicBezTo>
                  <a:pt x="3123406" y="2424208"/>
                  <a:pt x="2424208" y="3123406"/>
                  <a:pt x="1561703" y="3123406"/>
                </a:cubicBezTo>
                <a:cubicBezTo>
                  <a:pt x="699198" y="3123406"/>
                  <a:pt x="0" y="2424208"/>
                  <a:pt x="0" y="1561703"/>
                </a:cubicBezTo>
                <a:close/>
              </a:path>
            </a:pathLst>
          </a:custGeom>
          <a:noFill/>
          <a:ln w="28575">
            <a:solidFill>
              <a:schemeClr val="tx1"/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alpha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50000"/>
              <a:hueOff val="0"/>
              <a:satOff val="0"/>
              <a:lumOff val="0"/>
              <a:alphaOff val="0"/>
            </a:schemeClr>
          </a:effectRef>
          <a:fontRef idx="minor">
            <a:schemeClr val="tx1"/>
          </a:fontRef>
        </p:style>
        <p:txBody>
          <a:bodyPr spcFirstLastPara="0" vert="horz" wrap="square" lIns="629303" tIns="538692" rIns="629303" bIns="538692" numCol="1" spcCol="1270" anchor="ctr" anchorCtr="0">
            <a:noAutofit/>
          </a:bodyPr>
          <a:lstStyle/>
          <a:p>
            <a:pPr marL="0" lvl="0" indent="0" algn="ctr" defTabSz="2844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6400" kern="1200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D260555-7ADF-DBE5-12A7-32417C9637AD}"/>
              </a:ext>
            </a:extLst>
          </p:cNvPr>
          <p:cNvSpPr txBox="1"/>
          <p:nvPr/>
        </p:nvSpPr>
        <p:spPr>
          <a:xfrm>
            <a:off x="1747793" y="4656005"/>
            <a:ext cx="16683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1. Increase sample size</a:t>
            </a:r>
          </a:p>
        </p:txBody>
      </p:sp>
      <p:pic>
        <p:nvPicPr>
          <p:cNvPr id="75" name="Picture 74">
            <a:extLst>
              <a:ext uri="{FF2B5EF4-FFF2-40B4-BE49-F238E27FC236}">
                <a16:creationId xmlns:a16="http://schemas.microsoft.com/office/drawing/2014/main" id="{4D5C8502-8733-C0FF-7799-AFC95EC976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0291" y="3128569"/>
            <a:ext cx="350265" cy="1398040"/>
          </a:xfrm>
          <a:prstGeom prst="rect">
            <a:avLst/>
          </a:prstGeom>
        </p:spPr>
      </p:pic>
      <p:pic>
        <p:nvPicPr>
          <p:cNvPr id="76" name="Graphic 75" descr="Group of people with solid fill">
            <a:extLst>
              <a:ext uri="{FF2B5EF4-FFF2-40B4-BE49-F238E27FC236}">
                <a16:creationId xmlns:a16="http://schemas.microsoft.com/office/drawing/2014/main" id="{13DF19C0-997C-D0CE-3211-1E443D614D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24782" y="3456892"/>
            <a:ext cx="914400" cy="914400"/>
          </a:xfrm>
          <a:prstGeom prst="rect">
            <a:avLst/>
          </a:prstGeom>
        </p:spPr>
      </p:pic>
      <p:sp>
        <p:nvSpPr>
          <p:cNvPr id="77" name="Freeform 76">
            <a:extLst>
              <a:ext uri="{FF2B5EF4-FFF2-40B4-BE49-F238E27FC236}">
                <a16:creationId xmlns:a16="http://schemas.microsoft.com/office/drawing/2014/main" id="{114FF7C6-87B1-FDF9-6DB4-BC45E75B9F5C}"/>
              </a:ext>
            </a:extLst>
          </p:cNvPr>
          <p:cNvSpPr/>
          <p:nvPr/>
        </p:nvSpPr>
        <p:spPr>
          <a:xfrm>
            <a:off x="4384140" y="2551109"/>
            <a:ext cx="3123406" cy="3123406"/>
          </a:xfrm>
          <a:custGeom>
            <a:avLst/>
            <a:gdLst>
              <a:gd name="csX0" fmla="*/ 0 w 3123406"/>
              <a:gd name="csY0" fmla="*/ 1561703 h 3123406"/>
              <a:gd name="csX1" fmla="*/ 1561703 w 3123406"/>
              <a:gd name="csY1" fmla="*/ 0 h 3123406"/>
              <a:gd name="csX2" fmla="*/ 3123406 w 3123406"/>
              <a:gd name="csY2" fmla="*/ 1561703 h 3123406"/>
              <a:gd name="csX3" fmla="*/ 1561703 w 3123406"/>
              <a:gd name="csY3" fmla="*/ 3123406 h 3123406"/>
              <a:gd name="csX4" fmla="*/ 0 w 3123406"/>
              <a:gd name="csY4" fmla="*/ 1561703 h 31234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23406" h="3123406">
                <a:moveTo>
                  <a:pt x="0" y="1561703"/>
                </a:moveTo>
                <a:cubicBezTo>
                  <a:pt x="0" y="699198"/>
                  <a:pt x="699198" y="0"/>
                  <a:pt x="1561703" y="0"/>
                </a:cubicBezTo>
                <a:cubicBezTo>
                  <a:pt x="2424208" y="0"/>
                  <a:pt x="3123406" y="699198"/>
                  <a:pt x="3123406" y="1561703"/>
                </a:cubicBezTo>
                <a:cubicBezTo>
                  <a:pt x="3123406" y="2424208"/>
                  <a:pt x="2424208" y="3123406"/>
                  <a:pt x="1561703" y="3123406"/>
                </a:cubicBezTo>
                <a:cubicBezTo>
                  <a:pt x="699198" y="3123406"/>
                  <a:pt x="0" y="2424208"/>
                  <a:pt x="0" y="1561703"/>
                </a:cubicBezTo>
                <a:close/>
              </a:path>
            </a:pathLst>
          </a:custGeom>
          <a:noFill/>
          <a:ln w="28575">
            <a:solidFill>
              <a:schemeClr val="tx1"/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alpha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50000"/>
              <a:hueOff val="0"/>
              <a:satOff val="0"/>
              <a:lumOff val="0"/>
              <a:alphaOff val="0"/>
            </a:schemeClr>
          </a:effectRef>
          <a:fontRef idx="minor">
            <a:schemeClr val="tx1"/>
          </a:fontRef>
        </p:style>
        <p:txBody>
          <a:bodyPr spcFirstLastPara="0" vert="horz" wrap="square" lIns="629303" tIns="538692" rIns="629303" bIns="538692" numCol="1" spcCol="1270" anchor="ctr" anchorCtr="0">
            <a:noAutofit/>
          </a:bodyPr>
          <a:lstStyle/>
          <a:p>
            <a:pPr marL="0" lvl="0" indent="0" algn="ctr" defTabSz="2844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6400" kern="1200" dirty="0"/>
          </a:p>
        </p:txBody>
      </p:sp>
      <p:sp>
        <p:nvSpPr>
          <p:cNvPr id="78" name="Freeform 77">
            <a:extLst>
              <a:ext uri="{FF2B5EF4-FFF2-40B4-BE49-F238E27FC236}">
                <a16:creationId xmlns:a16="http://schemas.microsoft.com/office/drawing/2014/main" id="{0B91A4A3-56C7-B679-A030-B59DBE273341}"/>
              </a:ext>
            </a:extLst>
          </p:cNvPr>
          <p:cNvSpPr/>
          <p:nvPr/>
        </p:nvSpPr>
        <p:spPr>
          <a:xfrm>
            <a:off x="7822037" y="2551109"/>
            <a:ext cx="3123406" cy="3123406"/>
          </a:xfrm>
          <a:custGeom>
            <a:avLst/>
            <a:gdLst>
              <a:gd name="csX0" fmla="*/ 0 w 3123406"/>
              <a:gd name="csY0" fmla="*/ 1561703 h 3123406"/>
              <a:gd name="csX1" fmla="*/ 1561703 w 3123406"/>
              <a:gd name="csY1" fmla="*/ 0 h 3123406"/>
              <a:gd name="csX2" fmla="*/ 3123406 w 3123406"/>
              <a:gd name="csY2" fmla="*/ 1561703 h 3123406"/>
              <a:gd name="csX3" fmla="*/ 1561703 w 3123406"/>
              <a:gd name="csY3" fmla="*/ 3123406 h 3123406"/>
              <a:gd name="csX4" fmla="*/ 0 w 3123406"/>
              <a:gd name="csY4" fmla="*/ 1561703 h 31234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23406" h="3123406">
                <a:moveTo>
                  <a:pt x="0" y="1561703"/>
                </a:moveTo>
                <a:cubicBezTo>
                  <a:pt x="0" y="699198"/>
                  <a:pt x="699198" y="0"/>
                  <a:pt x="1561703" y="0"/>
                </a:cubicBezTo>
                <a:cubicBezTo>
                  <a:pt x="2424208" y="0"/>
                  <a:pt x="3123406" y="699198"/>
                  <a:pt x="3123406" y="1561703"/>
                </a:cubicBezTo>
                <a:cubicBezTo>
                  <a:pt x="3123406" y="2424208"/>
                  <a:pt x="2424208" y="3123406"/>
                  <a:pt x="1561703" y="3123406"/>
                </a:cubicBezTo>
                <a:cubicBezTo>
                  <a:pt x="699198" y="3123406"/>
                  <a:pt x="0" y="2424208"/>
                  <a:pt x="0" y="1561703"/>
                </a:cubicBezTo>
                <a:close/>
              </a:path>
            </a:pathLst>
          </a:custGeom>
          <a:noFill/>
          <a:ln w="28575">
            <a:solidFill>
              <a:schemeClr val="tx1"/>
            </a:solidFill>
          </a:ln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1">
              <a:alpha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50000"/>
              <a:hueOff val="0"/>
              <a:satOff val="0"/>
              <a:lumOff val="0"/>
              <a:alphaOff val="0"/>
            </a:schemeClr>
          </a:effectRef>
          <a:fontRef idx="minor">
            <a:schemeClr val="tx1"/>
          </a:fontRef>
        </p:style>
        <p:txBody>
          <a:bodyPr spcFirstLastPara="0" vert="horz" wrap="square" lIns="629303" tIns="538692" rIns="629303" bIns="538692" numCol="1" spcCol="1270" anchor="ctr" anchorCtr="0">
            <a:noAutofit/>
          </a:bodyPr>
          <a:lstStyle/>
          <a:p>
            <a:pPr marL="0" lvl="0" indent="0" algn="ctr" defTabSz="2844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6400" kern="1200" dirty="0"/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id="{99418E05-0A6F-CFA0-1844-CAE74B8A77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4088" y="2770760"/>
            <a:ext cx="350265" cy="1398040"/>
          </a:xfrm>
          <a:prstGeom prst="rect">
            <a:avLst/>
          </a:prstGeom>
        </p:spPr>
      </p:pic>
      <p:sp>
        <p:nvSpPr>
          <p:cNvPr id="80" name="TextBox 79">
            <a:extLst>
              <a:ext uri="{FF2B5EF4-FFF2-40B4-BE49-F238E27FC236}">
                <a16:creationId xmlns:a16="http://schemas.microsoft.com/office/drawing/2014/main" id="{0EA57357-40EE-001D-664E-19BB48758EF7}"/>
              </a:ext>
            </a:extLst>
          </p:cNvPr>
          <p:cNvSpPr txBox="1"/>
          <p:nvPr/>
        </p:nvSpPr>
        <p:spPr>
          <a:xfrm>
            <a:off x="5384709" y="4213643"/>
            <a:ext cx="16683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2. Increase amount of extracellular vesicles</a:t>
            </a:r>
          </a:p>
        </p:txBody>
      </p:sp>
      <p:pic>
        <p:nvPicPr>
          <p:cNvPr id="81" name="Picture 80">
            <a:extLst>
              <a:ext uri="{FF2B5EF4-FFF2-40B4-BE49-F238E27FC236}">
                <a16:creationId xmlns:a16="http://schemas.microsoft.com/office/drawing/2014/main" id="{B6B744C0-3CD2-F6AF-DCEE-1207ED1192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25088" y="3059092"/>
            <a:ext cx="352926" cy="334696"/>
          </a:xfrm>
          <a:prstGeom prst="rect">
            <a:avLst/>
          </a:prstGeom>
        </p:spPr>
      </p:pic>
      <p:pic>
        <p:nvPicPr>
          <p:cNvPr id="82" name="Picture 81">
            <a:extLst>
              <a:ext uri="{FF2B5EF4-FFF2-40B4-BE49-F238E27FC236}">
                <a16:creationId xmlns:a16="http://schemas.microsoft.com/office/drawing/2014/main" id="{9EB32A02-0BD9-66EC-1990-A75F1EB967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1595" y="3775859"/>
            <a:ext cx="352926" cy="334696"/>
          </a:xfrm>
          <a:prstGeom prst="rect">
            <a:avLst/>
          </a:prstGeom>
        </p:spPr>
      </p:pic>
      <p:pic>
        <p:nvPicPr>
          <p:cNvPr id="83" name="Picture 82">
            <a:extLst>
              <a:ext uri="{FF2B5EF4-FFF2-40B4-BE49-F238E27FC236}">
                <a16:creationId xmlns:a16="http://schemas.microsoft.com/office/drawing/2014/main" id="{ABEFB482-9454-9B6F-9BDE-DD1CDA9D2F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9985" y="3353797"/>
            <a:ext cx="352926" cy="334696"/>
          </a:xfrm>
          <a:prstGeom prst="rect">
            <a:avLst/>
          </a:prstGeom>
        </p:spPr>
      </p:pic>
      <p:pic>
        <p:nvPicPr>
          <p:cNvPr id="84" name="Picture 83">
            <a:extLst>
              <a:ext uri="{FF2B5EF4-FFF2-40B4-BE49-F238E27FC236}">
                <a16:creationId xmlns:a16="http://schemas.microsoft.com/office/drawing/2014/main" id="{8B99B08E-A079-9CB2-56CC-8BE1B50876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0459" y="3677372"/>
            <a:ext cx="352926" cy="334696"/>
          </a:xfrm>
          <a:prstGeom prst="rect">
            <a:avLst/>
          </a:prstGeom>
        </p:spPr>
      </p:pic>
      <p:pic>
        <p:nvPicPr>
          <p:cNvPr id="85" name="Picture 84">
            <a:extLst>
              <a:ext uri="{FF2B5EF4-FFF2-40B4-BE49-F238E27FC236}">
                <a16:creationId xmlns:a16="http://schemas.microsoft.com/office/drawing/2014/main" id="{55C460D9-F105-8FF1-67D4-8C4E639976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7931" y="2935427"/>
            <a:ext cx="352926" cy="334696"/>
          </a:xfrm>
          <a:prstGeom prst="rect">
            <a:avLst/>
          </a:prstGeom>
        </p:spPr>
      </p:pic>
      <p:pic>
        <p:nvPicPr>
          <p:cNvPr id="86" name="Picture 85">
            <a:extLst>
              <a:ext uri="{FF2B5EF4-FFF2-40B4-BE49-F238E27FC236}">
                <a16:creationId xmlns:a16="http://schemas.microsoft.com/office/drawing/2014/main" id="{C1C2B536-1337-97A8-3A52-2CD994644C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8796" y="3099083"/>
            <a:ext cx="352926" cy="334696"/>
          </a:xfrm>
          <a:prstGeom prst="rect">
            <a:avLst/>
          </a:prstGeom>
        </p:spPr>
      </p:pic>
      <p:pic>
        <p:nvPicPr>
          <p:cNvPr id="87" name="Picture 86">
            <a:extLst>
              <a:ext uri="{FF2B5EF4-FFF2-40B4-BE49-F238E27FC236}">
                <a16:creationId xmlns:a16="http://schemas.microsoft.com/office/drawing/2014/main" id="{0071F664-2FA0-F007-BC85-5286BD23CF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259" y="3433779"/>
            <a:ext cx="352926" cy="334696"/>
          </a:xfrm>
          <a:prstGeom prst="rect">
            <a:avLst/>
          </a:prstGeom>
        </p:spPr>
      </p:pic>
      <p:pic>
        <p:nvPicPr>
          <p:cNvPr id="88" name="Picture 87">
            <a:extLst>
              <a:ext uri="{FF2B5EF4-FFF2-40B4-BE49-F238E27FC236}">
                <a16:creationId xmlns:a16="http://schemas.microsoft.com/office/drawing/2014/main" id="{8B65DA05-26EF-1ADE-62AC-FE2C16147E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66938" y="3417475"/>
            <a:ext cx="352926" cy="334696"/>
          </a:xfrm>
          <a:prstGeom prst="rect">
            <a:avLst/>
          </a:prstGeom>
        </p:spPr>
      </p:pic>
      <p:sp>
        <p:nvSpPr>
          <p:cNvPr id="89" name="TextBox 88">
            <a:extLst>
              <a:ext uri="{FF2B5EF4-FFF2-40B4-BE49-F238E27FC236}">
                <a16:creationId xmlns:a16="http://schemas.microsoft.com/office/drawing/2014/main" id="{C3615267-8B92-9E1F-B501-F93C65284A3B}"/>
              </a:ext>
            </a:extLst>
          </p:cNvPr>
          <p:cNvSpPr txBox="1"/>
          <p:nvPr/>
        </p:nvSpPr>
        <p:spPr>
          <a:xfrm>
            <a:off x="8775829" y="4227571"/>
            <a:ext cx="16683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3. Integrate matched miRNA-mRNA data</a:t>
            </a:r>
          </a:p>
        </p:txBody>
      </p:sp>
      <p:pic>
        <p:nvPicPr>
          <p:cNvPr id="90" name="Picture 89">
            <a:extLst>
              <a:ext uri="{FF2B5EF4-FFF2-40B4-BE49-F238E27FC236}">
                <a16:creationId xmlns:a16="http://schemas.microsoft.com/office/drawing/2014/main" id="{67A80674-085B-025A-6412-58A5B100CF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2140" y="3270123"/>
            <a:ext cx="2545739" cy="562406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286F07D4-F63D-1549-2351-B16A54699418}"/>
              </a:ext>
            </a:extLst>
          </p:cNvPr>
          <p:cNvGrpSpPr/>
          <p:nvPr/>
        </p:nvGrpSpPr>
        <p:grpSpPr>
          <a:xfrm>
            <a:off x="10987982" y="925525"/>
            <a:ext cx="3123406" cy="3123406"/>
            <a:chOff x="4676730" y="1797059"/>
            <a:chExt cx="3123406" cy="3123406"/>
          </a:xfrm>
        </p:grpSpPr>
        <p:sp>
          <p:nvSpPr>
            <p:cNvPr id="3" name="Freeform 2">
              <a:extLst>
                <a:ext uri="{FF2B5EF4-FFF2-40B4-BE49-F238E27FC236}">
                  <a16:creationId xmlns:a16="http://schemas.microsoft.com/office/drawing/2014/main" id="{6B359556-CD90-7E81-1E40-43C2396281A5}"/>
                </a:ext>
              </a:extLst>
            </p:cNvPr>
            <p:cNvSpPr/>
            <p:nvPr/>
          </p:nvSpPr>
          <p:spPr>
            <a:xfrm>
              <a:off x="4676730" y="1797059"/>
              <a:ext cx="3123406" cy="3123406"/>
            </a:xfrm>
            <a:custGeom>
              <a:avLst/>
              <a:gdLst>
                <a:gd name="csX0" fmla="*/ 0 w 3123406"/>
                <a:gd name="csY0" fmla="*/ 1561703 h 3123406"/>
                <a:gd name="csX1" fmla="*/ 1561703 w 3123406"/>
                <a:gd name="csY1" fmla="*/ 0 h 3123406"/>
                <a:gd name="csX2" fmla="*/ 3123406 w 3123406"/>
                <a:gd name="csY2" fmla="*/ 1561703 h 3123406"/>
                <a:gd name="csX3" fmla="*/ 1561703 w 3123406"/>
                <a:gd name="csY3" fmla="*/ 3123406 h 3123406"/>
                <a:gd name="csX4" fmla="*/ 0 w 3123406"/>
                <a:gd name="csY4" fmla="*/ 1561703 h 31234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123406" h="3123406">
                  <a:moveTo>
                    <a:pt x="0" y="1561703"/>
                  </a:moveTo>
                  <a:cubicBezTo>
                    <a:pt x="0" y="699198"/>
                    <a:pt x="699198" y="0"/>
                    <a:pt x="1561703" y="0"/>
                  </a:cubicBezTo>
                  <a:cubicBezTo>
                    <a:pt x="2424208" y="0"/>
                    <a:pt x="3123406" y="699198"/>
                    <a:pt x="3123406" y="1561703"/>
                  </a:cubicBezTo>
                  <a:cubicBezTo>
                    <a:pt x="3123406" y="2424208"/>
                    <a:pt x="2424208" y="3123406"/>
                    <a:pt x="1561703" y="3123406"/>
                  </a:cubicBezTo>
                  <a:cubicBezTo>
                    <a:pt x="699198" y="3123406"/>
                    <a:pt x="0" y="2424208"/>
                    <a:pt x="0" y="1561703"/>
                  </a:cubicBezTo>
                  <a:close/>
                </a:path>
              </a:pathLst>
            </a:custGeom>
            <a:noFill/>
            <a:ln w="28575">
              <a:solidFill>
                <a:schemeClr val="tx1"/>
              </a:solidFill>
            </a:ln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  <p:txBody>
            <a:bodyPr spcFirstLastPara="0" vert="horz" wrap="square" lIns="629303" tIns="538692" rIns="629303" bIns="538692" numCol="1" spcCol="1270" anchor="ctr" anchorCtr="0">
              <a:noAutofit/>
            </a:bodyPr>
            <a:lstStyle/>
            <a:p>
              <a:pPr marL="0" lvl="0" indent="0" algn="ctr" defTabSz="2844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GB" sz="6400" kern="1200" dirty="0"/>
            </a:p>
          </p:txBody>
        </p:sp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F56108C1-CF9E-FAB1-BAEC-7EF533C564EF}"/>
                </a:ext>
              </a:extLst>
            </p:cNvPr>
            <p:cNvSpPr/>
            <p:nvPr/>
          </p:nvSpPr>
          <p:spPr>
            <a:xfrm>
              <a:off x="4719022" y="3714584"/>
              <a:ext cx="3038822" cy="1205881"/>
            </a:xfrm>
            <a:custGeom>
              <a:avLst/>
              <a:gdLst>
                <a:gd name="csX0" fmla="*/ 0 w 3038822"/>
                <a:gd name="csY0" fmla="*/ 0 h 1205881"/>
                <a:gd name="csX1" fmla="*/ 3038822 w 3038822"/>
                <a:gd name="csY1" fmla="*/ 0 h 1205881"/>
                <a:gd name="csX2" fmla="*/ 3010903 w 3038822"/>
                <a:gd name="csY2" fmla="*/ 108581 h 1205881"/>
                <a:gd name="csX3" fmla="*/ 1519411 w 3038822"/>
                <a:gd name="csY3" fmla="*/ 1205881 h 1205881"/>
                <a:gd name="csX4" fmla="*/ 27919 w 3038822"/>
                <a:gd name="csY4" fmla="*/ 108581 h 12058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038822" h="1205881">
                  <a:moveTo>
                    <a:pt x="0" y="0"/>
                  </a:moveTo>
                  <a:lnTo>
                    <a:pt x="3038822" y="0"/>
                  </a:lnTo>
                  <a:lnTo>
                    <a:pt x="3010903" y="108581"/>
                  </a:lnTo>
                  <a:cubicBezTo>
                    <a:pt x="2813174" y="744301"/>
                    <a:pt x="2220196" y="1205881"/>
                    <a:pt x="1519411" y="1205881"/>
                  </a:cubicBezTo>
                  <a:cubicBezTo>
                    <a:pt x="818626" y="1205881"/>
                    <a:pt x="225649" y="744301"/>
                    <a:pt x="27919" y="108581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523103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651</TotalTime>
  <Words>825</Words>
  <Application>Microsoft Macintosh PowerPoint</Application>
  <PresentationFormat>Widescreen</PresentationFormat>
  <Paragraphs>180</Paragraphs>
  <Slides>23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Aptos</vt:lpstr>
      <vt:lpstr>Aptos Display</vt:lpstr>
      <vt:lpstr>Arial</vt:lpstr>
      <vt:lpstr>Wingdings</vt:lpstr>
      <vt:lpstr>Office Theme</vt:lpstr>
      <vt:lpstr>Transcriptomic analysis of extracellular vesicle miRNA cargo derived from allergen-exposed airway epithelial cells using open-access software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Archive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 Janschke</dc:creator>
  <cp:lastModifiedBy>Chris Janschke</cp:lastModifiedBy>
  <cp:revision>50</cp:revision>
  <dcterms:created xsi:type="dcterms:W3CDTF">2026-08-03T12:33:40Z</dcterms:created>
  <dcterms:modified xsi:type="dcterms:W3CDTF">2026-08-04T16:07:43Z</dcterms:modified>
</cp:coreProperties>
</file>
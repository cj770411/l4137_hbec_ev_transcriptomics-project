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76" r:id="rId2"/>
    <p:sldId id="277" r:id="rId3"/>
    <p:sldId id="278" r:id="rId4"/>
    <p:sldId id="279" r:id="rId5"/>
    <p:sldId id="297" r:id="rId6"/>
    <p:sldId id="280" r:id="rId7"/>
    <p:sldId id="281" r:id="rId8"/>
    <p:sldId id="312" r:id="rId9"/>
    <p:sldId id="283" r:id="rId10"/>
    <p:sldId id="284" r:id="rId11"/>
    <p:sldId id="303" r:id="rId12"/>
    <p:sldId id="306" r:id="rId13"/>
    <p:sldId id="285" r:id="rId14"/>
    <p:sldId id="307" r:id="rId15"/>
    <p:sldId id="300" r:id="rId16"/>
    <p:sldId id="308" r:id="rId17"/>
    <p:sldId id="309" r:id="rId18"/>
    <p:sldId id="310" r:id="rId19"/>
    <p:sldId id="311" r:id="rId20"/>
    <p:sldId id="288" r:id="rId21"/>
    <p:sldId id="289" r:id="rId22"/>
    <p:sldId id="290" r:id="rId23"/>
    <p:sldId id="291" r:id="rId24"/>
    <p:sldId id="292" r:id="rId25"/>
    <p:sldId id="293" r:id="rId26"/>
    <p:sldId id="302" r:id="rId27"/>
    <p:sldId id="294" r:id="rId28"/>
    <p:sldId id="301" r:id="rId29"/>
    <p:sldId id="29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C5D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–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–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–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–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–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–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–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42"/>
    <p:restoredTop sz="91349"/>
  </p:normalViewPr>
  <p:slideViewPr>
    <p:cSldViewPr snapToGrid="0">
      <p:cViewPr>
        <p:scale>
          <a:sx n="177" d="100"/>
          <a:sy n="177" d="100"/>
        </p:scale>
        <p:origin x="1568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BB9A7B-CC8D-CB4B-96C7-D620BE5EB343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7E17-40CA-274F-8297-5DBF26091F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96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A18F0-ACFB-02DB-3275-5845B1943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06104A-D343-311F-55E8-AD70BBD8D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40DF9-0CD9-0023-5AD2-BB9D20BAB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[need to state the aim is to use open-access software]</a:t>
            </a:r>
          </a:p>
          <a:p>
            <a:r>
              <a:rPr lang="en-GB" dirty="0"/>
              <a:t>[need to state the findings is that the workflow produced biologically plausible results on datasets where experimental design was appropriate but not when the design was inappropriate]</a:t>
            </a:r>
          </a:p>
          <a:p>
            <a:r>
              <a:rPr lang="en-GB" dirty="0"/>
              <a:t>[need to state the significance is also that it could save money on outsourcing transcriptomics]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99C77-76B0-141B-21D5-0DDA18E7F1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2895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262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2178-C667-7E57-0F97-58554A0F9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47FB9-FC09-412A-76CE-3B3DC6DAB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241B78-EA98-91A2-7967-F4485F72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[all allergens are nebulised with PBS as untreated control]</a:t>
            </a:r>
          </a:p>
          <a:p>
            <a:r>
              <a:rPr lang="en-GB" dirty="0"/>
              <a:t>[each condition contained 3 biological replicates]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2A046-3ACA-D6B2-DF13-5C8991F5D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318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[creating the workflow using primary HBEC requires observing biologically plausible results]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79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3F940-5AC7-C269-1643-DF88951D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BAA39-A70B-2F5D-5C17-F09C999F4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72022-91BB-A65B-F56F-87033CABB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[finish by signposting I'm going to go through the results]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1A46C-44E4-C87A-B072-9D1C318FD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247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66EF-D406-8321-0981-4566AEADC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414E3-4A1B-589F-F4C9-BEF3A6164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A59BE-3E79-D86E-7EAD-722C232C5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2EDF-1D76-4B77-B437-610C54743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5208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0097-17D6-9D33-BE6D-2FA5F0FA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C3AF7-FA98-1864-AB55-9126202A3D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A24A0-F6A6-95FF-A5FF-D0B79A461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[essentially 50% split of upregulated and </a:t>
            </a:r>
            <a:r>
              <a:rPr lang="en-GB"/>
              <a:t>downregulated mirnas in dose 24]</a:t>
            </a:r>
          </a:p>
          <a:p>
            <a:r>
              <a:rPr lang="en-GB"/>
              <a:t>[even at exploratory FDR threshold, barely any more mirnas were identified as differentially expressed]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5D5D-0A49-A3DE-141B-65234D24B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9838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BF7F5-21CE-839E-E798-E8633B731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E882F-23DE-1467-268D-31375FF61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AC99D-F1B9-F7A2-D273-82E56CD57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[emphasise this was performed on primary HBEC samples exposed to dose 24 protease]</a:t>
            </a:r>
          </a:p>
          <a:p>
            <a:r>
              <a:rPr lang="en-GB" dirty="0"/>
              <a:t>[discuss the number of sig pathways from target-gene level versus miRNA-level]</a:t>
            </a:r>
          </a:p>
          <a:p>
            <a:r>
              <a:rPr lang="en-GB" dirty="0"/>
              <a:t>[0 significant pathways in downregulated miRNA ORA and both up- and down-regulated miRNA-SEA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2A4B8-C590-E59C-C9D4-E6E85A6F6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4420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[segway from last slide is because there were too few de miRNAs, had to use a literature search instead]</a:t>
            </a:r>
          </a:p>
          <a:p>
            <a:r>
              <a:rPr lang="en-GB" dirty="0"/>
              <a:t>[then introduce the categories as categories relevant to airway inflammation, signalling and the airway epithelial barrier]</a:t>
            </a:r>
          </a:p>
          <a:p>
            <a:r>
              <a:rPr lang="en-GB" dirty="0"/>
              <a:t>[references to specific papers might be good e.g., respiratory diseases]</a:t>
            </a:r>
          </a:p>
          <a:p>
            <a:r>
              <a:rPr lang="en-GB" dirty="0"/>
              <a:t>[miR-125b-5p also appeared in the dose 24 protease samples]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658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F192C-A176-9DB4-6073-3708085C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2F97D1-83E4-6ADE-AAB5-1D16CF62A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9C8E0F-4211-381A-5BAD-9B74D605F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[Limited miRNA abundance constrained analysis  = likely due to experimental design where EV preparations were split to accommodate multiple forms of analyses]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F4E4B-2A09-085E-8DA1-BF11A1813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092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[low abundance reduces confidence in de results and therefore any downstream biological function – repeat analysis required to backup these results]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7434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[segway from: as well as workflow limitations, appropriate experimental design must be considered]</a:t>
            </a:r>
          </a:p>
          <a:p>
            <a:r>
              <a:rPr lang="en-GB" dirty="0"/>
              <a:t>[during the course of this analysis, the following experimental design considerations were recommended to increase the robustness of </a:t>
            </a:r>
            <a:r>
              <a:rPr lang="en-GB" dirty="0" err="1"/>
              <a:t>transcriptmics</a:t>
            </a:r>
            <a:r>
              <a:rPr lang="en-GB" dirty="0"/>
              <a:t> for future studies]</a:t>
            </a:r>
          </a:p>
          <a:p>
            <a:r>
              <a:rPr lang="en-GB" dirty="0"/>
              <a:t>[sample size because replicates lacking concordance were identified and potential outlier samples were identified but these weren’t removed to retain 3 biological replicates]</a:t>
            </a:r>
          </a:p>
          <a:p>
            <a:r>
              <a:rPr lang="en-GB" dirty="0"/>
              <a:t>[increase EV size to increase miRNA abundance. This will increase the statistical power of diff expression analysis and may increase the number of miRNAs retained after filtering lowly expressed miRNAs]</a:t>
            </a:r>
          </a:p>
          <a:p>
            <a:r>
              <a:rPr lang="en-GB" dirty="0"/>
              <a:t>[integrate mRNA data to avoid context-dependent filtering problems – look for anticorrelated miRNA-mRNA relationships as miRNAs suppress mRNAs]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5894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[open-access workflow is to bridge the gap between non-bioinformaticians and transcriptomics, as well as eliminate the need to outsource a bioinformatics company to do more costly analysis on repeats of the same type of data]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5285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Experimental:</a:t>
            </a:r>
          </a:p>
          <a:p>
            <a:pPr marL="171450" indent="-171450">
              <a:buFontTx/>
              <a:buChar char="-"/>
            </a:pPr>
            <a:r>
              <a:rPr lang="en-GB" dirty="0"/>
              <a:t>[repeat the Calu-3 experiment using the optimised experimental design to detect candidate miRNAs]</a:t>
            </a:r>
          </a:p>
          <a:p>
            <a:pPr marL="171450" indent="-171450">
              <a:buFontTx/>
              <a:buChar char="-"/>
            </a:pPr>
            <a:r>
              <a:rPr lang="en-GB" dirty="0"/>
              <a:t>[experimentally confirm the presence of the miRNAs using PCR]</a:t>
            </a:r>
          </a:p>
          <a:p>
            <a:pPr marL="171450" indent="-171450">
              <a:buFontTx/>
              <a:buChar char="-"/>
            </a:pPr>
            <a:r>
              <a:rPr lang="en-GB" dirty="0"/>
              <a:t>[perform functional studies using miRNA mimics and inhibitors to investigate the role of each candidate miRNA]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871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2FDAA-EEEE-AF00-60CB-C87EE3516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7727A-A2B0-7625-85E8-62C1638C7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15D98-7D86-6833-8C53-55D614D17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[all allergens are nebulised with PBS as untreated control]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7F851-7380-74DC-9272-838314A02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70645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1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54846-A774-D786-4B1D-6CB1586CB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872C7B-C90D-EA1A-C657-DF83FD61A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A566-533A-F438-4344-2F2D3A7DF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[sample size because replicates lacking concordance were identified and potential outlier samples were identified but these weren’t removed to retain 3 biological replicates]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1D1F5-410C-AB4C-1BC7-5831816F48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24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4EEBB-5FA6-FD5B-1A7C-A0BB8F18A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F08B5-8E64-0051-9D54-83D678359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BA714-CAF2-697B-D374-EC6EB083A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68E65-EB0D-9F46-A8DE-972F6C7F86B0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A45EA-E969-3B8D-E043-84F5FC21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FCA8A-E0DF-73B2-4A78-53FF840F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008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D3AC8-233A-E279-38B4-3BD0A3407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4DE64-9F71-E9CE-84D7-C6B5668FD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7EDA9-A344-DE37-CE81-92C23EE1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B763D-EE83-7145-BEE3-1B82982B4A81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5817D-36C4-5EC8-D361-6D55DC3BE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E905B-F375-7567-00D1-48A2E59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243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62639-87E7-7B82-EE93-BDE3F8D60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54515-8183-3DFD-77FB-F58CC075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00EC03-F221-DC2D-F3BD-4B2697F80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937BD-F332-A846-B640-81485BF0B610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3EF58-8DB0-CC21-2CEF-7831F2649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FAB4A-908F-4627-FCAC-DAE3819A2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6816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C6A0-34F7-8DD9-0339-798CB40F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D8979-6E68-DDEC-AFCB-88A4FA22F7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FB517-0D8D-4F58-DE36-17566F5F7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C9C1F0-DAFB-7308-355E-43514EF33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F9334-536B-E246-83D7-DB178014E1B3}" type="datetime1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DF178-D4EA-4315-7F85-235055F38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06BFB-30ED-C22D-1D68-11B9C58BA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4551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52713-AE3E-E7C7-5C47-3DF42737E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72BE8-786F-C013-DF8E-667BB398F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5BA19-42B8-1B68-A79F-1F6ED0BB9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99AD99-22C6-1024-7C40-A788A78E7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DC7F92-75C3-53BD-BC20-D7EAF2F320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D9F70C-3F0C-562E-A9FC-0A1C5113D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07DD5-23EC-2E42-BA65-2710F83688AB}" type="datetime1">
              <a:rPr lang="en-GB" smtClean="0"/>
              <a:t>06/08/2026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17E965-82F6-F91F-00A9-207318A52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639181-2072-519C-27F5-2C1D92236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615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574C7-3FB1-2C47-68BA-A3C2A3F4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157A85-133E-95B9-4A50-A1BBAC921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5A0CC-9C4E-CA43-9CC6-C2CC4B65D5F8}" type="datetime1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A1287B-3885-13F2-DBAD-50AFEF492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6876E-7911-53A2-E5FC-44E633F13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3911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CBCE5-9AA6-09FE-186E-1484C3CAE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042CE-82ED-9943-8D6E-F78402236C1E}" type="datetime1">
              <a:rPr lang="en-GB" smtClean="0"/>
              <a:t>06/08/2026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A7D5-D834-33E7-4155-514F8D17B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B60A3-E890-AC88-389B-323C242C8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6318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4F55-774D-E0C1-CEB0-AAB70F6FE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F8108-87B9-86CB-2533-C689E4645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FB6FD-BB76-911D-7858-0E250EACE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138AC1-88DC-15F2-9EF1-BDC34FE1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C8A1D-F5F7-D24A-B1B3-B3FED269CEFD}" type="datetime1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DEFF8-EC0F-3018-A120-5C899354C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387783-0D77-6077-2722-CF160482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1607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1B396-D153-2886-7F7C-8C6B07B34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1FF8C9-01CA-DB9F-E9A4-4330814C6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5E1FAE-ACD4-71AA-6378-63CDB8B4F9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DD35BF-DBBC-C4C6-DAB4-FF285CD94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C2970-785D-0440-857B-7EB282A87ED5}" type="datetime1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C80E0-6E1F-26D1-5F5E-5D96F7CC5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3E5226-7AC7-7893-C995-E03F1A684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58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9BF9-8314-4BB4-6863-6BF0B3C2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31E6C4-EA2F-B228-49C6-C54B85FC5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0AAFE-9B03-D708-816F-93C8500D9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D8644-6074-044A-9118-D3E50004655B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DCEA6-7ED8-A716-6BD8-C58A7CB9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30B2F-CAB7-F9FE-E089-B225E2B4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116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CB63E7-2D80-6E63-A21A-74B5AC6B50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2C04C7-2EB7-8810-3B95-92F7DD6AC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6EC41-829F-5002-C952-239CBC6A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4A83B-33B0-6E4B-B0D3-CE9C08FAA490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81911-9EA8-4CFE-4CF1-13BC9FC2E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5534B-5CCE-9251-1308-D3AEBD658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953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3EE2C7-9E18-BFD5-7A11-E3A347F4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32A12-5364-CA10-56DA-FF98402BE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98582-13D8-AB6B-DDA9-941CEF4419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B058BC-68FF-7C46-AB44-F8F07A051B2D}" type="datetime1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46C69-8155-818A-EED5-629F43F5F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085AF-B349-0AA8-90F8-4A4B9BC49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267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13795-BDB8-A8AE-9CCF-7D1FEEB4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1701-76B0-F084-A8F6-45B8B8BDB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72" y="1163161"/>
            <a:ext cx="10991256" cy="2031055"/>
          </a:xfrm>
        </p:spPr>
        <p:txBody>
          <a:bodyPr>
            <a:noAutofit/>
          </a:bodyPr>
          <a:lstStyle/>
          <a:p>
            <a:r>
              <a:rPr lang="en-GB" sz="2800" b="1" dirty="0">
                <a:solidFill>
                  <a:schemeClr val="accent1">
                    <a:lumMod val="50000"/>
                  </a:schemeClr>
                </a:solidFill>
              </a:rPr>
              <a:t>Transcriptomic analysis of extracellular vesicle miRNA cargo derived</a:t>
            </a:r>
            <a:br>
              <a:rPr lang="en-GB" sz="28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GB" sz="2800" b="1" dirty="0">
                <a:solidFill>
                  <a:schemeClr val="accent1">
                    <a:lumMod val="50000"/>
                  </a:schemeClr>
                </a:solidFill>
              </a:rPr>
              <a:t>from allergen-exposed airway epithelial cells using</a:t>
            </a:r>
            <a:br>
              <a:rPr lang="en-GB" sz="28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GB" sz="2800" b="1" dirty="0">
                <a:solidFill>
                  <a:schemeClr val="accent1">
                    <a:lumMod val="50000"/>
                  </a:schemeClr>
                </a:solidFill>
              </a:rPr>
              <a:t>open-access software</a:t>
            </a:r>
            <a:endParaRPr lang="en-GB" sz="2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BBCD-7543-D2C9-E580-B4095680A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4160126"/>
            <a:ext cx="6105194" cy="682079"/>
          </a:xfrm>
        </p:spPr>
        <p:txBody>
          <a:bodyPr>
            <a:normAutofit lnSpcReduction="10000"/>
          </a:bodyPr>
          <a:lstStyle/>
          <a:p>
            <a:r>
              <a:rPr lang="en-GB" sz="1800" dirty="0">
                <a:solidFill>
                  <a:schemeClr val="tx2"/>
                </a:solidFill>
              </a:rPr>
              <a:t>Student ID: 	50805916</a:t>
            </a:r>
          </a:p>
          <a:p>
            <a:r>
              <a:rPr lang="en-GB" sz="1800" dirty="0">
                <a:solidFill>
                  <a:schemeClr val="tx2"/>
                </a:solidFill>
              </a:rPr>
              <a:t>   Name:	 Christopher Janschke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A2EC9B-6594-58D3-3A5F-66ECCBBC301B}"/>
              </a:ext>
            </a:extLst>
          </p:cNvPr>
          <p:cNvSpPr/>
          <p:nvPr/>
        </p:nvSpPr>
        <p:spPr>
          <a:xfrm>
            <a:off x="2828693" y="3531426"/>
            <a:ext cx="6534614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1D78E-FE27-C740-CCA1-20367BD1B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BC0DC-9C61-F07F-13A2-995D81C05347}"/>
              </a:ext>
            </a:extLst>
          </p:cNvPr>
          <p:cNvSpPr txBox="1"/>
          <p:nvPr/>
        </p:nvSpPr>
        <p:spPr>
          <a:xfrm>
            <a:off x="1029600" y="5558400"/>
            <a:ext cx="617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[starting from increasing axis/legend text size for the </a:t>
            </a:r>
            <a:r>
              <a:rPr lang="en-GB" dirty="0" err="1"/>
              <a:t>dotplot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 just crop it to isolate the text then enlarge it manually – R is being funny]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795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2C24-B653-EB47-F571-F2364A227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5A764A-7D57-D403-CFFA-3874462E0262}"/>
              </a:ext>
            </a:extLst>
          </p:cNvPr>
          <p:cNvGraphicFramePr>
            <a:graphicFrameLocks noGrp="1"/>
          </p:cNvGraphicFramePr>
          <p:nvPr/>
        </p:nvGraphicFramePr>
        <p:xfrm>
          <a:off x="1153160" y="1268306"/>
          <a:ext cx="9184640" cy="4781976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923869">
                  <a:extLst>
                    <a:ext uri="{9D8B030D-6E8A-4147-A177-3AD203B41FA5}">
                      <a16:colId xmlns:a16="http://schemas.microsoft.com/office/drawing/2014/main" val="2734460248"/>
                    </a:ext>
                  </a:extLst>
                </a:gridCol>
                <a:gridCol w="7260771">
                  <a:extLst>
                    <a:ext uri="{9D8B030D-6E8A-4147-A177-3AD203B41FA5}">
                      <a16:colId xmlns:a16="http://schemas.microsoft.com/office/drawing/2014/main" val="3048280910"/>
                    </a:ext>
                  </a:extLst>
                </a:gridCol>
              </a:tblGrid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Aims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Determine impact of allergen exposure on airway biology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1550636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Methods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sym typeface="Wingdings" pitchFamily="2" charset="2"/>
                        </a:rPr>
                        <a:t>Differential Expression  </a:t>
                      </a:r>
                      <a:r>
                        <a:rPr lang="en-GB" dirty="0"/>
                        <a:t>Method</a:t>
                      </a:r>
                      <a:r>
                        <a:rPr lang="en-GB" dirty="0">
                          <a:sym typeface="Wingdings" pitchFamily="2" charset="2"/>
                        </a:rPr>
                        <a:t> </a:t>
                      </a:r>
                      <a:r>
                        <a:rPr lang="en-GB" dirty="0"/>
                        <a:t>development </a:t>
                      </a:r>
                      <a:r>
                        <a:rPr lang="en-GB" dirty="0">
                          <a:sym typeface="Wingdings" pitchFamily="2" charset="2"/>
                        </a:rPr>
                        <a:t> Pathway Analysis[] </a:t>
                      </a:r>
                      <a:endParaRPr lang="en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114698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Findings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/>
                        <a:t>Biologically plausible results are obtainable provided suitable experimental design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4479082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/>
                        <a:t>Significance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/>
                        <a:t>Informs experimental design for future experiments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36893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A15B1F5-867B-6049-0AA1-525006AFE51B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Project Overview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0D82F0-E957-52EE-2525-8FEF82752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9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286E5-FB24-01A1-7F7A-D3357D5FD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114825-89D4-D613-87F8-2E0B133834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E7D51B8-CC1E-CBE7-B0B3-11930DEACBBA}"/>
              </a:ext>
            </a:extLst>
          </p:cNvPr>
          <p:cNvSpPr/>
          <p:nvPr/>
        </p:nvSpPr>
        <p:spPr>
          <a:xfrm>
            <a:off x="774526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3CF72E-4AFC-8015-1CE2-DDCF11FD9E13}"/>
              </a:ext>
            </a:extLst>
          </p:cNvPr>
          <p:cNvSpPr/>
          <p:nvPr/>
        </p:nvSpPr>
        <p:spPr>
          <a:xfrm>
            <a:off x="3842451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EAFEB1-07D8-B05F-5CE0-44B99D3F3C6E}"/>
              </a:ext>
            </a:extLst>
          </p:cNvPr>
          <p:cNvSpPr/>
          <p:nvPr/>
        </p:nvSpPr>
        <p:spPr>
          <a:xfrm>
            <a:off x="5892296" y="804032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690B2A6-9AD2-62B3-17EE-9F884C085D3D}"/>
              </a:ext>
            </a:extLst>
          </p:cNvPr>
          <p:cNvSpPr/>
          <p:nvPr/>
        </p:nvSpPr>
        <p:spPr>
          <a:xfrm>
            <a:off x="8805581" y="804032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10" name="Graphic 9" descr="Close outline">
            <a:extLst>
              <a:ext uri="{FF2B5EF4-FFF2-40B4-BE49-F238E27FC236}">
                <a16:creationId xmlns:a16="http://schemas.microsoft.com/office/drawing/2014/main" id="{EABFA430-8485-59AC-4A08-72B44C739E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B75575C8-1B0A-6BC1-DB3E-AD04F1252B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D1397304-EE8E-02CD-FAD8-492E1B07E8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13" name="Graphic 12" descr="Close with solid fill">
            <a:extLst>
              <a:ext uri="{FF2B5EF4-FFF2-40B4-BE49-F238E27FC236}">
                <a16:creationId xmlns:a16="http://schemas.microsoft.com/office/drawing/2014/main" id="{D7C48334-BAB4-8F07-A05B-A7A2D5D4D9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E9771703-FAE2-71EC-663D-5C270B428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B8A9FF6-2828-98EB-8489-19A3F691A183}"/>
              </a:ext>
            </a:extLst>
          </p:cNvPr>
          <p:cNvSpPr txBox="1"/>
          <p:nvPr/>
        </p:nvSpPr>
        <p:spPr>
          <a:xfrm>
            <a:off x="1183087" y="982895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2AA1-D1A3-67BE-D7DE-26FE96D16317}"/>
              </a:ext>
            </a:extLst>
          </p:cNvPr>
          <p:cNvSpPr txBox="1"/>
          <p:nvPr/>
        </p:nvSpPr>
        <p:spPr>
          <a:xfrm>
            <a:off x="4283796" y="982895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9BEDDE-B30D-3633-7513-82D8C15B55BC}"/>
              </a:ext>
            </a:extLst>
          </p:cNvPr>
          <p:cNvSpPr txBox="1"/>
          <p:nvPr/>
        </p:nvSpPr>
        <p:spPr>
          <a:xfrm>
            <a:off x="6299705" y="823647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D6C48-5D77-45B3-83F8-F9B4A4DDD758}"/>
              </a:ext>
            </a:extLst>
          </p:cNvPr>
          <p:cNvSpPr txBox="1"/>
          <p:nvPr/>
        </p:nvSpPr>
        <p:spPr>
          <a:xfrm>
            <a:off x="9226594" y="823647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0F89B0-FF43-A3F8-3A2A-787C188AC797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14A2CC-D092-7756-DE28-191D851704E1}"/>
              </a:ext>
            </a:extLst>
          </p:cNvPr>
          <p:cNvSpPr txBox="1"/>
          <p:nvPr/>
        </p:nvSpPr>
        <p:spPr>
          <a:xfrm>
            <a:off x="691256" y="6466835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created in </a:t>
            </a:r>
            <a:r>
              <a:rPr lang="en-GB" sz="1000" dirty="0" err="1"/>
              <a:t>BioRender</a:t>
            </a:r>
            <a:r>
              <a:rPr lang="en-GB" sz="1000" dirty="0"/>
              <a:t>: https://</a:t>
            </a:r>
            <a:r>
              <a:rPr lang="en-GB" sz="1000" dirty="0" err="1"/>
              <a:t>BioRender.com</a:t>
            </a:r>
            <a:r>
              <a:rPr lang="en-GB" sz="1000" dirty="0">
                <a:effectLst/>
              </a:rPr>
              <a:t> </a:t>
            </a:r>
            <a:endParaRPr lang="en-GB" sz="10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0485BD-8C49-D99B-7E3A-AC68C7285CFB}"/>
              </a:ext>
            </a:extLst>
          </p:cNvPr>
          <p:cNvSpPr/>
          <p:nvPr/>
        </p:nvSpPr>
        <p:spPr>
          <a:xfrm>
            <a:off x="548640" y="4572000"/>
            <a:ext cx="10952104" cy="18948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B9B9E9D-29EE-A04A-FD04-75DFB646063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203" t="12139" r="4305" b="36156"/>
          <a:stretch>
            <a:fillRect/>
          </a:stretch>
        </p:blipFill>
        <p:spPr>
          <a:xfrm>
            <a:off x="649087" y="4506723"/>
            <a:ext cx="5446914" cy="19601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02BC71E-02D8-E867-2B22-63DCBD262E73}"/>
              </a:ext>
            </a:extLst>
          </p:cNvPr>
          <p:cNvSpPr/>
          <p:nvPr/>
        </p:nvSpPr>
        <p:spPr>
          <a:xfrm>
            <a:off x="5892296" y="532015"/>
            <a:ext cx="5778773" cy="3674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A9B12B-333E-13C1-05C1-5EEB4215B27B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785" t="2966" r="13489" b="6566"/>
          <a:stretch>
            <a:fillRect/>
          </a:stretch>
        </p:blipFill>
        <p:spPr>
          <a:xfrm>
            <a:off x="6180483" y="1531091"/>
            <a:ext cx="5963556" cy="3429640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D5AA484B-3BAE-23EB-1029-EE3189AAD3E5}"/>
              </a:ext>
            </a:extLst>
          </p:cNvPr>
          <p:cNvSpPr/>
          <p:nvPr/>
        </p:nvSpPr>
        <p:spPr>
          <a:xfrm>
            <a:off x="6044696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84A6F41-AF41-65B7-BDD0-C497E4DE14B0}"/>
              </a:ext>
            </a:extLst>
          </p:cNvPr>
          <p:cNvSpPr/>
          <p:nvPr/>
        </p:nvSpPr>
        <p:spPr>
          <a:xfrm>
            <a:off x="8957981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423755-F455-8FF6-A1C8-6A3080688E1E}"/>
              </a:ext>
            </a:extLst>
          </p:cNvPr>
          <p:cNvSpPr txBox="1"/>
          <p:nvPr/>
        </p:nvSpPr>
        <p:spPr>
          <a:xfrm>
            <a:off x="6452105" y="982895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6F3FB3-2521-3221-E8D1-DCE5FF6A9611}"/>
              </a:ext>
            </a:extLst>
          </p:cNvPr>
          <p:cNvSpPr txBox="1"/>
          <p:nvPr/>
        </p:nvSpPr>
        <p:spPr>
          <a:xfrm>
            <a:off x="9378994" y="982895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pic>
        <p:nvPicPr>
          <p:cNvPr id="27" name="Graphic 26" descr="Close outline">
            <a:extLst>
              <a:ext uri="{FF2B5EF4-FFF2-40B4-BE49-F238E27FC236}">
                <a16:creationId xmlns:a16="http://schemas.microsoft.com/office/drawing/2014/main" id="{2B357205-17E6-3AAD-1E95-1C4C774E57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6483" y="2070822"/>
            <a:ext cx="905452" cy="905452"/>
          </a:xfrm>
          <a:prstGeom prst="rect">
            <a:avLst/>
          </a:prstGeom>
        </p:spPr>
      </p:pic>
      <p:pic>
        <p:nvPicPr>
          <p:cNvPr id="28" name="Graphic 27" descr="Close outline">
            <a:extLst>
              <a:ext uri="{FF2B5EF4-FFF2-40B4-BE49-F238E27FC236}">
                <a16:creationId xmlns:a16="http://schemas.microsoft.com/office/drawing/2014/main" id="{CCA0DBC9-E100-A5A5-5640-C4B564B8E4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6483" y="3678034"/>
            <a:ext cx="905452" cy="905452"/>
          </a:xfrm>
          <a:prstGeom prst="rect">
            <a:avLst/>
          </a:prstGeom>
        </p:spPr>
      </p:pic>
      <p:pic>
        <p:nvPicPr>
          <p:cNvPr id="29" name="Graphic 28" descr="Close with solid fill">
            <a:extLst>
              <a:ext uri="{FF2B5EF4-FFF2-40B4-BE49-F238E27FC236}">
                <a16:creationId xmlns:a16="http://schemas.microsoft.com/office/drawing/2014/main" id="{CCEAA365-9CA5-172C-5971-942E8B15B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70327" y="3130866"/>
            <a:ext cx="354031" cy="354031"/>
          </a:xfrm>
          <a:prstGeom prst="rect">
            <a:avLst/>
          </a:prstGeom>
        </p:spPr>
      </p:pic>
      <p:pic>
        <p:nvPicPr>
          <p:cNvPr id="30" name="Graphic 29" descr="Close with solid fill">
            <a:extLst>
              <a:ext uri="{FF2B5EF4-FFF2-40B4-BE49-F238E27FC236}">
                <a16:creationId xmlns:a16="http://schemas.microsoft.com/office/drawing/2014/main" id="{0970A991-9714-FF57-0C54-AE9D489B8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9053" y="3678034"/>
            <a:ext cx="354031" cy="354031"/>
          </a:xfrm>
          <a:prstGeom prst="rect">
            <a:avLst/>
          </a:prstGeom>
        </p:spPr>
      </p:pic>
      <p:pic>
        <p:nvPicPr>
          <p:cNvPr id="31" name="Graphic 30" descr="Close with solid fill">
            <a:extLst>
              <a:ext uri="{FF2B5EF4-FFF2-40B4-BE49-F238E27FC236}">
                <a16:creationId xmlns:a16="http://schemas.microsoft.com/office/drawing/2014/main" id="{6677D165-8101-7FA9-D917-5ACA443AA9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9304" y="3324003"/>
            <a:ext cx="354031" cy="35403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B374FB4-3336-7B75-0170-22181B14FBEF}"/>
              </a:ext>
            </a:extLst>
          </p:cNvPr>
          <p:cNvSpPr txBox="1"/>
          <p:nvPr/>
        </p:nvSpPr>
        <p:spPr>
          <a:xfrm>
            <a:off x="5958922" y="5244673"/>
            <a:ext cx="13346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Airway</a:t>
            </a:r>
          </a:p>
          <a:p>
            <a:r>
              <a:rPr lang="en-GB" sz="1600" dirty="0"/>
              <a:t>Epithelial Barrier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C72CC7-192C-9D16-1039-0BF8B761DABA}"/>
              </a:ext>
            </a:extLst>
          </p:cNvPr>
          <p:cNvSpPr txBox="1"/>
          <p:nvPr/>
        </p:nvSpPr>
        <p:spPr>
          <a:xfrm>
            <a:off x="4141917" y="2102840"/>
            <a:ext cx="4085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EV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90F1EB2E-FFDE-420D-58CA-F7A441E783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8807" y="1650358"/>
            <a:ext cx="447868" cy="39501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048A9BA-2A19-4BB9-29A7-AE309C1EAEC5}"/>
              </a:ext>
            </a:extLst>
          </p:cNvPr>
          <p:cNvSpPr txBox="1"/>
          <p:nvPr/>
        </p:nvSpPr>
        <p:spPr>
          <a:xfrm>
            <a:off x="4073406" y="1717987"/>
            <a:ext cx="59903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miRNA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3E008B1-06A8-A19C-E799-9FA0101104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59" y="2023689"/>
            <a:ext cx="416529" cy="39501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CCC7C-AFBC-E578-96EF-6AE311A3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0529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88D2-229E-A853-CBAB-0B7999A98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C206A8-B28D-E92A-1AE6-0E18061AAB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03" t="11725" b="63132"/>
          <a:stretch>
            <a:fillRect/>
          </a:stretch>
        </p:blipFill>
        <p:spPr>
          <a:xfrm rot="5400000">
            <a:off x="5724685" y="4609844"/>
            <a:ext cx="2209574" cy="6450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5DFBE1-12AD-B971-1951-03F7FFA0B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03" t="11725" b="63132"/>
          <a:stretch>
            <a:fillRect/>
          </a:stretch>
        </p:blipFill>
        <p:spPr>
          <a:xfrm rot="16200000">
            <a:off x="5544501" y="1501823"/>
            <a:ext cx="2209574" cy="6450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CC2920-8374-5190-204D-DDAE5143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7" y="2313589"/>
            <a:ext cx="3079405" cy="20529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CF84626-5020-A713-5A8C-9B33BECEB9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 rot="752272">
            <a:off x="3935913" y="3168423"/>
            <a:ext cx="1945964" cy="3473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ABFC3A-D01C-C3CB-F96F-15DDAC4FAEB9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Data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40B64-355B-3DB7-0F82-792C5C2EC98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13" t="8505" r="23376" b="54213"/>
          <a:stretch>
            <a:fillRect/>
          </a:stretch>
        </p:blipFill>
        <p:spPr>
          <a:xfrm>
            <a:off x="304801" y="1946442"/>
            <a:ext cx="3710539" cy="1498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2934883-8747-05AF-CFED-EBA43F730743}"/>
              </a:ext>
            </a:extLst>
          </p:cNvPr>
          <p:cNvSpPr txBox="1"/>
          <p:nvPr/>
        </p:nvSpPr>
        <p:spPr>
          <a:xfrm>
            <a:off x="532999" y="1579460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Primary HBEC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9ED26F-929C-956B-C2AE-C10535A26A7C}"/>
              </a:ext>
            </a:extLst>
          </p:cNvPr>
          <p:cNvSpPr txBox="1"/>
          <p:nvPr/>
        </p:nvSpPr>
        <p:spPr>
          <a:xfrm>
            <a:off x="532998" y="3812024"/>
            <a:ext cx="28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Calu-3 adenocarcinoma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4613728-61D4-F10D-BA6A-1FB4E18DA3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 rot="20400988">
            <a:off x="3945815" y="4017533"/>
            <a:ext cx="1945964" cy="3473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0273CA-2931-2F83-9461-DDA26FC761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13" t="71274" r="23376"/>
          <a:stretch>
            <a:fillRect/>
          </a:stretch>
        </p:blipFill>
        <p:spPr>
          <a:xfrm>
            <a:off x="304800" y="4123898"/>
            <a:ext cx="3710539" cy="1154642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3A3942CB-CA25-4B2C-0CC0-D1DC6A48C8E2}"/>
              </a:ext>
            </a:extLst>
          </p:cNvPr>
          <p:cNvSpPr/>
          <p:nvPr/>
        </p:nvSpPr>
        <p:spPr>
          <a:xfrm rot="16200000">
            <a:off x="8077422" y="2900716"/>
            <a:ext cx="656314" cy="153499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B5AC0B3-DAC2-A974-283F-9E977E1146D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924" t="23573" r="5478" b="19535"/>
          <a:stretch>
            <a:fillRect/>
          </a:stretch>
        </p:blipFill>
        <p:spPr>
          <a:xfrm>
            <a:off x="9339486" y="2196546"/>
            <a:ext cx="2852514" cy="228765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7507ED9-6D56-DE13-B836-9C4BE84CA621}"/>
              </a:ext>
            </a:extLst>
          </p:cNvPr>
          <p:cNvSpPr txBox="1"/>
          <p:nvPr/>
        </p:nvSpPr>
        <p:spPr>
          <a:xfrm>
            <a:off x="9903968" y="1870116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Transcriptomics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3829F6-870F-FF67-6D4C-0FCD755B03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3" t="68233" r="23031" b="23100"/>
          <a:stretch>
            <a:fillRect/>
          </a:stretch>
        </p:blipFill>
        <p:spPr>
          <a:xfrm rot="20301830">
            <a:off x="3653585" y="1236353"/>
            <a:ext cx="2302135" cy="222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89DAC2-5E1F-6A66-D53D-1C39DB775F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6006" y="5168180"/>
            <a:ext cx="1849066" cy="15307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E2373C-02D9-A43E-038F-341D8CE8D3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16926" y="53060"/>
            <a:ext cx="2025091" cy="1526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5D8F6F-0672-64C9-5DDF-964C4AB10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3" t="68233" r="23031" b="23100"/>
          <a:stretch>
            <a:fillRect/>
          </a:stretch>
        </p:blipFill>
        <p:spPr>
          <a:xfrm rot="1420035">
            <a:off x="3447020" y="5741411"/>
            <a:ext cx="2302135" cy="2223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32D12E-3455-2F1A-694B-2FF404549D19}"/>
              </a:ext>
            </a:extLst>
          </p:cNvPr>
          <p:cNvSpPr txBox="1"/>
          <p:nvPr/>
        </p:nvSpPr>
        <p:spPr>
          <a:xfrm>
            <a:off x="244707" y="6200959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created in </a:t>
            </a:r>
            <a:r>
              <a:rPr lang="en-GB" sz="1000" dirty="0" err="1"/>
              <a:t>BioRender</a:t>
            </a:r>
            <a:r>
              <a:rPr lang="en-GB" sz="1000" dirty="0"/>
              <a:t>: https://</a:t>
            </a:r>
            <a:r>
              <a:rPr lang="en-GB" sz="1000" dirty="0" err="1"/>
              <a:t>BioRender.com</a:t>
            </a:r>
            <a:r>
              <a:rPr lang="en-GB" sz="1000" dirty="0">
                <a:effectLst/>
              </a:rPr>
              <a:t> </a:t>
            </a:r>
            <a:endParaRPr lang="en-GB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C7C58-5FC1-D9ED-828C-6596055BAE89}"/>
              </a:ext>
            </a:extLst>
          </p:cNvPr>
          <p:cNvSpPr txBox="1"/>
          <p:nvPr/>
        </p:nvSpPr>
        <p:spPr>
          <a:xfrm rot="903980">
            <a:off x="4491070" y="3068077"/>
            <a:ext cx="94574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/>
              <a:t>Triplicate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968E6C-5D4C-CE57-7BE6-39044DDB9A13}"/>
              </a:ext>
            </a:extLst>
          </p:cNvPr>
          <p:cNvSpPr txBox="1"/>
          <p:nvPr/>
        </p:nvSpPr>
        <p:spPr>
          <a:xfrm rot="20385235">
            <a:off x="4612793" y="4178408"/>
            <a:ext cx="94574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/>
              <a:t>Triplicate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D818016-4473-436D-E9E4-EFE825DD6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2550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3532-546C-649A-394C-7C8DA9DF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572F95-8C46-BF88-1C67-EAC15619DA84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Aims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2B4538-4403-FD61-D5C2-6B70CAACFFE3}"/>
              </a:ext>
            </a:extLst>
          </p:cNvPr>
          <p:cNvGrpSpPr/>
          <p:nvPr/>
        </p:nvGrpSpPr>
        <p:grpSpPr>
          <a:xfrm>
            <a:off x="1747256" y="1426504"/>
            <a:ext cx="8101739" cy="4150637"/>
            <a:chOff x="1747256" y="1426505"/>
            <a:chExt cx="7710851" cy="3796948"/>
          </a:xfrm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E9ED237B-464A-E7B3-FA80-688E769C075F}"/>
                </a:ext>
              </a:extLst>
            </p:cNvPr>
            <p:cNvSpPr/>
            <p:nvPr/>
          </p:nvSpPr>
          <p:spPr>
            <a:xfrm>
              <a:off x="1747256" y="1426505"/>
              <a:ext cx="755911" cy="499675"/>
            </a:xfrm>
            <a:custGeom>
              <a:avLst/>
              <a:gdLst>
                <a:gd name="csX0" fmla="*/ 10125 w 755911"/>
                <a:gd name="csY0" fmla="*/ 0 h 499675"/>
                <a:gd name="csX1" fmla="*/ 633735 w 755911"/>
                <a:gd name="csY1" fmla="*/ 389606 h 499675"/>
                <a:gd name="csX2" fmla="*/ 755911 w 755911"/>
                <a:gd name="csY2" fmla="*/ 494298 h 499675"/>
                <a:gd name="csX3" fmla="*/ 741673 w 755911"/>
                <a:gd name="csY3" fmla="*/ 499675 h 499675"/>
                <a:gd name="csX4" fmla="*/ 622050 w 755911"/>
                <a:gd name="csY4" fmla="*/ 397479 h 499675"/>
                <a:gd name="csX5" fmla="*/ 0 w 755911"/>
                <a:gd name="csY5" fmla="*/ 10126 h 499675"/>
                <a:gd name="csX6" fmla="*/ 10125 w 755911"/>
                <a:gd name="csY6" fmla="*/ 0 h 49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55911" h="499675">
                  <a:moveTo>
                    <a:pt x="10125" y="0"/>
                  </a:moveTo>
                  <a:cubicBezTo>
                    <a:pt x="247691" y="115025"/>
                    <a:pt x="455561" y="246243"/>
                    <a:pt x="633735" y="389606"/>
                  </a:cubicBezTo>
                  <a:lnTo>
                    <a:pt x="755911" y="494298"/>
                  </a:lnTo>
                  <a:lnTo>
                    <a:pt x="741673" y="499675"/>
                  </a:lnTo>
                  <a:lnTo>
                    <a:pt x="622050" y="397479"/>
                  </a:lnTo>
                  <a:cubicBezTo>
                    <a:pt x="444321" y="254911"/>
                    <a:pt x="236971" y="124449"/>
                    <a:pt x="0" y="10126"/>
                  </a:cubicBezTo>
                  <a:lnTo>
                    <a:pt x="10125" y="0"/>
                  </a:lnTo>
                  <a:close/>
                </a:path>
              </a:pathLst>
            </a:custGeom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>
              <a:noAutofit/>
            </a:bodyPr>
            <a:lstStyle/>
            <a:p>
              <a:endParaRPr lang="en-GB" dirty="0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E6A83E8-70B0-F3F4-1CE6-5A20E3A71189}"/>
                </a:ext>
              </a:extLst>
            </p:cNvPr>
            <p:cNvSpPr/>
            <p:nvPr/>
          </p:nvSpPr>
          <p:spPr>
            <a:xfrm>
              <a:off x="3041096" y="2685922"/>
              <a:ext cx="84462" cy="213042"/>
            </a:xfrm>
            <a:custGeom>
              <a:avLst/>
              <a:gdLst>
                <a:gd name="csX0" fmla="*/ 12913 w 84462"/>
                <a:gd name="csY0" fmla="*/ 0 h 213042"/>
                <a:gd name="csX1" fmla="*/ 52591 w 84462"/>
                <a:gd name="csY1" fmla="*/ 103714 h 213042"/>
                <a:gd name="csX2" fmla="*/ 84462 w 84462"/>
                <a:gd name="csY2" fmla="*/ 212067 h 213042"/>
                <a:gd name="csX3" fmla="*/ 70559 w 84462"/>
                <a:gd name="csY3" fmla="*/ 213042 h 213042"/>
                <a:gd name="csX4" fmla="*/ 39122 w 84462"/>
                <a:gd name="csY4" fmla="*/ 106445 h 213042"/>
                <a:gd name="csX5" fmla="*/ 0 w 84462"/>
                <a:gd name="csY5" fmla="*/ 4451 h 213042"/>
                <a:gd name="csX6" fmla="*/ 2631 w 84462"/>
                <a:gd name="csY6" fmla="*/ 3883 h 213042"/>
                <a:gd name="csX7" fmla="*/ 12913 w 84462"/>
                <a:gd name="csY7" fmla="*/ 0 h 2130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4462" h="213042">
                  <a:moveTo>
                    <a:pt x="12913" y="0"/>
                  </a:moveTo>
                  <a:lnTo>
                    <a:pt x="52591" y="103714"/>
                  </a:lnTo>
                  <a:lnTo>
                    <a:pt x="84462" y="212067"/>
                  </a:lnTo>
                  <a:lnTo>
                    <a:pt x="70559" y="213042"/>
                  </a:lnTo>
                  <a:lnTo>
                    <a:pt x="39122" y="106445"/>
                  </a:lnTo>
                  <a:lnTo>
                    <a:pt x="0" y="4451"/>
                  </a:lnTo>
                  <a:lnTo>
                    <a:pt x="2631" y="3883"/>
                  </a:lnTo>
                  <a:lnTo>
                    <a:pt x="12913" y="0"/>
                  </a:lnTo>
                  <a:close/>
                </a:path>
              </a:pathLst>
            </a:custGeom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>
              <a:noAutofit/>
            </a:bodyPr>
            <a:lstStyle/>
            <a:p>
              <a:endParaRPr lang="en-GB" dirty="0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FDACACE-41FB-19EA-ECD4-940D84A768F7}"/>
                </a:ext>
              </a:extLst>
            </p:cNvPr>
            <p:cNvSpPr/>
            <p:nvPr/>
          </p:nvSpPr>
          <p:spPr>
            <a:xfrm>
              <a:off x="3041096" y="3750999"/>
              <a:ext cx="84461" cy="213039"/>
            </a:xfrm>
            <a:custGeom>
              <a:avLst/>
              <a:gdLst>
                <a:gd name="csX0" fmla="*/ 70559 w 84461"/>
                <a:gd name="csY0" fmla="*/ 0 h 213039"/>
                <a:gd name="csX1" fmla="*/ 84461 w 84461"/>
                <a:gd name="csY1" fmla="*/ 975 h 213039"/>
                <a:gd name="csX2" fmla="*/ 52592 w 84461"/>
                <a:gd name="csY2" fmla="*/ 109322 h 213039"/>
                <a:gd name="csX3" fmla="*/ 12914 w 84461"/>
                <a:gd name="csY3" fmla="*/ 213039 h 213039"/>
                <a:gd name="csX4" fmla="*/ 2631 w 84461"/>
                <a:gd name="csY4" fmla="*/ 209155 h 213039"/>
                <a:gd name="csX5" fmla="*/ 0 w 84461"/>
                <a:gd name="csY5" fmla="*/ 208587 h 213039"/>
                <a:gd name="csX6" fmla="*/ 39123 w 84461"/>
                <a:gd name="csY6" fmla="*/ 106592 h 213039"/>
                <a:gd name="csX7" fmla="*/ 70559 w 84461"/>
                <a:gd name="csY7" fmla="*/ 0 h 21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4461" h="213039">
                  <a:moveTo>
                    <a:pt x="70559" y="0"/>
                  </a:moveTo>
                  <a:lnTo>
                    <a:pt x="84461" y="975"/>
                  </a:lnTo>
                  <a:lnTo>
                    <a:pt x="52592" y="109322"/>
                  </a:lnTo>
                  <a:lnTo>
                    <a:pt x="12914" y="213039"/>
                  </a:lnTo>
                  <a:lnTo>
                    <a:pt x="2631" y="209155"/>
                  </a:lnTo>
                  <a:lnTo>
                    <a:pt x="0" y="208587"/>
                  </a:lnTo>
                  <a:lnTo>
                    <a:pt x="39123" y="106592"/>
                  </a:lnTo>
                  <a:lnTo>
                    <a:pt x="70559" y="0"/>
                  </a:lnTo>
                  <a:close/>
                </a:path>
              </a:pathLst>
            </a:custGeom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>
              <a:noAutofit/>
            </a:bodyPr>
            <a:lstStyle/>
            <a:p>
              <a:endParaRPr lang="en-GB" dirty="0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D496D18A-031B-CECE-0756-262BED99D544}"/>
                </a:ext>
              </a:extLst>
            </p:cNvPr>
            <p:cNvSpPr/>
            <p:nvPr/>
          </p:nvSpPr>
          <p:spPr>
            <a:xfrm>
              <a:off x="1747256" y="4723779"/>
              <a:ext cx="755909" cy="499674"/>
            </a:xfrm>
            <a:custGeom>
              <a:avLst/>
              <a:gdLst>
                <a:gd name="csX0" fmla="*/ 741672 w 755909"/>
                <a:gd name="csY0" fmla="*/ 0 h 499674"/>
                <a:gd name="csX1" fmla="*/ 755909 w 755909"/>
                <a:gd name="csY1" fmla="*/ 5377 h 499674"/>
                <a:gd name="csX2" fmla="*/ 633735 w 755909"/>
                <a:gd name="csY2" fmla="*/ 110068 h 499674"/>
                <a:gd name="csX3" fmla="*/ 10125 w 755909"/>
                <a:gd name="csY3" fmla="*/ 499674 h 499674"/>
                <a:gd name="csX4" fmla="*/ 0 w 755909"/>
                <a:gd name="csY4" fmla="*/ 489548 h 499674"/>
                <a:gd name="csX5" fmla="*/ 622050 w 755909"/>
                <a:gd name="csY5" fmla="*/ 102195 h 499674"/>
                <a:gd name="csX6" fmla="*/ 741672 w 755909"/>
                <a:gd name="csY6" fmla="*/ 0 h 499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55909" h="499674">
                  <a:moveTo>
                    <a:pt x="741672" y="0"/>
                  </a:moveTo>
                  <a:lnTo>
                    <a:pt x="755909" y="5377"/>
                  </a:lnTo>
                  <a:lnTo>
                    <a:pt x="633735" y="110068"/>
                  </a:lnTo>
                  <a:cubicBezTo>
                    <a:pt x="455561" y="253431"/>
                    <a:pt x="247691" y="384649"/>
                    <a:pt x="10125" y="499674"/>
                  </a:cubicBezTo>
                  <a:lnTo>
                    <a:pt x="0" y="489548"/>
                  </a:lnTo>
                  <a:cubicBezTo>
                    <a:pt x="236971" y="375225"/>
                    <a:pt x="444321" y="244763"/>
                    <a:pt x="622050" y="102195"/>
                  </a:cubicBezTo>
                  <a:lnTo>
                    <a:pt x="741672" y="0"/>
                  </a:lnTo>
                  <a:close/>
                </a:path>
              </a:pathLst>
            </a:custGeom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>
              <a:noAutofit/>
            </a:bodyPr>
            <a:lstStyle/>
            <a:p>
              <a:endParaRPr lang="en-GB" dirty="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8A4338E-9525-BA75-29FC-8881FBECE642}"/>
                </a:ext>
              </a:extLst>
            </p:cNvPr>
            <p:cNvSpPr/>
            <p:nvPr/>
          </p:nvSpPr>
          <p:spPr>
            <a:xfrm>
              <a:off x="3170455" y="1950316"/>
              <a:ext cx="6287651" cy="687330"/>
            </a:xfrm>
            <a:custGeom>
              <a:avLst/>
              <a:gdLst>
                <a:gd name="csX0" fmla="*/ 0 w 6287651"/>
                <a:gd name="csY0" fmla="*/ 0 h 687330"/>
                <a:gd name="csX1" fmla="*/ 6287651 w 6287651"/>
                <a:gd name="csY1" fmla="*/ 0 h 687330"/>
                <a:gd name="csX2" fmla="*/ 6287651 w 6287651"/>
                <a:gd name="csY2" fmla="*/ 687330 h 687330"/>
                <a:gd name="csX3" fmla="*/ 4 w 6287651"/>
                <a:gd name="csY3" fmla="*/ 687330 h 687330"/>
                <a:gd name="csX4" fmla="*/ 69509 w 6287651"/>
                <a:gd name="csY4" fmla="*/ 647427 h 687330"/>
                <a:gd name="csX5" fmla="*/ 250330 w 6287651"/>
                <a:gd name="csY5" fmla="*/ 343666 h 687330"/>
                <a:gd name="csX6" fmla="*/ 69509 w 6287651"/>
                <a:gd name="csY6" fmla="*/ 39906 h 687330"/>
                <a:gd name="csX7" fmla="*/ 0 w 6287651"/>
                <a:gd name="csY7" fmla="*/ 0 h 687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287651" h="687330">
                  <a:moveTo>
                    <a:pt x="0" y="0"/>
                  </a:moveTo>
                  <a:lnTo>
                    <a:pt x="6287651" y="0"/>
                  </a:lnTo>
                  <a:lnTo>
                    <a:pt x="6287651" y="687330"/>
                  </a:lnTo>
                  <a:lnTo>
                    <a:pt x="4" y="687330"/>
                  </a:lnTo>
                  <a:lnTo>
                    <a:pt x="69509" y="647427"/>
                  </a:lnTo>
                  <a:cubicBezTo>
                    <a:pt x="181229" y="569688"/>
                    <a:pt x="250330" y="462292"/>
                    <a:pt x="250330" y="343666"/>
                  </a:cubicBezTo>
                  <a:cubicBezTo>
                    <a:pt x="250330" y="225040"/>
                    <a:pt x="181229" y="117645"/>
                    <a:pt x="69509" y="39906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 anchor="ctr">
              <a:noAutofit/>
            </a:bodyPr>
            <a:lstStyle/>
            <a:p>
              <a:pPr lvl="1" defTabSz="2489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dirty="0"/>
                <a:t>Create a transcriptomics workflow using the primary HBEC dataset</a:t>
              </a: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25235824-DDBA-856B-760A-C246E29F7841}"/>
                </a:ext>
              </a:extLst>
            </p:cNvPr>
            <p:cNvSpPr/>
            <p:nvPr/>
          </p:nvSpPr>
          <p:spPr>
            <a:xfrm>
              <a:off x="3529508" y="2981312"/>
              <a:ext cx="5928599" cy="687330"/>
            </a:xfrm>
            <a:custGeom>
              <a:avLst/>
              <a:gdLst>
                <a:gd name="csX0" fmla="*/ 0 w 5928599"/>
                <a:gd name="csY0" fmla="*/ 0 h 687330"/>
                <a:gd name="csX1" fmla="*/ 5928599 w 5928599"/>
                <a:gd name="csY1" fmla="*/ 0 h 687330"/>
                <a:gd name="csX2" fmla="*/ 5928599 w 5928599"/>
                <a:gd name="csY2" fmla="*/ 687330 h 687330"/>
                <a:gd name="csX3" fmla="*/ 14 w 5928599"/>
                <a:gd name="csY3" fmla="*/ 687330 h 687330"/>
                <a:gd name="csX4" fmla="*/ 69514 w 5928599"/>
                <a:gd name="csY4" fmla="*/ 647430 h 687330"/>
                <a:gd name="csX5" fmla="*/ 250335 w 5928599"/>
                <a:gd name="csY5" fmla="*/ 343669 h 687330"/>
                <a:gd name="csX6" fmla="*/ 69514 w 5928599"/>
                <a:gd name="csY6" fmla="*/ 39909 h 687330"/>
                <a:gd name="csX7" fmla="*/ 0 w 5928599"/>
                <a:gd name="csY7" fmla="*/ 0 h 687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928599" h="687330">
                  <a:moveTo>
                    <a:pt x="0" y="0"/>
                  </a:moveTo>
                  <a:lnTo>
                    <a:pt x="5928599" y="0"/>
                  </a:lnTo>
                  <a:lnTo>
                    <a:pt x="5928599" y="687330"/>
                  </a:lnTo>
                  <a:lnTo>
                    <a:pt x="14" y="687330"/>
                  </a:lnTo>
                  <a:lnTo>
                    <a:pt x="69514" y="647430"/>
                  </a:lnTo>
                  <a:cubicBezTo>
                    <a:pt x="181234" y="569691"/>
                    <a:pt x="250335" y="462295"/>
                    <a:pt x="250335" y="343669"/>
                  </a:cubicBezTo>
                  <a:cubicBezTo>
                    <a:pt x="250335" y="225043"/>
                    <a:pt x="181234" y="117648"/>
                    <a:pt x="69514" y="39909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 anchor="ctr">
              <a:noAutofit/>
            </a:bodyPr>
            <a:lstStyle/>
            <a:p>
              <a:pPr lvl="1"/>
              <a:r>
                <a:rPr lang="en-GB" dirty="0"/>
                <a:t>Use exclusively open-access software</a:t>
              </a: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4D89814-CB11-EFDF-EFFC-9C0B08263675}"/>
                </a:ext>
              </a:extLst>
            </p:cNvPr>
            <p:cNvSpPr/>
            <p:nvPr/>
          </p:nvSpPr>
          <p:spPr>
            <a:xfrm>
              <a:off x="3170452" y="4012309"/>
              <a:ext cx="6287654" cy="687330"/>
            </a:xfrm>
            <a:custGeom>
              <a:avLst/>
              <a:gdLst>
                <a:gd name="csX0" fmla="*/ 0 w 6287654"/>
                <a:gd name="csY0" fmla="*/ 0 h 687330"/>
                <a:gd name="csX1" fmla="*/ 6287654 w 6287654"/>
                <a:gd name="csY1" fmla="*/ 0 h 687330"/>
                <a:gd name="csX2" fmla="*/ 6287654 w 6287654"/>
                <a:gd name="csY2" fmla="*/ 687330 h 687330"/>
                <a:gd name="csX3" fmla="*/ 8 w 6287654"/>
                <a:gd name="csY3" fmla="*/ 687330 h 687330"/>
                <a:gd name="csX4" fmla="*/ 69511 w 6287654"/>
                <a:gd name="csY4" fmla="*/ 647428 h 687330"/>
                <a:gd name="csX5" fmla="*/ 250332 w 6287654"/>
                <a:gd name="csY5" fmla="*/ 343667 h 687330"/>
                <a:gd name="csX6" fmla="*/ 69511 w 6287654"/>
                <a:gd name="csY6" fmla="*/ 39907 h 687330"/>
                <a:gd name="csX7" fmla="*/ 0 w 6287654"/>
                <a:gd name="csY7" fmla="*/ 0 h 687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287654" h="687330">
                  <a:moveTo>
                    <a:pt x="0" y="0"/>
                  </a:moveTo>
                  <a:lnTo>
                    <a:pt x="6287654" y="0"/>
                  </a:lnTo>
                  <a:lnTo>
                    <a:pt x="6287654" y="687330"/>
                  </a:lnTo>
                  <a:lnTo>
                    <a:pt x="8" y="687330"/>
                  </a:lnTo>
                  <a:lnTo>
                    <a:pt x="69511" y="647428"/>
                  </a:lnTo>
                  <a:cubicBezTo>
                    <a:pt x="181231" y="569689"/>
                    <a:pt x="250332" y="462293"/>
                    <a:pt x="250332" y="343667"/>
                  </a:cubicBezTo>
                  <a:cubicBezTo>
                    <a:pt x="250332" y="225041"/>
                    <a:pt x="181231" y="117646"/>
                    <a:pt x="69511" y="39907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wrap="square" anchor="ctr">
              <a:noAutofit/>
            </a:bodyPr>
            <a:lstStyle/>
            <a:p>
              <a:pPr lvl="1"/>
              <a:r>
                <a:rPr lang="en-GB" dirty="0"/>
                <a:t>Apply the workflow to the Calu-3 dataset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292F2CA-9F77-C861-7C91-2C692B5EFBFD}"/>
                </a:ext>
              </a:extLst>
            </p:cNvPr>
            <p:cNvSpPr/>
            <p:nvPr/>
          </p:nvSpPr>
          <p:spPr>
            <a:xfrm>
              <a:off x="2186059" y="1864400"/>
              <a:ext cx="1234726" cy="859163"/>
            </a:xfrm>
            <a:prstGeom prst="ellipse">
              <a:avLst/>
            </a:prstGeom>
            <a:solidFill>
              <a:schemeClr val="bg2">
                <a:lumMod val="90000"/>
                <a:alpha val="75000"/>
              </a:schemeClr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anchor="ctr"/>
            <a:lstStyle/>
            <a:p>
              <a:pPr algn="ctr"/>
              <a:r>
                <a:rPr lang="en-GB" sz="3600" b="1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884063F-7F17-BC70-7C97-276DAD97944E}"/>
                </a:ext>
              </a:extLst>
            </p:cNvPr>
            <p:cNvSpPr/>
            <p:nvPr/>
          </p:nvSpPr>
          <p:spPr>
            <a:xfrm>
              <a:off x="2545117" y="2895399"/>
              <a:ext cx="1234726" cy="859163"/>
            </a:xfrm>
            <a:prstGeom prst="ellipse">
              <a:avLst/>
            </a:prstGeom>
            <a:solidFill>
              <a:schemeClr val="bg2">
                <a:lumMod val="90000"/>
                <a:alpha val="75000"/>
              </a:schemeClr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anchor="ctr"/>
            <a:lstStyle/>
            <a:p>
              <a:pPr algn="ctr"/>
              <a:r>
                <a:rPr lang="en-GB" sz="3600" b="1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BF51210-56CE-487E-7C9C-D37DD3F8F6C7}"/>
                </a:ext>
              </a:extLst>
            </p:cNvPr>
            <p:cNvSpPr/>
            <p:nvPr/>
          </p:nvSpPr>
          <p:spPr>
            <a:xfrm>
              <a:off x="2186058" y="3926394"/>
              <a:ext cx="1234726" cy="859163"/>
            </a:xfrm>
            <a:prstGeom prst="ellipse">
              <a:avLst/>
            </a:prstGeom>
            <a:solidFill>
              <a:schemeClr val="bg2">
                <a:lumMod val="90000"/>
                <a:alpha val="75000"/>
              </a:schemeClr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anchor="ctr"/>
            <a:lstStyle/>
            <a:p>
              <a:pPr algn="ctr"/>
              <a:r>
                <a:rPr lang="en-GB" sz="3600" b="1" dirty="0">
                  <a:solidFill>
                    <a:schemeClr val="accent1">
                      <a:lumMod val="75000"/>
                    </a:schemeClr>
                  </a:solidFill>
                </a:rPr>
                <a:t>3</a:t>
              </a:r>
            </a:p>
          </p:txBody>
        </p:sp>
      </p:grpSp>
      <p:sp>
        <p:nvSpPr>
          <p:cNvPr id="59" name="Slide Number Placeholder 58">
            <a:extLst>
              <a:ext uri="{FF2B5EF4-FFF2-40B4-BE49-F238E27FC236}">
                <a16:creationId xmlns:a16="http://schemas.microsoft.com/office/drawing/2014/main" id="{407C56A8-01D9-6375-6A1D-93155624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615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5142B-8672-2B84-1B21-E413CE86B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52349C-2345-F4D9-B2C5-DF5FF6C98C3B}"/>
              </a:ext>
            </a:extLst>
          </p:cNvPr>
          <p:cNvSpPr/>
          <p:nvPr/>
        </p:nvSpPr>
        <p:spPr>
          <a:xfrm>
            <a:off x="1894984" y="2521466"/>
            <a:ext cx="9506857" cy="2184400"/>
          </a:xfrm>
          <a:prstGeom prst="roundRect">
            <a:avLst/>
          </a:prstGeom>
          <a:solidFill>
            <a:schemeClr val="accent1">
              <a:alpha val="7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08C3E7-79B2-07A2-5CEB-2EE421FB65B9}"/>
              </a:ext>
            </a:extLst>
          </p:cNvPr>
          <p:cNvGrpSpPr/>
          <p:nvPr/>
        </p:nvGrpSpPr>
        <p:grpSpPr>
          <a:xfrm>
            <a:off x="9018357" y="203886"/>
            <a:ext cx="2919600" cy="2792478"/>
            <a:chOff x="9018357" y="203886"/>
            <a:chExt cx="2919600" cy="2792478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9A2C40B7-C827-E7A7-5AD4-7F0524861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213" t="8505" r="23376" b="54213"/>
            <a:stretch>
              <a:fillRect/>
            </a:stretch>
          </p:blipFill>
          <p:spPr>
            <a:xfrm>
              <a:off x="9124912" y="1327140"/>
              <a:ext cx="2193931" cy="78561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626B4F8-55B4-D832-7FA7-4DE44E811B9B}"/>
                </a:ext>
              </a:extLst>
            </p:cNvPr>
            <p:cNvSpPr txBox="1"/>
            <p:nvPr/>
          </p:nvSpPr>
          <p:spPr>
            <a:xfrm>
              <a:off x="9018357" y="203886"/>
              <a:ext cx="2919600" cy="1831271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Method Development</a:t>
              </a:r>
            </a:p>
            <a:p>
              <a:pPr marL="342900" indent="-342900">
                <a:buAutoNum type="arabicPeriod"/>
              </a:pPr>
              <a:r>
                <a:rPr lang="en-GB" sz="1400" dirty="0"/>
                <a:t>Target gene-level</a:t>
              </a:r>
            </a:p>
            <a:p>
              <a:pPr marL="342900" indent="-342900">
                <a:buAutoNum type="arabicPeriod"/>
              </a:pPr>
              <a:endParaRPr lang="en-GB" sz="300" dirty="0"/>
            </a:p>
            <a:p>
              <a:pPr marL="342900" indent="-342900">
                <a:buAutoNum type="arabicPeriod"/>
              </a:pPr>
              <a:r>
                <a:rPr lang="en-GB" sz="1400" dirty="0"/>
                <a:t>miRNA-level</a:t>
              </a:r>
            </a:p>
            <a:p>
              <a:pPr marL="342900" indent="-342900">
                <a:buAutoNum type="arabicPeriod"/>
              </a:pPr>
              <a:endParaRPr lang="en-GB" sz="800" dirty="0"/>
            </a:p>
            <a:p>
              <a:r>
                <a:rPr lang="en-GB" sz="1400" dirty="0"/>
                <a:t>Cell type: Primary HBEC</a:t>
              </a:r>
            </a:p>
            <a:p>
              <a:pPr marL="342900" indent="-342900">
                <a:buAutoNum type="arabicPeriod"/>
              </a:pPr>
              <a:endParaRPr lang="en-GB" sz="2400" dirty="0"/>
            </a:p>
            <a:p>
              <a:pPr marL="342900" indent="-342900">
                <a:buAutoNum type="arabicPeriod"/>
              </a:pPr>
              <a:endParaRPr lang="en-GB" dirty="0"/>
            </a:p>
          </p:txBody>
        </p:sp>
        <p:sp>
          <p:nvSpPr>
            <p:cNvPr id="34" name="Down Arrow 33">
              <a:extLst>
                <a:ext uri="{FF2B5EF4-FFF2-40B4-BE49-F238E27FC236}">
                  <a16:creationId xmlns:a16="http://schemas.microsoft.com/office/drawing/2014/main" id="{DF7BC269-0F38-04BC-2B25-65262E9844B6}"/>
                </a:ext>
              </a:extLst>
            </p:cNvPr>
            <p:cNvSpPr/>
            <p:nvPr/>
          </p:nvSpPr>
          <p:spPr>
            <a:xfrm rot="10800000">
              <a:off x="10351749" y="2061023"/>
              <a:ext cx="431042" cy="935341"/>
            </a:xfrm>
            <a:prstGeom prst="downArrow">
              <a:avLst/>
            </a:prstGeom>
            <a:solidFill>
              <a:srgbClr val="FFC000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5B34106-3ADD-39A2-191E-09E77F334D61}"/>
              </a:ext>
            </a:extLst>
          </p:cNvPr>
          <p:cNvSpPr txBox="1"/>
          <p:nvPr/>
        </p:nvSpPr>
        <p:spPr>
          <a:xfrm>
            <a:off x="304800" y="228600"/>
            <a:ext cx="29108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Transcriptomics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4DEB69-C20C-456D-DE65-C06C4AE5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924" t="23573" r="5478" b="19535"/>
          <a:stretch>
            <a:fillRect/>
          </a:stretch>
        </p:blipFill>
        <p:spPr>
          <a:xfrm>
            <a:off x="72532" y="2996364"/>
            <a:ext cx="1756685" cy="14088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5851C7D3-E87C-6B11-4531-892B49FDCEA7}"/>
              </a:ext>
            </a:extLst>
          </p:cNvPr>
          <p:cNvSpPr/>
          <p:nvPr/>
        </p:nvSpPr>
        <p:spPr>
          <a:xfrm>
            <a:off x="2232444" y="3149208"/>
            <a:ext cx="1074058" cy="9579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Trimming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9D98EE40-956B-AFDE-F251-197F23FD49F6}"/>
              </a:ext>
            </a:extLst>
          </p:cNvPr>
          <p:cNvSpPr/>
          <p:nvPr/>
        </p:nvSpPr>
        <p:spPr>
          <a:xfrm>
            <a:off x="3445294" y="3512091"/>
            <a:ext cx="587828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2C4ADBE-3749-5CFE-B64A-F80F167EAB80}"/>
              </a:ext>
            </a:extLst>
          </p:cNvPr>
          <p:cNvSpPr/>
          <p:nvPr/>
        </p:nvSpPr>
        <p:spPr>
          <a:xfrm>
            <a:off x="4171914" y="3149208"/>
            <a:ext cx="1074058" cy="9579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Quality</a:t>
            </a: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Control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BFB453D8-E34B-E2FF-642F-7387651CBFC2}"/>
              </a:ext>
            </a:extLst>
          </p:cNvPr>
          <p:cNvSpPr/>
          <p:nvPr/>
        </p:nvSpPr>
        <p:spPr>
          <a:xfrm>
            <a:off x="5384764" y="3512091"/>
            <a:ext cx="587828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C714F2-0A55-0853-1DE9-06F59E2C4B3C}"/>
              </a:ext>
            </a:extLst>
          </p:cNvPr>
          <p:cNvSpPr/>
          <p:nvPr/>
        </p:nvSpPr>
        <p:spPr>
          <a:xfrm>
            <a:off x="6111384" y="3105665"/>
            <a:ext cx="1074058" cy="9579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miRNA Mapping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86F963C6-6654-3E71-5C6B-0AB075BAC902}"/>
              </a:ext>
            </a:extLst>
          </p:cNvPr>
          <p:cNvSpPr/>
          <p:nvPr/>
        </p:nvSpPr>
        <p:spPr>
          <a:xfrm>
            <a:off x="7324234" y="3468548"/>
            <a:ext cx="587828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550911-D385-4D87-E306-76ECD5B3B0BA}"/>
              </a:ext>
            </a:extLst>
          </p:cNvPr>
          <p:cNvSpPr/>
          <p:nvPr/>
        </p:nvSpPr>
        <p:spPr>
          <a:xfrm>
            <a:off x="8050854" y="3105665"/>
            <a:ext cx="1074058" cy="9579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Differential Expression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C2EAB085-E14A-4B25-7A64-B0129EE9B9D7}"/>
              </a:ext>
            </a:extLst>
          </p:cNvPr>
          <p:cNvSpPr/>
          <p:nvPr/>
        </p:nvSpPr>
        <p:spPr>
          <a:xfrm>
            <a:off x="9263704" y="3468548"/>
            <a:ext cx="587828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B39F44-ADBC-1A93-09FC-C69904F998E3}"/>
              </a:ext>
            </a:extLst>
          </p:cNvPr>
          <p:cNvSpPr/>
          <p:nvPr/>
        </p:nvSpPr>
        <p:spPr>
          <a:xfrm>
            <a:off x="9990325" y="3105664"/>
            <a:ext cx="1153890" cy="9579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ysClr val="windowText" lastClr="000000"/>
                </a:solidFill>
              </a:rPr>
              <a:t>Pathway Enrichment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5C523E0-707C-2750-5F80-99703A363299}"/>
              </a:ext>
            </a:extLst>
          </p:cNvPr>
          <p:cNvGrpSpPr/>
          <p:nvPr/>
        </p:nvGrpSpPr>
        <p:grpSpPr>
          <a:xfrm>
            <a:off x="8953350" y="4107204"/>
            <a:ext cx="2982713" cy="2533157"/>
            <a:chOff x="8953350" y="4107204"/>
            <a:chExt cx="2982713" cy="2533157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AFD0309-2B48-F2EB-A31C-23B26D82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213" t="71274" r="23376"/>
            <a:stretch>
              <a:fillRect/>
            </a:stretch>
          </p:blipFill>
          <p:spPr>
            <a:xfrm>
              <a:off x="8953350" y="5826050"/>
              <a:ext cx="2633703" cy="7848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6B093BD-8347-994E-4213-3CA3F97C32CC}"/>
                </a:ext>
              </a:extLst>
            </p:cNvPr>
            <p:cNvSpPr txBox="1"/>
            <p:nvPr/>
          </p:nvSpPr>
          <p:spPr>
            <a:xfrm>
              <a:off x="9018357" y="5086089"/>
              <a:ext cx="2917706" cy="1554272"/>
            </a:xfrm>
            <a:prstGeom prst="rect">
              <a:avLst/>
            </a:prstGeom>
            <a:noFill/>
            <a:ln w="19050">
              <a:solidFill>
                <a:schemeClr val="accent3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b="1" dirty="0"/>
                <a:t>Literature Search</a:t>
              </a:r>
            </a:p>
            <a:p>
              <a:endParaRPr lang="en-GB" sz="600" dirty="0"/>
            </a:p>
            <a:p>
              <a:endParaRPr lang="en-GB" sz="300" dirty="0"/>
            </a:p>
            <a:p>
              <a:r>
                <a:rPr lang="en-GB" sz="1400" dirty="0"/>
                <a:t>Cell type: Calu-3</a:t>
              </a:r>
            </a:p>
            <a:p>
              <a:endParaRPr lang="en-GB" sz="2400" dirty="0"/>
            </a:p>
            <a:p>
              <a:endParaRPr lang="en-GB" sz="1400" dirty="0"/>
            </a:p>
            <a:p>
              <a:endParaRPr lang="en-GB" sz="1400" dirty="0"/>
            </a:p>
          </p:txBody>
        </p:sp>
        <p:sp>
          <p:nvSpPr>
            <p:cNvPr id="38" name="Down Arrow 37">
              <a:extLst>
                <a:ext uri="{FF2B5EF4-FFF2-40B4-BE49-F238E27FC236}">
                  <a16:creationId xmlns:a16="http://schemas.microsoft.com/office/drawing/2014/main" id="{0332363D-56D8-6C44-50B8-CEDCF83D6836}"/>
                </a:ext>
              </a:extLst>
            </p:cNvPr>
            <p:cNvSpPr/>
            <p:nvPr/>
          </p:nvSpPr>
          <p:spPr>
            <a:xfrm>
              <a:off x="10414506" y="4107204"/>
              <a:ext cx="431042" cy="935341"/>
            </a:xfrm>
            <a:prstGeom prst="downArrow">
              <a:avLst/>
            </a:prstGeom>
            <a:solidFill>
              <a:schemeClr val="accent6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A96B9-00CF-F470-48D6-6E62D64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6708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BFF15-5FF0-6894-CE25-6CB0DF0B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E2FE7F-F56C-9BBF-1A99-86066B3165BD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180D9F-AF6E-50C4-C64B-5FF97D0EF3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03" t="32411" r="10388" b="33218"/>
          <a:stretch>
            <a:fillRect/>
          </a:stretch>
        </p:blipFill>
        <p:spPr>
          <a:xfrm>
            <a:off x="2405411" y="1721708"/>
            <a:ext cx="7956852" cy="22242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6DAE2E-1654-7754-6DF8-173D3C7D42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213" t="8505" r="23376" b="54213"/>
          <a:stretch>
            <a:fillRect/>
          </a:stretch>
        </p:blipFill>
        <p:spPr>
          <a:xfrm>
            <a:off x="493869" y="2326076"/>
            <a:ext cx="2079860" cy="8400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1876C7-D7D3-18FD-A7D3-C9CFBB35F25A}"/>
              </a:ext>
            </a:extLst>
          </p:cNvPr>
          <p:cNvSpPr txBox="1"/>
          <p:nvPr/>
        </p:nvSpPr>
        <p:spPr>
          <a:xfrm>
            <a:off x="567609" y="2039413"/>
            <a:ext cx="2454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Primary HBEC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2B043C-7E24-0C35-68D6-2DA40C902D58}"/>
              </a:ext>
            </a:extLst>
          </p:cNvPr>
          <p:cNvSpPr txBox="1"/>
          <p:nvPr/>
        </p:nvSpPr>
        <p:spPr>
          <a:xfrm>
            <a:off x="493869" y="4696865"/>
            <a:ext cx="28198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Calu-3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79421-2426-F9BE-75E0-3338EF11EC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717" t="71274" r="23377"/>
          <a:stretch>
            <a:fillRect/>
          </a:stretch>
        </p:blipFill>
        <p:spPr>
          <a:xfrm>
            <a:off x="493869" y="4993495"/>
            <a:ext cx="1915297" cy="6231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7EC3DE-C90C-B619-7612-B38621EC0C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03" t="66782" r="10388"/>
          <a:stretch>
            <a:fillRect/>
          </a:stretch>
        </p:blipFill>
        <p:spPr>
          <a:xfrm>
            <a:off x="2444158" y="4312456"/>
            <a:ext cx="7956000" cy="19571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308D17-83D7-D099-36C7-FD957CB1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253" t="69850" b="8497"/>
          <a:stretch>
            <a:fillRect/>
          </a:stretch>
        </p:blipFill>
        <p:spPr>
          <a:xfrm>
            <a:off x="10096946" y="2598545"/>
            <a:ext cx="1905583" cy="246823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F778A5B-8DC7-F279-F324-7632B81AED3B}"/>
              </a:ext>
            </a:extLst>
          </p:cNvPr>
          <p:cNvSpPr/>
          <p:nvPr/>
        </p:nvSpPr>
        <p:spPr>
          <a:xfrm>
            <a:off x="2677297" y="1721708"/>
            <a:ext cx="7419649" cy="5189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05575BF-7EF5-B606-BA53-DE158286E28C}"/>
              </a:ext>
            </a:extLst>
          </p:cNvPr>
          <p:cNvGraphicFramePr>
            <a:graphicFrameLocks noGrp="1"/>
          </p:cNvGraphicFramePr>
          <p:nvPr/>
        </p:nvGraphicFramePr>
        <p:xfrm>
          <a:off x="4448432" y="149893"/>
          <a:ext cx="6295768" cy="131656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295768">
                  <a:extLst>
                    <a:ext uri="{9D8B030D-6E8A-4147-A177-3AD203B41FA5}">
                      <a16:colId xmlns:a16="http://schemas.microsoft.com/office/drawing/2014/main" val="3859239714"/>
                    </a:ext>
                  </a:extLst>
                </a:gridCol>
              </a:tblGrid>
              <a:tr h="447715">
                <a:tc>
                  <a:txBody>
                    <a:bodyPr/>
                    <a:lstStyle/>
                    <a:p>
                      <a:r>
                        <a:rPr lang="en-GB" dirty="0"/>
                        <a:t>Summary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15783"/>
                  </a:ext>
                </a:extLst>
              </a:tr>
              <a:tr h="457221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dirty="0"/>
                        <a:t>Low miRNA abundance in Calu-3 samples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029511"/>
                  </a:ext>
                </a:extLst>
              </a:tr>
              <a:tr h="411631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GB" dirty="0"/>
                        <a:t>High rRNA/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tRNA content in dose 24 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µg/cm</a:t>
                      </a:r>
                      <a:r>
                        <a:rPr lang="en-GB" sz="1800" kern="1200" baseline="300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 samples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40582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009F648-B151-B013-5398-A3529A62DCCF}"/>
              </a:ext>
            </a:extLst>
          </p:cNvPr>
          <p:cNvGrpSpPr/>
          <p:nvPr/>
        </p:nvGrpSpPr>
        <p:grpSpPr>
          <a:xfrm>
            <a:off x="3443416" y="1276832"/>
            <a:ext cx="1005016" cy="3046562"/>
            <a:chOff x="3443416" y="1276832"/>
            <a:chExt cx="1005016" cy="3046562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977F1AB-D5C6-2E6D-CD19-65E8527D8373}"/>
                </a:ext>
              </a:extLst>
            </p:cNvPr>
            <p:cNvGrpSpPr/>
            <p:nvPr/>
          </p:nvGrpSpPr>
          <p:grpSpPr>
            <a:xfrm>
              <a:off x="3443416" y="1276832"/>
              <a:ext cx="1005016" cy="527254"/>
              <a:chOff x="3443416" y="1276832"/>
              <a:chExt cx="1005016" cy="527254"/>
            </a:xfrm>
          </p:grpSpPr>
          <p:sp>
            <p:nvSpPr>
              <p:cNvPr id="18" name="Down Arrow 17">
                <a:extLst>
                  <a:ext uri="{FF2B5EF4-FFF2-40B4-BE49-F238E27FC236}">
                    <a16:creationId xmlns:a16="http://schemas.microsoft.com/office/drawing/2014/main" id="{EACF5436-CDB9-D351-D5EA-F1334C69568A}"/>
                  </a:ext>
                </a:extLst>
              </p:cNvPr>
              <p:cNvSpPr/>
              <p:nvPr/>
            </p:nvSpPr>
            <p:spPr>
              <a:xfrm>
                <a:off x="3674076" y="1540476"/>
                <a:ext cx="164756" cy="263610"/>
              </a:xfrm>
              <a:prstGeom prst="downArrow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480DF22-685C-47EA-A14B-B8EBF1CD0665}"/>
                  </a:ext>
                </a:extLst>
              </p:cNvPr>
              <p:cNvSpPr txBox="1"/>
              <p:nvPr/>
            </p:nvSpPr>
            <p:spPr>
              <a:xfrm>
                <a:off x="3443416" y="1276832"/>
                <a:ext cx="100501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miRNA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A5D26D5-7CF5-E29B-4946-7666FDC49920}"/>
                </a:ext>
              </a:extLst>
            </p:cNvPr>
            <p:cNvGrpSpPr/>
            <p:nvPr/>
          </p:nvGrpSpPr>
          <p:grpSpPr>
            <a:xfrm>
              <a:off x="3443416" y="3796140"/>
              <a:ext cx="1005016" cy="527254"/>
              <a:chOff x="3443416" y="1276832"/>
              <a:chExt cx="1005016" cy="527254"/>
            </a:xfrm>
          </p:grpSpPr>
          <p:sp>
            <p:nvSpPr>
              <p:cNvPr id="22" name="Down Arrow 21">
                <a:extLst>
                  <a:ext uri="{FF2B5EF4-FFF2-40B4-BE49-F238E27FC236}">
                    <a16:creationId xmlns:a16="http://schemas.microsoft.com/office/drawing/2014/main" id="{1F13E713-F796-23BE-B957-417C79F15BB3}"/>
                  </a:ext>
                </a:extLst>
              </p:cNvPr>
              <p:cNvSpPr/>
              <p:nvPr/>
            </p:nvSpPr>
            <p:spPr>
              <a:xfrm>
                <a:off x="3674076" y="1540476"/>
                <a:ext cx="164756" cy="263610"/>
              </a:xfrm>
              <a:prstGeom prst="downArrow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4F4EDB-0274-6DD5-9DBB-977137F5D6C2}"/>
                  </a:ext>
                </a:extLst>
              </p:cNvPr>
              <p:cNvSpPr txBox="1"/>
              <p:nvPr/>
            </p:nvSpPr>
            <p:spPr>
              <a:xfrm>
                <a:off x="3443416" y="1276832"/>
                <a:ext cx="100501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/>
                  <a:t>miRNA</a:t>
                </a:r>
              </a:p>
            </p:txBody>
          </p: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B0FC612-C8A6-8D25-8CA0-63C7427EB4B5}"/>
              </a:ext>
            </a:extLst>
          </p:cNvPr>
          <p:cNvSpPr txBox="1"/>
          <p:nvPr/>
        </p:nvSpPr>
        <p:spPr>
          <a:xfrm>
            <a:off x="532609" y="6146463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derived from thesis Figure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848C5-C629-34BC-0323-485D269D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584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2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5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8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5" grpId="0" animBg="1"/>
      <p:bldP spid="15" grpId="1" animBg="1"/>
      <p:bldP spid="15" grpId="2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C17C1-DFC0-83D9-44D2-3E0C1BF52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4F8581E-4A3B-884C-ED44-5BE43FD5D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170"/>
          <a:stretch>
            <a:fillRect/>
          </a:stretch>
        </p:blipFill>
        <p:spPr>
          <a:xfrm>
            <a:off x="1760220" y="2908175"/>
            <a:ext cx="7292874" cy="29146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104BD6-B2CA-D401-8F91-7DAD10CA86FF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(2)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D11202-2A5E-1C91-7695-C2C83A0C4279}"/>
              </a:ext>
            </a:extLst>
          </p:cNvPr>
          <p:cNvGraphicFramePr>
            <a:graphicFrameLocks noGrp="1"/>
          </p:cNvGraphicFramePr>
          <p:nvPr/>
        </p:nvGraphicFramePr>
        <p:xfrm>
          <a:off x="2911290" y="274034"/>
          <a:ext cx="6596266" cy="128048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596266">
                  <a:extLst>
                    <a:ext uri="{9D8B030D-6E8A-4147-A177-3AD203B41FA5}">
                      <a16:colId xmlns:a16="http://schemas.microsoft.com/office/drawing/2014/main" val="3859239714"/>
                    </a:ext>
                  </a:extLst>
                </a:gridCol>
              </a:tblGrid>
              <a:tr h="411631">
                <a:tc>
                  <a:txBody>
                    <a:bodyPr/>
                    <a:lstStyle/>
                    <a:p>
                      <a:r>
                        <a:rPr lang="en-GB" dirty="0"/>
                        <a:t>Summary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15783"/>
                  </a:ext>
                </a:extLst>
              </a:tr>
              <a:tr h="457221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dirty="0"/>
                        <a:t>High differential expression in protease dose 24 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µg/cm</a:t>
                      </a:r>
                      <a:r>
                        <a:rPr lang="en-GB" sz="1800" kern="1200" baseline="300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029511"/>
                  </a:ext>
                </a:extLst>
              </a:tr>
              <a:tr h="411631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GB" dirty="0"/>
                        <a:t>Minimal differential expression in Calu-3 samples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40582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AAA172E-EC03-0458-10FB-A7C50217A8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302" t="8505" r="23375" b="54213"/>
          <a:stretch>
            <a:fillRect/>
          </a:stretch>
        </p:blipFill>
        <p:spPr>
          <a:xfrm>
            <a:off x="2034460" y="2180410"/>
            <a:ext cx="3904735" cy="8400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5B1375-F2A0-0F21-3EE6-C49EE2BAEA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717" t="71274" r="23377"/>
          <a:stretch>
            <a:fillRect/>
          </a:stretch>
        </p:blipFill>
        <p:spPr>
          <a:xfrm>
            <a:off x="6021574" y="2180409"/>
            <a:ext cx="3031524" cy="8400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AF91F2-1485-D3A1-EF20-B71AEA2E0FEE}"/>
              </a:ext>
            </a:extLst>
          </p:cNvPr>
          <p:cNvSpPr txBox="1"/>
          <p:nvPr/>
        </p:nvSpPr>
        <p:spPr>
          <a:xfrm>
            <a:off x="3088101" y="1898779"/>
            <a:ext cx="2454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Primary HBEC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7FA649-F5C3-C6F5-86BB-AAE849D90C26}"/>
              </a:ext>
            </a:extLst>
          </p:cNvPr>
          <p:cNvSpPr txBox="1"/>
          <p:nvPr/>
        </p:nvSpPr>
        <p:spPr>
          <a:xfrm>
            <a:off x="7235006" y="1898779"/>
            <a:ext cx="2454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Calu-3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A752D2-3F8A-070C-B990-8D788E75E97C}"/>
              </a:ext>
            </a:extLst>
          </p:cNvPr>
          <p:cNvCxnSpPr>
            <a:cxnSpLocks/>
          </p:cNvCxnSpPr>
          <p:nvPr/>
        </p:nvCxnSpPr>
        <p:spPr>
          <a:xfrm>
            <a:off x="6021574" y="1878607"/>
            <a:ext cx="0" cy="36424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6099CA9-5F73-24C5-7E56-44E87BD48D9A}"/>
              </a:ext>
            </a:extLst>
          </p:cNvPr>
          <p:cNvGrpSpPr/>
          <p:nvPr/>
        </p:nvGrpSpPr>
        <p:grpSpPr>
          <a:xfrm>
            <a:off x="6073600" y="4930686"/>
            <a:ext cx="3100522" cy="328259"/>
            <a:chOff x="6065648" y="4941794"/>
            <a:chExt cx="3100522" cy="32825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B8A322-6757-C38B-445B-159ED9F99C78}"/>
                </a:ext>
              </a:extLst>
            </p:cNvPr>
            <p:cNvSpPr txBox="1"/>
            <p:nvPr/>
          </p:nvSpPr>
          <p:spPr>
            <a:xfrm>
              <a:off x="6065648" y="4941794"/>
              <a:ext cx="1109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/>
                <a:t>FDR &lt; 0.05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0BFE048-D540-1E20-99D3-95810055048F}"/>
                </a:ext>
              </a:extLst>
            </p:cNvPr>
            <p:cNvSpPr txBox="1"/>
            <p:nvPr/>
          </p:nvSpPr>
          <p:spPr>
            <a:xfrm>
              <a:off x="8056789" y="4993054"/>
              <a:ext cx="1109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/>
                <a:t>FDR &lt; 0.2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419BBC36-D15A-9E54-AF05-C3C1417CF76B}"/>
              </a:ext>
            </a:extLst>
          </p:cNvPr>
          <p:cNvSpPr txBox="1"/>
          <p:nvPr/>
        </p:nvSpPr>
        <p:spPr>
          <a:xfrm>
            <a:off x="1926818" y="5857526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derived from thesis Figure 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DCF1F4-3241-FB05-A11B-335546F90441}"/>
              </a:ext>
            </a:extLst>
          </p:cNvPr>
          <p:cNvSpPr/>
          <p:nvPr/>
        </p:nvSpPr>
        <p:spPr>
          <a:xfrm>
            <a:off x="7969923" y="5258945"/>
            <a:ext cx="1083175" cy="1799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4154D1-4C0B-B182-845A-CF33F29EC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8</a:t>
            </a:fld>
            <a:endParaRPr lang="en-GB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9C4182A-3339-6616-5C6C-39B4EED370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6385" t="52917"/>
          <a:stretch>
            <a:fillRect/>
          </a:stretch>
        </p:blipFill>
        <p:spPr>
          <a:xfrm>
            <a:off x="9131328" y="2929799"/>
            <a:ext cx="1194469" cy="289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54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2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23" grpId="0"/>
      <p:bldP spid="24" grpId="0" animBg="1"/>
      <p:bldP spid="24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CF628-1234-0BA3-EDA4-8359FEA6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44C97A-9BAC-07AF-A7FD-A4744A7328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1"/>
          <a:stretch>
            <a:fillRect/>
          </a:stretch>
        </p:blipFill>
        <p:spPr>
          <a:xfrm>
            <a:off x="539119" y="1942759"/>
            <a:ext cx="6402248" cy="405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ECCF83-33BE-2E00-491F-97DA3FCDC01C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(3)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0B2F4D-2ED1-6AB7-E1D8-2327A6CB4117}"/>
              </a:ext>
            </a:extLst>
          </p:cNvPr>
          <p:cNvGraphicFramePr>
            <a:graphicFrameLocks noGrp="1"/>
          </p:cNvGraphicFramePr>
          <p:nvPr/>
        </p:nvGraphicFramePr>
        <p:xfrm>
          <a:off x="7331242" y="4365666"/>
          <a:ext cx="4530783" cy="17448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4530783">
                  <a:extLst>
                    <a:ext uri="{9D8B030D-6E8A-4147-A177-3AD203B41FA5}">
                      <a16:colId xmlns:a16="http://schemas.microsoft.com/office/drawing/2014/main" val="3859239714"/>
                    </a:ext>
                  </a:extLst>
                </a:gridCol>
              </a:tblGrid>
              <a:tr h="490817">
                <a:tc>
                  <a:txBody>
                    <a:bodyPr/>
                    <a:lstStyle/>
                    <a:p>
                      <a:r>
                        <a:rPr lang="en-GB" dirty="0"/>
                        <a:t>Summary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15783"/>
                  </a:ext>
                </a:extLst>
              </a:tr>
              <a:tr h="763213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dirty="0"/>
                        <a:t>More pathways from target gene-level enrichment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029511"/>
                  </a:ext>
                </a:extLst>
              </a:tr>
              <a:tr h="490817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GB" dirty="0"/>
                        <a:t>Biologically plausible pathways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4058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C5FCAF-A8C5-33CC-DB2B-EEF46C51A5D9}"/>
              </a:ext>
            </a:extLst>
          </p:cNvPr>
          <p:cNvSpPr txBox="1"/>
          <p:nvPr/>
        </p:nvSpPr>
        <p:spPr>
          <a:xfrm>
            <a:off x="510896" y="5990224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derived from thesis Figure 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1CD5EF-F269-4BC0-42FE-055C0B5249D8}"/>
              </a:ext>
            </a:extLst>
          </p:cNvPr>
          <p:cNvSpPr txBox="1"/>
          <p:nvPr/>
        </p:nvSpPr>
        <p:spPr>
          <a:xfrm>
            <a:off x="1872514" y="1347804"/>
            <a:ext cx="1219828" cy="52322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b="1" dirty="0"/>
              <a:t>Upregulated</a:t>
            </a:r>
          </a:p>
          <a:p>
            <a:r>
              <a:rPr lang="en-GB" sz="1400" b="1" dirty="0"/>
              <a:t>N = 164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373D75-49E7-89F1-5C28-58AD93B61B19}"/>
              </a:ext>
            </a:extLst>
          </p:cNvPr>
          <p:cNvSpPr txBox="1"/>
          <p:nvPr/>
        </p:nvSpPr>
        <p:spPr>
          <a:xfrm>
            <a:off x="539119" y="839300"/>
            <a:ext cx="4764506" cy="368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/>
              <a:t>Target gene-level enrichment</a:t>
            </a:r>
            <a:r>
              <a:rPr lang="en-GB" dirty="0"/>
              <a:t> (ORA)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06DFC3-598A-31D7-E47F-161C2B18B6FA}"/>
              </a:ext>
            </a:extLst>
          </p:cNvPr>
          <p:cNvSpPr txBox="1"/>
          <p:nvPr/>
        </p:nvSpPr>
        <p:spPr>
          <a:xfrm>
            <a:off x="5001299" y="1347804"/>
            <a:ext cx="1443530" cy="52322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b="1" dirty="0"/>
              <a:t>Downregulated</a:t>
            </a:r>
          </a:p>
          <a:p>
            <a:r>
              <a:rPr lang="en-GB" sz="1400" b="1" dirty="0"/>
              <a:t>N = 464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C385D8B-168F-C30E-C43C-1298A3E56A19}"/>
              </a:ext>
            </a:extLst>
          </p:cNvPr>
          <p:cNvSpPr/>
          <p:nvPr/>
        </p:nvSpPr>
        <p:spPr>
          <a:xfrm>
            <a:off x="446124" y="762000"/>
            <a:ext cx="6495242" cy="5497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D87FADB-FAAD-B41A-C1E0-94932ADE5FC0}"/>
              </a:ext>
            </a:extLst>
          </p:cNvPr>
          <p:cNvGrpSpPr/>
          <p:nvPr/>
        </p:nvGrpSpPr>
        <p:grpSpPr>
          <a:xfrm>
            <a:off x="7418175" y="761999"/>
            <a:ext cx="6907279" cy="3120189"/>
            <a:chOff x="7418175" y="761999"/>
            <a:chExt cx="6907279" cy="3120189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7D67E69-DF2C-54EF-DD62-6003D3618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300" t="48946" r="26257" b="45666"/>
            <a:stretch>
              <a:fillRect/>
            </a:stretch>
          </p:blipFill>
          <p:spPr>
            <a:xfrm>
              <a:off x="7418176" y="2662269"/>
              <a:ext cx="3765176" cy="24204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67DA203-2A10-A9DF-F931-02AA4FAFC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3512" t="3742" r="22884" b="12388"/>
            <a:stretch>
              <a:fillRect/>
            </a:stretch>
          </p:blipFill>
          <p:spPr>
            <a:xfrm rot="16200000">
              <a:off x="9838243" y="467532"/>
              <a:ext cx="280147" cy="376741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113B52F-5F4A-FB6C-20A1-50D282AE2F20}"/>
                </a:ext>
              </a:extLst>
            </p:cNvPr>
            <p:cNvSpPr txBox="1"/>
            <p:nvPr/>
          </p:nvSpPr>
          <p:spPr>
            <a:xfrm>
              <a:off x="7519335" y="864327"/>
              <a:ext cx="4764506" cy="368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miRNA-level enrichment</a:t>
              </a:r>
              <a:r>
                <a:rPr lang="en-GB" dirty="0"/>
                <a:t> (ORA)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DB1A577-811C-DA31-011A-A58012A27C4E}"/>
                </a:ext>
              </a:extLst>
            </p:cNvPr>
            <p:cNvSpPr txBox="1"/>
            <p:nvPr/>
          </p:nvSpPr>
          <p:spPr>
            <a:xfrm>
              <a:off x="9114897" y="1347804"/>
              <a:ext cx="121982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Upregulated</a:t>
              </a:r>
            </a:p>
            <a:p>
              <a:r>
                <a:rPr lang="en-GB" sz="1400" b="1" dirty="0"/>
                <a:t>N = 2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1CE4EBE-A3F8-C43D-3AE2-9AFDF2083BCD}"/>
                </a:ext>
              </a:extLst>
            </p:cNvPr>
            <p:cNvSpPr/>
            <p:nvPr/>
          </p:nvSpPr>
          <p:spPr>
            <a:xfrm>
              <a:off x="7418175" y="761999"/>
              <a:ext cx="4443850" cy="3120189"/>
            </a:xfrm>
            <a:prstGeom prst="rect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93CD48C-70E0-348F-ABDF-4738A43BC064}"/>
                </a:ext>
              </a:extLst>
            </p:cNvPr>
            <p:cNvSpPr txBox="1"/>
            <p:nvPr/>
          </p:nvSpPr>
          <p:spPr>
            <a:xfrm>
              <a:off x="7418175" y="3596807"/>
              <a:ext cx="690727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dirty="0"/>
                <a:t>Figure generated by </a:t>
              </a:r>
              <a:r>
                <a:rPr lang="en-GB" sz="1000" dirty="0" err="1"/>
                <a:t>miEAA</a:t>
              </a:r>
              <a:r>
                <a:rPr lang="en-GB" sz="1000" dirty="0"/>
                <a:t> 2.0: </a:t>
              </a:r>
              <a:r>
                <a:rPr lang="en-GB" sz="900" dirty="0"/>
                <a:t>https://ccb-compute2.cs.uni-saarland.de/mieaa2/</a:t>
              </a:r>
              <a:endParaRPr lang="en-GB" sz="1000" dirty="0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1821B-AA18-FB95-3051-5EAC64200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412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2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 animBg="1"/>
      <p:bldP spid="19" grpId="0"/>
      <p:bldP spid="21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4A2E-97FA-7758-3EF6-AA7DA6673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D782DF-C804-ED49-03A0-F68AC52F46D8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(4)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5ECD43-FD47-B1C7-211B-8E5CD99A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440134"/>
              </p:ext>
            </p:extLst>
          </p:nvPr>
        </p:nvGraphicFramePr>
        <p:xfrm>
          <a:off x="4652210" y="244642"/>
          <a:ext cx="6665495" cy="982579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665495">
                  <a:extLst>
                    <a:ext uri="{9D8B030D-6E8A-4147-A177-3AD203B41FA5}">
                      <a16:colId xmlns:a16="http://schemas.microsoft.com/office/drawing/2014/main" val="3859239714"/>
                    </a:ext>
                  </a:extLst>
                </a:gridCol>
              </a:tblGrid>
              <a:tr h="384573">
                <a:tc>
                  <a:txBody>
                    <a:bodyPr/>
                    <a:lstStyle/>
                    <a:p>
                      <a:r>
                        <a:rPr lang="en-GB" dirty="0"/>
                        <a:t>Summary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15783"/>
                  </a:ext>
                </a:extLst>
              </a:tr>
              <a:tr h="598006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dirty="0"/>
                        <a:t>Greater support for miR-125b-5p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029511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387444D5-FAD7-4F6F-AE4C-6A002B77B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208" y="1845335"/>
            <a:ext cx="4320000" cy="432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CB574D-1F93-E391-0A6C-BA97E40C7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634" y="1771990"/>
            <a:ext cx="4320000" cy="432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E9C96D1-C9E1-6DD7-CCA1-F75E575E787E}"/>
              </a:ext>
            </a:extLst>
          </p:cNvPr>
          <p:cNvSpPr txBox="1"/>
          <p:nvPr/>
        </p:nvSpPr>
        <p:spPr>
          <a:xfrm>
            <a:off x="2466067" y="1725287"/>
            <a:ext cx="2258328" cy="5847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miR-125b-5p</a:t>
            </a:r>
          </a:p>
          <a:p>
            <a:r>
              <a:rPr lang="en-GB" sz="1400" dirty="0"/>
              <a:t>Total Publications = 324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EDB33A-14B7-F1B2-56B5-B7D9FA52A179}"/>
              </a:ext>
            </a:extLst>
          </p:cNvPr>
          <p:cNvSpPr txBox="1"/>
          <p:nvPr/>
        </p:nvSpPr>
        <p:spPr>
          <a:xfrm>
            <a:off x="7640741" y="1725287"/>
            <a:ext cx="2258328" cy="5847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miR-574-5p</a:t>
            </a:r>
          </a:p>
          <a:p>
            <a:r>
              <a:rPr lang="en-GB" sz="1400" dirty="0"/>
              <a:t>Total Publications = 65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B7EC29-FD23-EA16-0E00-259F60C2ADD0}"/>
              </a:ext>
            </a:extLst>
          </p:cNvPr>
          <p:cNvSpPr txBox="1"/>
          <p:nvPr/>
        </p:nvSpPr>
        <p:spPr>
          <a:xfrm>
            <a:off x="510896" y="5990224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created in RStudio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CC71F4-1944-8D0F-D2C4-53DC5125B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047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49F3-23B2-EA8B-70CD-E643F55F7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21A446-84CF-A2AC-B983-6786FE723B61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Interpretation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0D600F-E290-B368-DA21-F2CD20E0F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834719"/>
              </p:ext>
            </p:extLst>
          </p:nvPr>
        </p:nvGraphicFramePr>
        <p:xfrm>
          <a:off x="490481" y="1389211"/>
          <a:ext cx="8128000" cy="1277268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308488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Aim: Create transcriptomics workflow using primary HBECs</a:t>
                      </a: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714239"/>
                  </a:ext>
                </a:extLst>
              </a:tr>
              <a:tr h="455754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Biologically plausible pathways identified</a:t>
                      </a:r>
                      <a:endParaRPr lang="en-GB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7245567"/>
                  </a:ext>
                </a:extLst>
              </a:tr>
              <a:tr h="455754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 startAt="2"/>
                      </a:pPr>
                      <a:r>
                        <a:rPr lang="en-GB" dirty="0"/>
                        <a:t>Target gene-level enrichment more informative than miRNA-level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137938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81C6A90-1B30-C2FB-258F-E8BCE7D8F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317037"/>
              </p:ext>
            </p:extLst>
          </p:nvPr>
        </p:nvGraphicFramePr>
        <p:xfrm>
          <a:off x="490481" y="3092505"/>
          <a:ext cx="8128000" cy="1277268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308488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Aim: </a:t>
                      </a:r>
                      <a:r>
                        <a:rPr lang="en-GB" sz="1800" dirty="0">
                          <a:solidFill>
                            <a:schemeClr val="bg1"/>
                          </a:solidFill>
                        </a:rPr>
                        <a:t>Apply the workflow to the Calu-3 dataset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714239"/>
                  </a:ext>
                </a:extLst>
              </a:tr>
              <a:tr h="455754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Limited miRNA abundance constrained analyses</a:t>
                      </a:r>
                      <a:endParaRPr lang="en-GB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7245567"/>
                  </a:ext>
                </a:extLst>
              </a:tr>
              <a:tr h="455754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 startAt="2"/>
                      </a:pPr>
                      <a:r>
                        <a:rPr lang="en-GB" dirty="0"/>
                        <a:t>More support for miR-125-5p than 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miR-574-5p 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137938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B392A9-E042-A93F-9AAD-CC85E4B5E1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520701"/>
              </p:ext>
            </p:extLst>
          </p:nvPr>
        </p:nvGraphicFramePr>
        <p:xfrm>
          <a:off x="490481" y="4795799"/>
          <a:ext cx="8128000" cy="821514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308488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dirty="0">
                          <a:solidFill>
                            <a:schemeClr val="bg1"/>
                          </a:solidFill>
                        </a:rPr>
                        <a:t>Additional Finding</a:t>
                      </a:r>
                    </a:p>
                  </a:txBody>
                  <a:tcPr>
                    <a:lnL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714239"/>
                  </a:ext>
                </a:extLst>
              </a:tr>
              <a:tr h="455754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Distinct rRNA and tRNA profiles in 24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effectLst/>
                        </a:rPr>
                        <a:t>μg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effectLst/>
                        </a:rPr>
                        <a:t>/cm² protease samples</a:t>
                      </a:r>
                      <a:endParaRPr lang="en-GB" sz="18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724556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473108-2E5D-9FFB-04AF-F0884841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94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066DA-B016-3649-BE34-0AAEB67A1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58">
            <a:extLst>
              <a:ext uri="{FF2B5EF4-FFF2-40B4-BE49-F238E27FC236}">
                <a16:creationId xmlns:a16="http://schemas.microsoft.com/office/drawing/2014/main" id="{4D82814D-250B-8D48-ACB3-4704EC7EFC20}"/>
              </a:ext>
            </a:extLst>
          </p:cNvPr>
          <p:cNvSpPr/>
          <p:nvPr/>
        </p:nvSpPr>
        <p:spPr>
          <a:xfrm>
            <a:off x="1236208" y="1822109"/>
            <a:ext cx="4373946" cy="1178718"/>
          </a:xfrm>
          <a:custGeom>
            <a:avLst/>
            <a:gdLst>
              <a:gd name="csX0" fmla="*/ 774553 w 4373946"/>
              <a:gd name="csY0" fmla="*/ 0 h 1178718"/>
              <a:gd name="csX1" fmla="*/ 4373946 w 4373946"/>
              <a:gd name="csY1" fmla="*/ 0 h 1178718"/>
              <a:gd name="csX2" fmla="*/ 4373946 w 4373946"/>
              <a:gd name="csY2" fmla="*/ 1178718 h 1178718"/>
              <a:gd name="csX3" fmla="*/ 0 w 4373946"/>
              <a:gd name="csY3" fmla="*/ 1178718 h 1178718"/>
              <a:gd name="csX4" fmla="*/ 0 w 4373946"/>
              <a:gd name="csY4" fmla="*/ 1067395 h 1178718"/>
              <a:gd name="csX5" fmla="*/ 774553 w 4373946"/>
              <a:gd name="csY5" fmla="*/ 1067395 h 1178718"/>
              <a:gd name="csX6" fmla="*/ 774553 w 4373946"/>
              <a:gd name="csY6" fmla="*/ 0 h 1178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373946" h="1178718">
                <a:moveTo>
                  <a:pt x="774553" y="0"/>
                </a:moveTo>
                <a:lnTo>
                  <a:pt x="4373946" y="0"/>
                </a:lnTo>
                <a:lnTo>
                  <a:pt x="4373946" y="1178718"/>
                </a:lnTo>
                <a:lnTo>
                  <a:pt x="0" y="1178718"/>
                </a:lnTo>
                <a:lnTo>
                  <a:pt x="0" y="1067395"/>
                </a:lnTo>
                <a:lnTo>
                  <a:pt x="774553" y="1067395"/>
                </a:lnTo>
                <a:lnTo>
                  <a:pt x="774553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 wrap="square" lIns="3600" anchor="ctr">
            <a:noAutofit/>
          </a:bodyPr>
          <a:lstStyle/>
          <a:p>
            <a:pPr lvl="3" defTabSz="2400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sz="2000" dirty="0">
                <a:solidFill>
                  <a:schemeClr val="tx1"/>
                </a:solidFill>
              </a:rPr>
              <a:t>Low Calu-3 miRNA abundance</a:t>
            </a: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D825FC62-C9E4-4D8B-FE00-E107B55DC091}"/>
              </a:ext>
            </a:extLst>
          </p:cNvPr>
          <p:cNvSpPr/>
          <p:nvPr/>
        </p:nvSpPr>
        <p:spPr>
          <a:xfrm>
            <a:off x="6721408" y="3703970"/>
            <a:ext cx="4373946" cy="1178718"/>
          </a:xfrm>
          <a:custGeom>
            <a:avLst/>
            <a:gdLst>
              <a:gd name="csX0" fmla="*/ 774553 w 4373946"/>
              <a:gd name="csY0" fmla="*/ 0 h 1178718"/>
              <a:gd name="csX1" fmla="*/ 4373946 w 4373946"/>
              <a:gd name="csY1" fmla="*/ 0 h 1178718"/>
              <a:gd name="csX2" fmla="*/ 4373946 w 4373946"/>
              <a:gd name="csY2" fmla="*/ 1178718 h 1178718"/>
              <a:gd name="csX3" fmla="*/ 0 w 4373946"/>
              <a:gd name="csY3" fmla="*/ 1178718 h 1178718"/>
              <a:gd name="csX4" fmla="*/ 0 w 4373946"/>
              <a:gd name="csY4" fmla="*/ 1067395 h 1178718"/>
              <a:gd name="csX5" fmla="*/ 774553 w 4373946"/>
              <a:gd name="csY5" fmla="*/ 1067395 h 1178718"/>
              <a:gd name="csX6" fmla="*/ 774553 w 4373946"/>
              <a:gd name="csY6" fmla="*/ 0 h 1178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373946" h="1178718">
                <a:moveTo>
                  <a:pt x="774553" y="0"/>
                </a:moveTo>
                <a:lnTo>
                  <a:pt x="4373946" y="0"/>
                </a:lnTo>
                <a:lnTo>
                  <a:pt x="4373946" y="1178718"/>
                </a:lnTo>
                <a:lnTo>
                  <a:pt x="0" y="1178718"/>
                </a:lnTo>
                <a:lnTo>
                  <a:pt x="0" y="1067395"/>
                </a:lnTo>
                <a:lnTo>
                  <a:pt x="774553" y="1067395"/>
                </a:lnTo>
                <a:lnTo>
                  <a:pt x="774553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 wrap="square" lIns="3600" anchor="ctr">
            <a:noAutofit/>
          </a:bodyPr>
          <a:lstStyle/>
          <a:p>
            <a:pPr lvl="3"/>
            <a:r>
              <a:rPr lang="en-GB" sz="2000" dirty="0">
                <a:solidFill>
                  <a:schemeClr val="tx1"/>
                </a:solidFill>
              </a:rPr>
              <a:t>No network-based enrichment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31F752C2-68C5-9DCF-AD99-8F78FED06B08}"/>
              </a:ext>
            </a:extLst>
          </p:cNvPr>
          <p:cNvSpPr/>
          <p:nvPr/>
        </p:nvSpPr>
        <p:spPr>
          <a:xfrm>
            <a:off x="1116322" y="3703970"/>
            <a:ext cx="4493831" cy="1178718"/>
          </a:xfrm>
          <a:custGeom>
            <a:avLst/>
            <a:gdLst>
              <a:gd name="csX0" fmla="*/ 865212 w 4373946"/>
              <a:gd name="csY0" fmla="*/ 0 h 1178718"/>
              <a:gd name="csX1" fmla="*/ 4373946 w 4373946"/>
              <a:gd name="csY1" fmla="*/ 0 h 1178718"/>
              <a:gd name="csX2" fmla="*/ 4373946 w 4373946"/>
              <a:gd name="csY2" fmla="*/ 1178718 h 1178718"/>
              <a:gd name="csX3" fmla="*/ 0 w 4373946"/>
              <a:gd name="csY3" fmla="*/ 1178718 h 1178718"/>
              <a:gd name="csX4" fmla="*/ 0 w 4373946"/>
              <a:gd name="csY4" fmla="*/ 1067395 h 1178718"/>
              <a:gd name="csX5" fmla="*/ 865212 w 4373946"/>
              <a:gd name="csY5" fmla="*/ 1067395 h 1178718"/>
              <a:gd name="csX6" fmla="*/ 865212 w 4373946"/>
              <a:gd name="csY6" fmla="*/ 0 h 1178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373946" h="1178718">
                <a:moveTo>
                  <a:pt x="865212" y="0"/>
                </a:moveTo>
                <a:lnTo>
                  <a:pt x="4373946" y="0"/>
                </a:lnTo>
                <a:lnTo>
                  <a:pt x="4373946" y="1178718"/>
                </a:lnTo>
                <a:lnTo>
                  <a:pt x="0" y="1178718"/>
                </a:lnTo>
                <a:lnTo>
                  <a:pt x="0" y="1067395"/>
                </a:lnTo>
                <a:lnTo>
                  <a:pt x="865212" y="1067395"/>
                </a:lnTo>
                <a:lnTo>
                  <a:pt x="865212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 wrap="square" lIns="3600" anchor="ctr">
            <a:noAutofit/>
          </a:bodyPr>
          <a:lstStyle/>
          <a:p>
            <a:pPr lvl="3" defTabSz="2400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sz="2000" dirty="0">
                <a:solidFill>
                  <a:schemeClr val="tx1"/>
                </a:solidFill>
              </a:rPr>
              <a:t>No context-specific </a:t>
            </a:r>
          </a:p>
          <a:p>
            <a:pPr lvl="3" defTabSz="2400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sz="2000" dirty="0">
                <a:solidFill>
                  <a:schemeClr val="tx1"/>
                </a:solidFill>
              </a:rPr>
              <a:t>filtering</a:t>
            </a: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F0A4BBD5-64A1-E241-9E4E-28319B93789F}"/>
              </a:ext>
            </a:extLst>
          </p:cNvPr>
          <p:cNvSpPr/>
          <p:nvPr/>
        </p:nvSpPr>
        <p:spPr>
          <a:xfrm>
            <a:off x="6623785" y="1818496"/>
            <a:ext cx="4373946" cy="1178718"/>
          </a:xfrm>
          <a:custGeom>
            <a:avLst/>
            <a:gdLst>
              <a:gd name="csX0" fmla="*/ 872176 w 4373946"/>
              <a:gd name="csY0" fmla="*/ 0 h 1178718"/>
              <a:gd name="csX1" fmla="*/ 4373946 w 4373946"/>
              <a:gd name="csY1" fmla="*/ 0 h 1178718"/>
              <a:gd name="csX2" fmla="*/ 4373946 w 4373946"/>
              <a:gd name="csY2" fmla="*/ 1178718 h 1178718"/>
              <a:gd name="csX3" fmla="*/ 0 w 4373946"/>
              <a:gd name="csY3" fmla="*/ 1178718 h 1178718"/>
              <a:gd name="csX4" fmla="*/ 0 w 4373946"/>
              <a:gd name="csY4" fmla="*/ 1067395 h 1178718"/>
              <a:gd name="csX5" fmla="*/ 872176 w 4373946"/>
              <a:gd name="csY5" fmla="*/ 1067395 h 1178718"/>
              <a:gd name="csX6" fmla="*/ 872176 w 4373946"/>
              <a:gd name="csY6" fmla="*/ 0 h 1178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373946" h="1178718">
                <a:moveTo>
                  <a:pt x="872176" y="0"/>
                </a:moveTo>
                <a:lnTo>
                  <a:pt x="4373946" y="0"/>
                </a:lnTo>
                <a:lnTo>
                  <a:pt x="4373946" y="1178718"/>
                </a:lnTo>
                <a:lnTo>
                  <a:pt x="0" y="1178718"/>
                </a:lnTo>
                <a:lnTo>
                  <a:pt x="0" y="1067395"/>
                </a:lnTo>
                <a:lnTo>
                  <a:pt x="872176" y="1067395"/>
                </a:lnTo>
                <a:lnTo>
                  <a:pt x="872176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 wrap="square" lIns="3600" anchor="ctr">
            <a:noAutofit/>
          </a:bodyPr>
          <a:lstStyle/>
          <a:p>
            <a:pPr lvl="3" defTabSz="2400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sz="2000" dirty="0">
                <a:solidFill>
                  <a:schemeClr val="tx1"/>
                </a:solidFill>
              </a:rPr>
              <a:t>No outlier sample </a:t>
            </a:r>
          </a:p>
          <a:p>
            <a:pPr lvl="3" defTabSz="2400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sz="2000" dirty="0">
                <a:solidFill>
                  <a:schemeClr val="tx1"/>
                </a:solidFill>
              </a:rPr>
              <a:t>filtering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BC5680C-EE5D-FDFB-24CB-046F0929EDD3}"/>
              </a:ext>
            </a:extLst>
          </p:cNvPr>
          <p:cNvSpPr/>
          <p:nvPr/>
        </p:nvSpPr>
        <p:spPr>
          <a:xfrm>
            <a:off x="876985" y="1651850"/>
            <a:ext cx="1133776" cy="1237654"/>
          </a:xfrm>
          <a:prstGeom prst="rect">
            <a:avLst/>
          </a:prstGeom>
          <a:solidFill>
            <a:schemeClr val="dk2">
              <a:tint val="50000"/>
              <a:hueOff val="0"/>
              <a:satOff val="0"/>
              <a:lumOff val="0"/>
              <a:alpha val="77000"/>
            </a:schemeClr>
          </a:solidFill>
          <a:ln>
            <a:solidFill>
              <a:srgbClr val="215F9A">
                <a:alpha val="60000"/>
              </a:srgbClr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1EA39B-0055-BD92-FC99-A0C51A0C7C64}"/>
              </a:ext>
            </a:extLst>
          </p:cNvPr>
          <p:cNvSpPr/>
          <p:nvPr/>
        </p:nvSpPr>
        <p:spPr>
          <a:xfrm>
            <a:off x="6362185" y="1648237"/>
            <a:ext cx="1133776" cy="1237654"/>
          </a:xfrm>
          <a:prstGeom prst="rect">
            <a:avLst/>
          </a:prstGeom>
          <a:solidFill>
            <a:schemeClr val="dk2">
              <a:tint val="50000"/>
              <a:hueOff val="0"/>
              <a:satOff val="0"/>
              <a:lumOff val="0"/>
              <a:alpha val="77000"/>
            </a:schemeClr>
          </a:solidFill>
          <a:ln>
            <a:solidFill>
              <a:srgbClr val="215F9A">
                <a:alpha val="60000"/>
              </a:srgbClr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0D4C7C3-27F5-8767-BFA8-38435615F7D9}"/>
              </a:ext>
            </a:extLst>
          </p:cNvPr>
          <p:cNvSpPr/>
          <p:nvPr/>
        </p:nvSpPr>
        <p:spPr>
          <a:xfrm>
            <a:off x="6362185" y="3533711"/>
            <a:ext cx="1133776" cy="1237654"/>
          </a:xfrm>
          <a:prstGeom prst="rect">
            <a:avLst/>
          </a:prstGeom>
          <a:solidFill>
            <a:schemeClr val="dk2">
              <a:tint val="50000"/>
              <a:hueOff val="0"/>
              <a:satOff val="0"/>
              <a:lumOff val="0"/>
              <a:alpha val="77000"/>
            </a:schemeClr>
          </a:solidFill>
          <a:ln>
            <a:solidFill>
              <a:srgbClr val="215F9A">
                <a:alpha val="60000"/>
              </a:srgbClr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C0337-51AF-A9DB-BF15-1AB604179A64}"/>
              </a:ext>
            </a:extLst>
          </p:cNvPr>
          <p:cNvSpPr txBox="1"/>
          <p:nvPr/>
        </p:nvSpPr>
        <p:spPr>
          <a:xfrm>
            <a:off x="304800" y="228600"/>
            <a:ext cx="335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Limitations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767F8D2-FECB-2EB9-DB80-88A89E20A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45880" y="1799393"/>
            <a:ext cx="952457" cy="93533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50D367E-2042-21E9-6E39-2B138E565F0D}"/>
              </a:ext>
            </a:extLst>
          </p:cNvPr>
          <p:cNvSpPr/>
          <p:nvPr/>
        </p:nvSpPr>
        <p:spPr>
          <a:xfrm>
            <a:off x="876986" y="3533711"/>
            <a:ext cx="1133776" cy="1237654"/>
          </a:xfrm>
          <a:prstGeom prst="rect">
            <a:avLst/>
          </a:prstGeom>
          <a:solidFill>
            <a:schemeClr val="dk2">
              <a:tint val="50000"/>
              <a:hueOff val="0"/>
              <a:satOff val="0"/>
              <a:lumOff val="0"/>
              <a:alpha val="77000"/>
            </a:schemeClr>
          </a:solidFill>
          <a:ln>
            <a:solidFill>
              <a:srgbClr val="215F9A">
                <a:alpha val="60000"/>
              </a:srgbClr>
            </a:solidFill>
          </a:ln>
        </p:spPr>
        <p:style>
          <a:lnRef idx="2">
            <a:schemeClr val="lt2">
              <a:hueOff val="0"/>
              <a:satOff val="0"/>
              <a:lumOff val="0"/>
              <a:alphaOff val="0"/>
            </a:schemeClr>
          </a:lnRef>
          <a:fillRef idx="1">
            <a:schemeClr val="dk2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dk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2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8806550B-FA0F-49CD-B13F-816EE6E393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76985" y="1869828"/>
            <a:ext cx="430177" cy="570166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B6696A67-3F44-E2BE-2F25-A4DC93588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207817" y="1869828"/>
            <a:ext cx="430177" cy="570166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2807D5E-7788-AE98-AFB3-4B7B665D5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538648" y="1869828"/>
            <a:ext cx="430177" cy="57016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72024E70-A5FF-1E97-D2D9-33399C54A2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13" t="71274" r="23376"/>
          <a:stretch>
            <a:fillRect/>
          </a:stretch>
        </p:blipFill>
        <p:spPr>
          <a:xfrm>
            <a:off x="835048" y="2439994"/>
            <a:ext cx="1133777" cy="37917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8572A19-8B99-E9AA-4349-8BAE48A62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38516" y="3752217"/>
            <a:ext cx="810713" cy="7609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FC696C-B573-DE30-CB4F-BE11C6368F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362185" y="3666826"/>
            <a:ext cx="1133776" cy="86275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F573643-69D7-76AB-2835-6046A41A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0355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B389-642D-EDE5-F95A-DF66B187D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4590515-21AB-7481-23DC-9F7A44CA938E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Experimental Design Optimisations</a:t>
            </a:r>
          </a:p>
        </p:txBody>
      </p: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7930E269-D74F-AF76-B617-7CC74B9BEBA0}"/>
              </a:ext>
            </a:extLst>
          </p:cNvPr>
          <p:cNvGrpSpPr/>
          <p:nvPr/>
        </p:nvGrpSpPr>
        <p:grpSpPr>
          <a:xfrm>
            <a:off x="833274" y="1898185"/>
            <a:ext cx="3151327" cy="3123406"/>
            <a:chOff x="833274" y="1898185"/>
            <a:chExt cx="3151327" cy="3123406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E8806DFD-8FA2-9AB4-58A6-3066A93B0369}"/>
                </a:ext>
              </a:extLst>
            </p:cNvPr>
            <p:cNvGrpSpPr/>
            <p:nvPr/>
          </p:nvGrpSpPr>
          <p:grpSpPr>
            <a:xfrm>
              <a:off x="861195" y="1898185"/>
              <a:ext cx="3123406" cy="3123406"/>
              <a:chOff x="4676730" y="1797059"/>
              <a:chExt cx="3123406" cy="3123406"/>
            </a:xfrm>
          </p:grpSpPr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349EB149-2A86-896D-DDD8-6B75C40FEEE6}"/>
                  </a:ext>
                </a:extLst>
              </p:cNvPr>
              <p:cNvSpPr/>
              <p:nvPr/>
            </p:nvSpPr>
            <p:spPr>
              <a:xfrm>
                <a:off x="4676730" y="1797059"/>
                <a:ext cx="3123406" cy="3123406"/>
              </a:xfrm>
              <a:custGeom>
                <a:avLst/>
                <a:gdLst>
                  <a:gd name="csX0" fmla="*/ 0 w 3123406"/>
                  <a:gd name="csY0" fmla="*/ 1561703 h 3123406"/>
                  <a:gd name="csX1" fmla="*/ 1561703 w 3123406"/>
                  <a:gd name="csY1" fmla="*/ 0 h 3123406"/>
                  <a:gd name="csX2" fmla="*/ 3123406 w 3123406"/>
                  <a:gd name="csY2" fmla="*/ 1561703 h 3123406"/>
                  <a:gd name="csX3" fmla="*/ 1561703 w 3123406"/>
                  <a:gd name="csY3" fmla="*/ 3123406 h 3123406"/>
                  <a:gd name="csX4" fmla="*/ 0 w 3123406"/>
                  <a:gd name="csY4" fmla="*/ 1561703 h 31234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23406" h="3123406">
                    <a:moveTo>
                      <a:pt x="0" y="1561703"/>
                    </a:moveTo>
                    <a:cubicBezTo>
                      <a:pt x="0" y="699198"/>
                      <a:pt x="699198" y="0"/>
                      <a:pt x="1561703" y="0"/>
                    </a:cubicBezTo>
                    <a:cubicBezTo>
                      <a:pt x="2424208" y="0"/>
                      <a:pt x="3123406" y="699198"/>
                      <a:pt x="3123406" y="1561703"/>
                    </a:cubicBezTo>
                    <a:cubicBezTo>
                      <a:pt x="3123406" y="2424208"/>
                      <a:pt x="2424208" y="3123406"/>
                      <a:pt x="1561703" y="3123406"/>
                    </a:cubicBezTo>
                    <a:cubicBezTo>
                      <a:pt x="699198" y="3123406"/>
                      <a:pt x="0" y="2424208"/>
                      <a:pt x="0" y="1561703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</a:ln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/>
              </a:fontRef>
            </p:style>
            <p:txBody>
              <a:bodyPr spcFirstLastPara="0" vert="horz" wrap="square" lIns="629303" tIns="538692" rIns="629303" bIns="538692" numCol="1" spcCol="1270" anchor="ctr" anchorCtr="0">
                <a:noAutofit/>
              </a:bodyPr>
              <a:lstStyle/>
              <a:p>
                <a:pPr marL="0" lvl="0" indent="0" algn="ctr" defTabSz="2844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GB" sz="6400" kern="1200" dirty="0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2C4F4F3F-85F0-A844-2252-6E3DD645EACE}"/>
                  </a:ext>
                </a:extLst>
              </p:cNvPr>
              <p:cNvSpPr/>
              <p:nvPr/>
            </p:nvSpPr>
            <p:spPr>
              <a:xfrm>
                <a:off x="4719022" y="3714584"/>
                <a:ext cx="3038822" cy="1205881"/>
              </a:xfrm>
              <a:custGeom>
                <a:avLst/>
                <a:gdLst>
                  <a:gd name="csX0" fmla="*/ 0 w 3038822"/>
                  <a:gd name="csY0" fmla="*/ 0 h 1205881"/>
                  <a:gd name="csX1" fmla="*/ 3038822 w 3038822"/>
                  <a:gd name="csY1" fmla="*/ 0 h 1205881"/>
                  <a:gd name="csX2" fmla="*/ 3010903 w 3038822"/>
                  <a:gd name="csY2" fmla="*/ 108581 h 1205881"/>
                  <a:gd name="csX3" fmla="*/ 1519411 w 3038822"/>
                  <a:gd name="csY3" fmla="*/ 1205881 h 1205881"/>
                  <a:gd name="csX4" fmla="*/ 27919 w 3038822"/>
                  <a:gd name="csY4" fmla="*/ 108581 h 12058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8822" h="1205881">
                    <a:moveTo>
                      <a:pt x="0" y="0"/>
                    </a:moveTo>
                    <a:lnTo>
                      <a:pt x="3038822" y="0"/>
                    </a:lnTo>
                    <a:lnTo>
                      <a:pt x="3010903" y="108581"/>
                    </a:lnTo>
                    <a:cubicBezTo>
                      <a:pt x="2813174" y="744301"/>
                      <a:pt x="2220196" y="1205881"/>
                      <a:pt x="1519411" y="1205881"/>
                    </a:cubicBezTo>
                    <a:cubicBezTo>
                      <a:pt x="818626" y="1205881"/>
                      <a:pt x="225649" y="744301"/>
                      <a:pt x="27919" y="108581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621EF58-E706-10BB-8FF9-DA584A940799}"/>
                </a:ext>
              </a:extLst>
            </p:cNvPr>
            <p:cNvSpPr txBox="1"/>
            <p:nvPr/>
          </p:nvSpPr>
          <p:spPr>
            <a:xfrm>
              <a:off x="1241835" y="3998088"/>
              <a:ext cx="2613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Increase sample size</a:t>
              </a: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70BBDEE2-470C-298C-9016-D7120B571086}"/>
                </a:ext>
              </a:extLst>
            </p:cNvPr>
            <p:cNvGrpSpPr/>
            <p:nvPr/>
          </p:nvGrpSpPr>
          <p:grpSpPr>
            <a:xfrm>
              <a:off x="1704991" y="2183791"/>
              <a:ext cx="1435814" cy="1398040"/>
              <a:chOff x="1754231" y="1813275"/>
              <a:chExt cx="1435814" cy="139804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2E32CF04-DAE3-5890-1605-7308227750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4231" y="1813275"/>
                <a:ext cx="350265" cy="1398040"/>
              </a:xfrm>
              <a:prstGeom prst="rect">
                <a:avLst/>
              </a:prstGeom>
            </p:spPr>
          </p:pic>
          <p:pic>
            <p:nvPicPr>
              <p:cNvPr id="142" name="Graphic 141" descr="Group of people with solid fill">
                <a:extLst>
                  <a:ext uri="{FF2B5EF4-FFF2-40B4-BE49-F238E27FC236}">
                    <a16:creationId xmlns:a16="http://schemas.microsoft.com/office/drawing/2014/main" id="{3E437AF1-C3D2-55E5-511E-DD01B8049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077074" y="2096018"/>
                <a:ext cx="1112971" cy="1112971"/>
              </a:xfrm>
              <a:prstGeom prst="rect">
                <a:avLst/>
              </a:prstGeom>
            </p:spPr>
          </p:pic>
        </p:grp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D47CEC2D-BBF7-7D2F-356B-2405892585F2}"/>
                </a:ext>
              </a:extLst>
            </p:cNvPr>
            <p:cNvSpPr/>
            <p:nvPr/>
          </p:nvSpPr>
          <p:spPr>
            <a:xfrm>
              <a:off x="833274" y="1898185"/>
              <a:ext cx="408561" cy="40856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355132A2-195B-AB50-B6D5-BDCF8B95F402}"/>
              </a:ext>
            </a:extLst>
          </p:cNvPr>
          <p:cNvGrpSpPr/>
          <p:nvPr/>
        </p:nvGrpSpPr>
        <p:grpSpPr>
          <a:xfrm>
            <a:off x="4293908" y="1898185"/>
            <a:ext cx="3123406" cy="3123406"/>
            <a:chOff x="4293908" y="1898185"/>
            <a:chExt cx="3123406" cy="3123406"/>
          </a:xfrm>
        </p:grpSpPr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F99D102-B347-C0D4-54CA-1A2D1124D50C}"/>
                </a:ext>
              </a:extLst>
            </p:cNvPr>
            <p:cNvGrpSpPr/>
            <p:nvPr/>
          </p:nvGrpSpPr>
          <p:grpSpPr>
            <a:xfrm>
              <a:off x="4293908" y="1898185"/>
              <a:ext cx="3123406" cy="3123406"/>
              <a:chOff x="4676730" y="1797059"/>
              <a:chExt cx="3123406" cy="3123406"/>
            </a:xfrm>
          </p:grpSpPr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5EB69914-1325-FE67-89D1-61E739A9164D}"/>
                  </a:ext>
                </a:extLst>
              </p:cNvPr>
              <p:cNvSpPr/>
              <p:nvPr/>
            </p:nvSpPr>
            <p:spPr>
              <a:xfrm>
                <a:off x="4676730" y="1797059"/>
                <a:ext cx="3123406" cy="3123406"/>
              </a:xfrm>
              <a:custGeom>
                <a:avLst/>
                <a:gdLst>
                  <a:gd name="csX0" fmla="*/ 0 w 3123406"/>
                  <a:gd name="csY0" fmla="*/ 1561703 h 3123406"/>
                  <a:gd name="csX1" fmla="*/ 1561703 w 3123406"/>
                  <a:gd name="csY1" fmla="*/ 0 h 3123406"/>
                  <a:gd name="csX2" fmla="*/ 3123406 w 3123406"/>
                  <a:gd name="csY2" fmla="*/ 1561703 h 3123406"/>
                  <a:gd name="csX3" fmla="*/ 1561703 w 3123406"/>
                  <a:gd name="csY3" fmla="*/ 3123406 h 3123406"/>
                  <a:gd name="csX4" fmla="*/ 0 w 3123406"/>
                  <a:gd name="csY4" fmla="*/ 1561703 h 31234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23406" h="3123406">
                    <a:moveTo>
                      <a:pt x="0" y="1561703"/>
                    </a:moveTo>
                    <a:cubicBezTo>
                      <a:pt x="0" y="699198"/>
                      <a:pt x="699198" y="0"/>
                      <a:pt x="1561703" y="0"/>
                    </a:cubicBezTo>
                    <a:cubicBezTo>
                      <a:pt x="2424208" y="0"/>
                      <a:pt x="3123406" y="699198"/>
                      <a:pt x="3123406" y="1561703"/>
                    </a:cubicBezTo>
                    <a:cubicBezTo>
                      <a:pt x="3123406" y="2424208"/>
                      <a:pt x="2424208" y="3123406"/>
                      <a:pt x="1561703" y="3123406"/>
                    </a:cubicBezTo>
                    <a:cubicBezTo>
                      <a:pt x="699198" y="3123406"/>
                      <a:pt x="0" y="2424208"/>
                      <a:pt x="0" y="1561703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</a:ln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/>
              </a:fontRef>
            </p:style>
            <p:txBody>
              <a:bodyPr spcFirstLastPara="0" vert="horz" wrap="square" lIns="629303" tIns="538692" rIns="629303" bIns="538692" numCol="1" spcCol="1270" anchor="ctr" anchorCtr="0">
                <a:noAutofit/>
              </a:bodyPr>
              <a:lstStyle/>
              <a:p>
                <a:pPr marL="0" lvl="0" indent="0" algn="ctr" defTabSz="2844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GB" sz="6400" kern="1200" dirty="0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A0987705-1C0D-3940-7EB8-1BA6EA211DE1}"/>
                  </a:ext>
                </a:extLst>
              </p:cNvPr>
              <p:cNvSpPr/>
              <p:nvPr/>
            </p:nvSpPr>
            <p:spPr>
              <a:xfrm>
                <a:off x="4719022" y="3714584"/>
                <a:ext cx="3038822" cy="1205881"/>
              </a:xfrm>
              <a:custGeom>
                <a:avLst/>
                <a:gdLst>
                  <a:gd name="csX0" fmla="*/ 0 w 3038822"/>
                  <a:gd name="csY0" fmla="*/ 0 h 1205881"/>
                  <a:gd name="csX1" fmla="*/ 3038822 w 3038822"/>
                  <a:gd name="csY1" fmla="*/ 0 h 1205881"/>
                  <a:gd name="csX2" fmla="*/ 3010903 w 3038822"/>
                  <a:gd name="csY2" fmla="*/ 108581 h 1205881"/>
                  <a:gd name="csX3" fmla="*/ 1519411 w 3038822"/>
                  <a:gd name="csY3" fmla="*/ 1205881 h 1205881"/>
                  <a:gd name="csX4" fmla="*/ 27919 w 3038822"/>
                  <a:gd name="csY4" fmla="*/ 108581 h 12058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8822" h="1205881">
                    <a:moveTo>
                      <a:pt x="0" y="0"/>
                    </a:moveTo>
                    <a:lnTo>
                      <a:pt x="3038822" y="0"/>
                    </a:lnTo>
                    <a:lnTo>
                      <a:pt x="3010903" y="108581"/>
                    </a:lnTo>
                    <a:cubicBezTo>
                      <a:pt x="2813174" y="744301"/>
                      <a:pt x="2220196" y="1205881"/>
                      <a:pt x="1519411" y="1205881"/>
                    </a:cubicBezTo>
                    <a:cubicBezTo>
                      <a:pt x="818626" y="1205881"/>
                      <a:pt x="225649" y="744301"/>
                      <a:pt x="27919" y="108581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0B17AF89-ED80-71C6-38FE-5AB7BEDD79A6}"/>
                </a:ext>
              </a:extLst>
            </p:cNvPr>
            <p:cNvSpPr txBox="1"/>
            <p:nvPr/>
          </p:nvSpPr>
          <p:spPr>
            <a:xfrm>
              <a:off x="4783100" y="3998088"/>
              <a:ext cx="26130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Increase EV quantity</a:t>
              </a:r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6ADE3043-4F6C-F3F4-EE5F-EC07CCFC0B4C}"/>
                </a:ext>
              </a:extLst>
            </p:cNvPr>
            <p:cNvGrpSpPr/>
            <p:nvPr/>
          </p:nvGrpSpPr>
          <p:grpSpPr>
            <a:xfrm>
              <a:off x="5096742" y="2219792"/>
              <a:ext cx="1554097" cy="1398040"/>
              <a:chOff x="5136798" y="2168752"/>
              <a:chExt cx="1554097" cy="1398040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9227F557-4C3E-8634-2C21-8935F7A193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33169" y="3075364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AD3C2110-0FC9-6E77-467B-CCD1A3B69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36798" y="2168752"/>
                <a:ext cx="350265" cy="1398040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6EBA107E-98DD-639C-1687-163C126EE6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07798" y="2457084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0B484996-15E8-446D-90CF-5EE293B420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4305" y="3173851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EE5276C8-3618-177B-85D1-1575378DD4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852695" y="2751789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E1269030-A996-14A0-A1C5-D39C770CA1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830641" y="2333419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FFF71463-632F-62AD-30C9-140FA0AEF0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61506" y="2497075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780E7EFD-DBF8-77BD-3292-05F5A5E90C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37969" y="2831771"/>
                <a:ext cx="352926" cy="33469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84F8E324-73DC-53B4-C726-4DC5A3AB59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9648" y="2815467"/>
                <a:ext cx="352926" cy="334696"/>
              </a:xfrm>
              <a:prstGeom prst="rect">
                <a:avLst/>
              </a:prstGeom>
            </p:spPr>
          </p:pic>
        </p:grpSp>
        <p:sp>
          <p:nvSpPr>
            <p:cNvPr id="163" name="Rounded Rectangle 162">
              <a:extLst>
                <a:ext uri="{FF2B5EF4-FFF2-40B4-BE49-F238E27FC236}">
                  <a16:creationId xmlns:a16="http://schemas.microsoft.com/office/drawing/2014/main" id="{C8E5FB25-C034-41B5-6B53-0D650DC0097C}"/>
                </a:ext>
              </a:extLst>
            </p:cNvPr>
            <p:cNvSpPr/>
            <p:nvPr/>
          </p:nvSpPr>
          <p:spPr>
            <a:xfrm>
              <a:off x="4336432" y="1898185"/>
              <a:ext cx="408561" cy="40856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7B301E62-ADC7-7F21-0A00-2C76AF077286}"/>
              </a:ext>
            </a:extLst>
          </p:cNvPr>
          <p:cNvGrpSpPr/>
          <p:nvPr/>
        </p:nvGrpSpPr>
        <p:grpSpPr>
          <a:xfrm>
            <a:off x="7699537" y="1894177"/>
            <a:ext cx="3144552" cy="3130041"/>
            <a:chOff x="7699537" y="1894177"/>
            <a:chExt cx="3144552" cy="3130041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CF9C7ACE-F734-21FE-6B23-AE68A1EFA857}"/>
                </a:ext>
              </a:extLst>
            </p:cNvPr>
            <p:cNvGrpSpPr/>
            <p:nvPr/>
          </p:nvGrpSpPr>
          <p:grpSpPr>
            <a:xfrm>
              <a:off x="7699537" y="1900812"/>
              <a:ext cx="3123406" cy="3123406"/>
              <a:chOff x="4676730" y="1797059"/>
              <a:chExt cx="3123406" cy="3123406"/>
            </a:xfrm>
          </p:grpSpPr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5661AE0F-EED8-6F5C-33D8-2C0252ED149B}"/>
                  </a:ext>
                </a:extLst>
              </p:cNvPr>
              <p:cNvSpPr/>
              <p:nvPr/>
            </p:nvSpPr>
            <p:spPr>
              <a:xfrm>
                <a:off x="4676730" y="1797059"/>
                <a:ext cx="3123406" cy="3123406"/>
              </a:xfrm>
              <a:custGeom>
                <a:avLst/>
                <a:gdLst>
                  <a:gd name="csX0" fmla="*/ 0 w 3123406"/>
                  <a:gd name="csY0" fmla="*/ 1561703 h 3123406"/>
                  <a:gd name="csX1" fmla="*/ 1561703 w 3123406"/>
                  <a:gd name="csY1" fmla="*/ 0 h 3123406"/>
                  <a:gd name="csX2" fmla="*/ 3123406 w 3123406"/>
                  <a:gd name="csY2" fmla="*/ 1561703 h 3123406"/>
                  <a:gd name="csX3" fmla="*/ 1561703 w 3123406"/>
                  <a:gd name="csY3" fmla="*/ 3123406 h 3123406"/>
                  <a:gd name="csX4" fmla="*/ 0 w 3123406"/>
                  <a:gd name="csY4" fmla="*/ 1561703 h 31234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123406" h="3123406">
                    <a:moveTo>
                      <a:pt x="0" y="1561703"/>
                    </a:moveTo>
                    <a:cubicBezTo>
                      <a:pt x="0" y="699198"/>
                      <a:pt x="699198" y="0"/>
                      <a:pt x="1561703" y="0"/>
                    </a:cubicBezTo>
                    <a:cubicBezTo>
                      <a:pt x="2424208" y="0"/>
                      <a:pt x="3123406" y="699198"/>
                      <a:pt x="3123406" y="1561703"/>
                    </a:cubicBezTo>
                    <a:cubicBezTo>
                      <a:pt x="3123406" y="2424208"/>
                      <a:pt x="2424208" y="3123406"/>
                      <a:pt x="1561703" y="3123406"/>
                    </a:cubicBezTo>
                    <a:cubicBezTo>
                      <a:pt x="699198" y="3123406"/>
                      <a:pt x="0" y="2424208"/>
                      <a:pt x="0" y="1561703"/>
                    </a:cubicBezTo>
                    <a:close/>
                  </a:path>
                </a:pathLst>
              </a:custGeom>
              <a:noFill/>
              <a:ln w="28575">
                <a:solidFill>
                  <a:schemeClr val="tx1"/>
                </a:solidFill>
              </a:ln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alpha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/>
              </a:fontRef>
            </p:style>
            <p:txBody>
              <a:bodyPr spcFirstLastPara="0" vert="horz" wrap="square" lIns="629303" tIns="538692" rIns="629303" bIns="538692" numCol="1" spcCol="1270" anchor="ctr" anchorCtr="0">
                <a:noAutofit/>
              </a:bodyPr>
              <a:lstStyle/>
              <a:p>
                <a:pPr marL="0" lvl="0" indent="0" algn="ctr" defTabSz="2844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GB" sz="6400" kern="1200" dirty="0"/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9E761FA5-6F07-4E78-1200-01C278392737}"/>
                  </a:ext>
                </a:extLst>
              </p:cNvPr>
              <p:cNvSpPr/>
              <p:nvPr/>
            </p:nvSpPr>
            <p:spPr>
              <a:xfrm>
                <a:off x="4719022" y="3714584"/>
                <a:ext cx="3038822" cy="1205881"/>
              </a:xfrm>
              <a:custGeom>
                <a:avLst/>
                <a:gdLst>
                  <a:gd name="csX0" fmla="*/ 0 w 3038822"/>
                  <a:gd name="csY0" fmla="*/ 0 h 1205881"/>
                  <a:gd name="csX1" fmla="*/ 3038822 w 3038822"/>
                  <a:gd name="csY1" fmla="*/ 0 h 1205881"/>
                  <a:gd name="csX2" fmla="*/ 3010903 w 3038822"/>
                  <a:gd name="csY2" fmla="*/ 108581 h 1205881"/>
                  <a:gd name="csX3" fmla="*/ 1519411 w 3038822"/>
                  <a:gd name="csY3" fmla="*/ 1205881 h 1205881"/>
                  <a:gd name="csX4" fmla="*/ 27919 w 3038822"/>
                  <a:gd name="csY4" fmla="*/ 108581 h 12058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038822" h="1205881">
                    <a:moveTo>
                      <a:pt x="0" y="0"/>
                    </a:moveTo>
                    <a:lnTo>
                      <a:pt x="3038822" y="0"/>
                    </a:lnTo>
                    <a:lnTo>
                      <a:pt x="3010903" y="108581"/>
                    </a:lnTo>
                    <a:cubicBezTo>
                      <a:pt x="2813174" y="744301"/>
                      <a:pt x="2220196" y="1205881"/>
                      <a:pt x="1519411" y="1205881"/>
                    </a:cubicBezTo>
                    <a:cubicBezTo>
                      <a:pt x="818626" y="1205881"/>
                      <a:pt x="225649" y="744301"/>
                      <a:pt x="27919" y="108581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/>
              </a:p>
            </p:txBody>
          </p:sp>
        </p:grp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2366287D-F23E-BA01-EEEF-D6374792D1C7}"/>
                </a:ext>
              </a:extLst>
            </p:cNvPr>
            <p:cNvSpPr txBox="1"/>
            <p:nvPr/>
          </p:nvSpPr>
          <p:spPr>
            <a:xfrm>
              <a:off x="8231021" y="3979199"/>
              <a:ext cx="26130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Integrate matched miRNA-mRNA data</a:t>
              </a: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E89B738E-058E-551C-F350-3B1520EEF4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6724" y="2704665"/>
              <a:ext cx="2545739" cy="562406"/>
            </a:xfrm>
            <a:prstGeom prst="rect">
              <a:avLst/>
            </a:prstGeom>
          </p:spPr>
        </p:pic>
        <p:sp>
          <p:nvSpPr>
            <p:cNvPr id="164" name="Rounded Rectangle 163">
              <a:extLst>
                <a:ext uri="{FF2B5EF4-FFF2-40B4-BE49-F238E27FC236}">
                  <a16:creationId xmlns:a16="http://schemas.microsoft.com/office/drawing/2014/main" id="{0A789EF7-590A-603D-4BF3-0F73885C7E11}"/>
                </a:ext>
              </a:extLst>
            </p:cNvPr>
            <p:cNvSpPr/>
            <p:nvPr/>
          </p:nvSpPr>
          <p:spPr>
            <a:xfrm>
              <a:off x="7708152" y="1894177"/>
              <a:ext cx="408561" cy="40856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0022214B-E338-08F9-420E-FF62B05C1598}"/>
              </a:ext>
            </a:extLst>
          </p:cNvPr>
          <p:cNvSpPr txBox="1"/>
          <p:nvPr/>
        </p:nvSpPr>
        <p:spPr>
          <a:xfrm>
            <a:off x="141340" y="6383179"/>
            <a:ext cx="6907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Figure created in </a:t>
            </a:r>
            <a:r>
              <a:rPr lang="en-GB" sz="1000" dirty="0" err="1"/>
              <a:t>BioRender</a:t>
            </a:r>
            <a:r>
              <a:rPr lang="en-GB" sz="1000" dirty="0"/>
              <a:t>: https://</a:t>
            </a:r>
            <a:r>
              <a:rPr lang="en-GB" sz="1000" dirty="0" err="1"/>
              <a:t>BioRender.com</a:t>
            </a:r>
            <a:r>
              <a:rPr lang="en-GB" sz="1000" dirty="0">
                <a:effectLst/>
              </a:rPr>
              <a:t> </a:t>
            </a:r>
            <a:endParaRPr lang="en-GB" sz="1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6A4A28-B5AD-7050-9E5A-62676B9F2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60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D0AF-5BE3-1C24-61D5-B9FAC3BDC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0C45F-AFE2-00E2-5D43-E19B329C9F21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Significance</a:t>
            </a:r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F8DCD644-4CEE-7C36-260F-9D7B8E5FDB01}"/>
              </a:ext>
            </a:extLst>
          </p:cNvPr>
          <p:cNvSpPr/>
          <p:nvPr/>
        </p:nvSpPr>
        <p:spPr>
          <a:xfrm>
            <a:off x="1338146" y="1345965"/>
            <a:ext cx="4405252" cy="4543748"/>
          </a:xfrm>
          <a:prstGeom prst="triangle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4A9ACAE-1554-8E94-4C80-C211F832CBD8}"/>
              </a:ext>
            </a:extLst>
          </p:cNvPr>
          <p:cNvSpPr/>
          <p:nvPr/>
        </p:nvSpPr>
        <p:spPr>
          <a:xfrm>
            <a:off x="4000242" y="1741437"/>
            <a:ext cx="5619544" cy="1075590"/>
          </a:xfrm>
          <a:custGeom>
            <a:avLst/>
            <a:gdLst>
              <a:gd name="csX0" fmla="*/ 0 w 3522133"/>
              <a:gd name="csY0" fmla="*/ 213788 h 1282700"/>
              <a:gd name="csX1" fmla="*/ 213788 w 3522133"/>
              <a:gd name="csY1" fmla="*/ 0 h 1282700"/>
              <a:gd name="csX2" fmla="*/ 3308345 w 3522133"/>
              <a:gd name="csY2" fmla="*/ 0 h 1282700"/>
              <a:gd name="csX3" fmla="*/ 3522133 w 3522133"/>
              <a:gd name="csY3" fmla="*/ 213788 h 1282700"/>
              <a:gd name="csX4" fmla="*/ 3522133 w 3522133"/>
              <a:gd name="csY4" fmla="*/ 1068912 h 1282700"/>
              <a:gd name="csX5" fmla="*/ 3308345 w 3522133"/>
              <a:gd name="csY5" fmla="*/ 1282700 h 1282700"/>
              <a:gd name="csX6" fmla="*/ 213788 w 3522133"/>
              <a:gd name="csY6" fmla="*/ 1282700 h 1282700"/>
              <a:gd name="csX7" fmla="*/ 0 w 3522133"/>
              <a:gd name="csY7" fmla="*/ 1068912 h 1282700"/>
              <a:gd name="csX8" fmla="*/ 0 w 3522133"/>
              <a:gd name="csY8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522133" h="1282700">
                <a:moveTo>
                  <a:pt x="0" y="213788"/>
                </a:moveTo>
                <a:cubicBezTo>
                  <a:pt x="0" y="95716"/>
                  <a:pt x="95716" y="0"/>
                  <a:pt x="213788" y="0"/>
                </a:cubicBezTo>
                <a:lnTo>
                  <a:pt x="3308345" y="0"/>
                </a:lnTo>
                <a:cubicBezTo>
                  <a:pt x="3426417" y="0"/>
                  <a:pt x="3522133" y="95716"/>
                  <a:pt x="3522133" y="213788"/>
                </a:cubicBezTo>
                <a:lnTo>
                  <a:pt x="3522133" y="1068912"/>
                </a:lnTo>
                <a:cubicBezTo>
                  <a:pt x="3522133" y="1186984"/>
                  <a:pt x="3426417" y="1282700"/>
                  <a:pt x="3308345" y="1282700"/>
                </a:cubicBezTo>
                <a:lnTo>
                  <a:pt x="213788" y="1282700"/>
                </a:lnTo>
                <a:cubicBezTo>
                  <a:pt x="95716" y="1282700"/>
                  <a:pt x="0" y="1186984"/>
                  <a:pt x="0" y="1068912"/>
                </a:cubicBezTo>
                <a:lnTo>
                  <a:pt x="0" y="213788"/>
                </a:lnTo>
                <a:close/>
              </a:path>
            </a:pathLst>
          </a:cu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4546" tIns="264546" rIns="264546" bIns="264546" numCol="1" spcCol="1270" anchor="ctr" anchorCtr="0">
            <a:noAutofit/>
          </a:bodyPr>
          <a:lstStyle/>
          <a:p>
            <a:pPr marL="457200" lvl="0" indent="-4572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en-GB" sz="2000" kern="1200" dirty="0"/>
              <a:t>Detected limitations within a dataset intended for publication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838E64A-D027-4150-A5E8-C5E3F3447CBE}"/>
              </a:ext>
            </a:extLst>
          </p:cNvPr>
          <p:cNvSpPr/>
          <p:nvPr/>
        </p:nvSpPr>
        <p:spPr>
          <a:xfrm>
            <a:off x="4000242" y="2951476"/>
            <a:ext cx="5619544" cy="1075590"/>
          </a:xfrm>
          <a:custGeom>
            <a:avLst/>
            <a:gdLst>
              <a:gd name="csX0" fmla="*/ 0 w 3522133"/>
              <a:gd name="csY0" fmla="*/ 213788 h 1282700"/>
              <a:gd name="csX1" fmla="*/ 213788 w 3522133"/>
              <a:gd name="csY1" fmla="*/ 0 h 1282700"/>
              <a:gd name="csX2" fmla="*/ 3308345 w 3522133"/>
              <a:gd name="csY2" fmla="*/ 0 h 1282700"/>
              <a:gd name="csX3" fmla="*/ 3522133 w 3522133"/>
              <a:gd name="csY3" fmla="*/ 213788 h 1282700"/>
              <a:gd name="csX4" fmla="*/ 3522133 w 3522133"/>
              <a:gd name="csY4" fmla="*/ 1068912 h 1282700"/>
              <a:gd name="csX5" fmla="*/ 3308345 w 3522133"/>
              <a:gd name="csY5" fmla="*/ 1282700 h 1282700"/>
              <a:gd name="csX6" fmla="*/ 213788 w 3522133"/>
              <a:gd name="csY6" fmla="*/ 1282700 h 1282700"/>
              <a:gd name="csX7" fmla="*/ 0 w 3522133"/>
              <a:gd name="csY7" fmla="*/ 1068912 h 1282700"/>
              <a:gd name="csX8" fmla="*/ 0 w 3522133"/>
              <a:gd name="csY8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522133" h="1282700">
                <a:moveTo>
                  <a:pt x="0" y="213788"/>
                </a:moveTo>
                <a:cubicBezTo>
                  <a:pt x="0" y="95716"/>
                  <a:pt x="95716" y="0"/>
                  <a:pt x="213788" y="0"/>
                </a:cubicBezTo>
                <a:lnTo>
                  <a:pt x="3308345" y="0"/>
                </a:lnTo>
                <a:cubicBezTo>
                  <a:pt x="3426417" y="0"/>
                  <a:pt x="3522133" y="95716"/>
                  <a:pt x="3522133" y="213788"/>
                </a:cubicBezTo>
                <a:lnTo>
                  <a:pt x="3522133" y="1068912"/>
                </a:lnTo>
                <a:cubicBezTo>
                  <a:pt x="3522133" y="1186984"/>
                  <a:pt x="3426417" y="1282700"/>
                  <a:pt x="3308345" y="1282700"/>
                </a:cubicBezTo>
                <a:lnTo>
                  <a:pt x="213788" y="1282700"/>
                </a:lnTo>
                <a:cubicBezTo>
                  <a:pt x="95716" y="1282700"/>
                  <a:pt x="0" y="1186984"/>
                  <a:pt x="0" y="1068912"/>
                </a:cubicBezTo>
                <a:lnTo>
                  <a:pt x="0" y="213788"/>
                </a:lnTo>
                <a:close/>
              </a:path>
            </a:pathLst>
          </a:cu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4546" tIns="264546" rIns="264546" bIns="264546" numCol="1" spcCol="1270" anchor="ctr" anchorCtr="0">
            <a:noAutofit/>
          </a:bodyPr>
          <a:lstStyle/>
          <a:p>
            <a:pPr marL="457200" lvl="0" indent="-4572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 startAt="2"/>
            </a:pPr>
            <a:r>
              <a:rPr lang="en-GB" sz="2000" kern="1200" dirty="0"/>
              <a:t>Optimised future experimental design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4DBF85CF-F40A-ACC4-A547-1BE08FDE1E99}"/>
              </a:ext>
            </a:extLst>
          </p:cNvPr>
          <p:cNvSpPr/>
          <p:nvPr/>
        </p:nvSpPr>
        <p:spPr>
          <a:xfrm>
            <a:off x="4000242" y="4161515"/>
            <a:ext cx="5619544" cy="1075590"/>
          </a:xfrm>
          <a:custGeom>
            <a:avLst/>
            <a:gdLst>
              <a:gd name="csX0" fmla="*/ 0 w 3522133"/>
              <a:gd name="csY0" fmla="*/ 213788 h 1282700"/>
              <a:gd name="csX1" fmla="*/ 213788 w 3522133"/>
              <a:gd name="csY1" fmla="*/ 0 h 1282700"/>
              <a:gd name="csX2" fmla="*/ 3308345 w 3522133"/>
              <a:gd name="csY2" fmla="*/ 0 h 1282700"/>
              <a:gd name="csX3" fmla="*/ 3522133 w 3522133"/>
              <a:gd name="csY3" fmla="*/ 213788 h 1282700"/>
              <a:gd name="csX4" fmla="*/ 3522133 w 3522133"/>
              <a:gd name="csY4" fmla="*/ 1068912 h 1282700"/>
              <a:gd name="csX5" fmla="*/ 3308345 w 3522133"/>
              <a:gd name="csY5" fmla="*/ 1282700 h 1282700"/>
              <a:gd name="csX6" fmla="*/ 213788 w 3522133"/>
              <a:gd name="csY6" fmla="*/ 1282700 h 1282700"/>
              <a:gd name="csX7" fmla="*/ 0 w 3522133"/>
              <a:gd name="csY7" fmla="*/ 1068912 h 1282700"/>
              <a:gd name="csX8" fmla="*/ 0 w 3522133"/>
              <a:gd name="csY8" fmla="*/ 213788 h 1282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522133" h="1282700">
                <a:moveTo>
                  <a:pt x="0" y="213788"/>
                </a:moveTo>
                <a:cubicBezTo>
                  <a:pt x="0" y="95716"/>
                  <a:pt x="95716" y="0"/>
                  <a:pt x="213788" y="0"/>
                </a:cubicBezTo>
                <a:lnTo>
                  <a:pt x="3308345" y="0"/>
                </a:lnTo>
                <a:cubicBezTo>
                  <a:pt x="3426417" y="0"/>
                  <a:pt x="3522133" y="95716"/>
                  <a:pt x="3522133" y="213788"/>
                </a:cubicBezTo>
                <a:lnTo>
                  <a:pt x="3522133" y="1068912"/>
                </a:lnTo>
                <a:cubicBezTo>
                  <a:pt x="3522133" y="1186984"/>
                  <a:pt x="3426417" y="1282700"/>
                  <a:pt x="3308345" y="1282700"/>
                </a:cubicBezTo>
                <a:lnTo>
                  <a:pt x="213788" y="1282700"/>
                </a:lnTo>
                <a:cubicBezTo>
                  <a:pt x="95716" y="1282700"/>
                  <a:pt x="0" y="1186984"/>
                  <a:pt x="0" y="1068912"/>
                </a:cubicBezTo>
                <a:lnTo>
                  <a:pt x="0" y="213788"/>
                </a:lnTo>
                <a:close/>
              </a:path>
            </a:pathLst>
          </a:cu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4546" tIns="264546" rIns="264546" bIns="264546" numCol="1" spcCol="1270" anchor="ctr" anchorCtr="0">
            <a:noAutofit/>
          </a:bodyPr>
          <a:lstStyle/>
          <a:p>
            <a:pPr marL="457200" lvl="0" indent="-4572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 startAt="3"/>
            </a:pPr>
            <a:r>
              <a:rPr lang="en-GB" sz="2000" kern="1200" dirty="0"/>
              <a:t>Framework for in-house transcriptomics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6621DA-06CA-006F-3C95-C7001286B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870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F5F1B-56CD-AFBA-B4AB-6561C27F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7B6E9B38-2C2E-B0F0-909C-8B8C7401A73C}"/>
              </a:ext>
            </a:extLst>
          </p:cNvPr>
          <p:cNvSpPr/>
          <p:nvPr/>
        </p:nvSpPr>
        <p:spPr>
          <a:xfrm>
            <a:off x="4054078" y="2883561"/>
            <a:ext cx="5834018" cy="957626"/>
          </a:xfrm>
          <a:custGeom>
            <a:avLst/>
            <a:gdLst>
              <a:gd name="csX0" fmla="*/ 0 w 1436439"/>
              <a:gd name="csY0" fmla="*/ 0 h 957626"/>
              <a:gd name="csX1" fmla="*/ 1436439 w 1436439"/>
              <a:gd name="csY1" fmla="*/ 0 h 957626"/>
              <a:gd name="csX2" fmla="*/ 1436439 w 1436439"/>
              <a:gd name="csY2" fmla="*/ 957626 h 957626"/>
              <a:gd name="csX3" fmla="*/ 0 w 1436439"/>
              <a:gd name="csY3" fmla="*/ 957626 h 957626"/>
              <a:gd name="csX4" fmla="*/ 0 w 1436439"/>
              <a:gd name="csY4" fmla="*/ 0 h 957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439" h="957626">
                <a:moveTo>
                  <a:pt x="0" y="0"/>
                </a:moveTo>
                <a:lnTo>
                  <a:pt x="1436439" y="0"/>
                </a:lnTo>
                <a:lnTo>
                  <a:pt x="1436439" y="957626"/>
                </a:lnTo>
                <a:lnTo>
                  <a:pt x="0" y="957626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lvl="1" algn="l" defTabSz="13779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3100" kern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Calu-3 pathway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36F6A6-A29D-E19A-D2E7-F0D26C6AA428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Originality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6070318-CA4D-936E-ECBA-46FA5901DF01}"/>
              </a:ext>
            </a:extLst>
          </p:cNvPr>
          <p:cNvSpPr/>
          <p:nvPr/>
        </p:nvSpPr>
        <p:spPr>
          <a:xfrm rot="2562732">
            <a:off x="3803258" y="3978145"/>
            <a:ext cx="501641" cy="6521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32607"/>
                </a:moveTo>
                <a:lnTo>
                  <a:pt x="501641" y="32607"/>
                </a:ln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6000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705C12A-1448-7C32-44FE-020BEE1E2E94}"/>
              </a:ext>
            </a:extLst>
          </p:cNvPr>
          <p:cNvSpPr/>
          <p:nvPr/>
        </p:nvSpPr>
        <p:spPr>
          <a:xfrm>
            <a:off x="3869783" y="3292314"/>
            <a:ext cx="557977" cy="6521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32607"/>
                </a:moveTo>
                <a:lnTo>
                  <a:pt x="557977" y="32607"/>
                </a:ln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6000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64B01B9E-9D73-B4FD-5519-71D1D08677A3}"/>
              </a:ext>
            </a:extLst>
          </p:cNvPr>
          <p:cNvSpPr/>
          <p:nvPr/>
        </p:nvSpPr>
        <p:spPr>
          <a:xfrm rot="19037268">
            <a:off x="3803258" y="2606483"/>
            <a:ext cx="501641" cy="6521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32607"/>
                </a:moveTo>
                <a:lnTo>
                  <a:pt x="501641" y="32607"/>
                </a:ln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6000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DB3260B-8782-5D35-B71F-D1D65E1D1AE3}"/>
              </a:ext>
            </a:extLst>
          </p:cNvPr>
          <p:cNvSpPr/>
          <p:nvPr/>
        </p:nvSpPr>
        <p:spPr>
          <a:xfrm>
            <a:off x="2513146" y="2526900"/>
            <a:ext cx="1596043" cy="1596043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13552910-19F5-82DD-8D00-50FEB59C676B}"/>
              </a:ext>
            </a:extLst>
          </p:cNvPr>
          <p:cNvSpPr/>
          <p:nvPr/>
        </p:nvSpPr>
        <p:spPr>
          <a:xfrm>
            <a:off x="3847665" y="1874499"/>
            <a:ext cx="5161576" cy="957626"/>
          </a:xfrm>
          <a:custGeom>
            <a:avLst/>
            <a:gdLst>
              <a:gd name="csX0" fmla="*/ 0 w 1436439"/>
              <a:gd name="csY0" fmla="*/ 0 h 957626"/>
              <a:gd name="csX1" fmla="*/ 1436439 w 1436439"/>
              <a:gd name="csY1" fmla="*/ 0 h 957626"/>
              <a:gd name="csX2" fmla="*/ 1436439 w 1436439"/>
              <a:gd name="csY2" fmla="*/ 957626 h 957626"/>
              <a:gd name="csX3" fmla="*/ 0 w 1436439"/>
              <a:gd name="csY3" fmla="*/ 957626 h 957626"/>
              <a:gd name="csX4" fmla="*/ 0 w 1436439"/>
              <a:gd name="csY4" fmla="*/ 0 h 957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439" h="957626">
                <a:moveTo>
                  <a:pt x="0" y="0"/>
                </a:moveTo>
                <a:lnTo>
                  <a:pt x="1436439" y="0"/>
                </a:lnTo>
                <a:lnTo>
                  <a:pt x="1436439" y="957626"/>
                </a:lnTo>
                <a:lnTo>
                  <a:pt x="0" y="957626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lvl="1" algn="l" defTabSz="13779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3100" kern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Nebuliser technology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A8A043B-FC75-6F11-6077-06504F4B58A0}"/>
              </a:ext>
            </a:extLst>
          </p:cNvPr>
          <p:cNvSpPr/>
          <p:nvPr/>
        </p:nvSpPr>
        <p:spPr>
          <a:xfrm>
            <a:off x="3847665" y="4061656"/>
            <a:ext cx="5366675" cy="957626"/>
          </a:xfrm>
          <a:custGeom>
            <a:avLst/>
            <a:gdLst>
              <a:gd name="csX0" fmla="*/ 0 w 1436439"/>
              <a:gd name="csY0" fmla="*/ 0 h 957626"/>
              <a:gd name="csX1" fmla="*/ 1436439 w 1436439"/>
              <a:gd name="csY1" fmla="*/ 0 h 957626"/>
              <a:gd name="csX2" fmla="*/ 1436439 w 1436439"/>
              <a:gd name="csY2" fmla="*/ 957626 h 957626"/>
              <a:gd name="csX3" fmla="*/ 0 w 1436439"/>
              <a:gd name="csY3" fmla="*/ 957626 h 957626"/>
              <a:gd name="csX4" fmla="*/ 0 w 1436439"/>
              <a:gd name="csY4" fmla="*/ 0 h 957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439" h="957626">
                <a:moveTo>
                  <a:pt x="0" y="0"/>
                </a:moveTo>
                <a:lnTo>
                  <a:pt x="1436439" y="0"/>
                </a:lnTo>
                <a:lnTo>
                  <a:pt x="1436439" y="957626"/>
                </a:lnTo>
                <a:lnTo>
                  <a:pt x="0" y="957626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lvl="1" algn="l" defTabSz="13779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3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	Open-access workflow</a:t>
            </a:r>
            <a:endParaRPr lang="en-GB" sz="3100" kern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B6A6A9-E67A-8DDF-AE21-851BF27F91F9}"/>
              </a:ext>
            </a:extLst>
          </p:cNvPr>
          <p:cNvSpPr/>
          <p:nvPr/>
        </p:nvSpPr>
        <p:spPr>
          <a:xfrm>
            <a:off x="4402748" y="1995486"/>
            <a:ext cx="723633" cy="634201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3D173FB-44F8-A072-1D9C-ED12F2D4AC46}"/>
              </a:ext>
            </a:extLst>
          </p:cNvPr>
          <p:cNvSpPr/>
          <p:nvPr/>
        </p:nvSpPr>
        <p:spPr>
          <a:xfrm>
            <a:off x="4540576" y="3036501"/>
            <a:ext cx="723633" cy="634201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18311A7-DC4D-B6C0-B80C-CA027A35541E}"/>
              </a:ext>
            </a:extLst>
          </p:cNvPr>
          <p:cNvSpPr/>
          <p:nvPr/>
        </p:nvSpPr>
        <p:spPr>
          <a:xfrm>
            <a:off x="4358439" y="4088228"/>
            <a:ext cx="723633" cy="634201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632BD5B-96A4-0EAB-5C16-560AD501A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055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ECDD-F271-FAFD-60D8-0A9AF1537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91337E-FBCE-D334-95F7-FB47AD044F3D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Future Directions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C71938F3-03BC-B0A9-082A-A27D1A417E18}"/>
              </a:ext>
            </a:extLst>
          </p:cNvPr>
          <p:cNvSpPr/>
          <p:nvPr/>
        </p:nvSpPr>
        <p:spPr>
          <a:xfrm>
            <a:off x="1468927" y="1729494"/>
            <a:ext cx="3513271" cy="882590"/>
          </a:xfrm>
          <a:custGeom>
            <a:avLst/>
            <a:gdLst>
              <a:gd name="csX0" fmla="*/ 232838 w 1397000"/>
              <a:gd name="csY0" fmla="*/ 0 h 5201920"/>
              <a:gd name="csX1" fmla="*/ 1164162 w 1397000"/>
              <a:gd name="csY1" fmla="*/ 0 h 5201920"/>
              <a:gd name="csX2" fmla="*/ 1397000 w 1397000"/>
              <a:gd name="csY2" fmla="*/ 232838 h 5201920"/>
              <a:gd name="csX3" fmla="*/ 1397000 w 1397000"/>
              <a:gd name="csY3" fmla="*/ 5201920 h 5201920"/>
              <a:gd name="csX4" fmla="*/ 1397000 w 1397000"/>
              <a:gd name="csY4" fmla="*/ 5201920 h 5201920"/>
              <a:gd name="csX5" fmla="*/ 0 w 1397000"/>
              <a:gd name="csY5" fmla="*/ 5201920 h 5201920"/>
              <a:gd name="csX6" fmla="*/ 0 w 1397000"/>
              <a:gd name="csY6" fmla="*/ 5201920 h 5201920"/>
              <a:gd name="csX7" fmla="*/ 0 w 1397000"/>
              <a:gd name="csY7" fmla="*/ 232838 h 5201920"/>
              <a:gd name="csX8" fmla="*/ 232838 w 1397000"/>
              <a:gd name="csY8" fmla="*/ 0 h 5201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97000" h="5201920">
                <a:moveTo>
                  <a:pt x="1397000" y="867004"/>
                </a:moveTo>
                <a:lnTo>
                  <a:pt x="1397000" y="4334916"/>
                </a:lnTo>
                <a:cubicBezTo>
                  <a:pt x="1397000" y="4813750"/>
                  <a:pt x="1369005" y="5201920"/>
                  <a:pt x="1334470" y="5201920"/>
                </a:cubicBezTo>
                <a:lnTo>
                  <a:pt x="0" y="5201920"/>
                </a:lnTo>
                <a:lnTo>
                  <a:pt x="0" y="5201920"/>
                </a:lnTo>
                <a:lnTo>
                  <a:pt x="0" y="0"/>
                </a:lnTo>
                <a:lnTo>
                  <a:pt x="0" y="0"/>
                </a:lnTo>
                <a:lnTo>
                  <a:pt x="1334470" y="0"/>
                </a:lnTo>
                <a:cubicBezTo>
                  <a:pt x="1369005" y="0"/>
                  <a:pt x="1397000" y="388170"/>
                  <a:pt x="1397000" y="867004"/>
                </a:cubicBezTo>
                <a:close/>
              </a:path>
            </a:pathLst>
          </a:custGeom>
          <a:noFill/>
          <a:ln w="25400">
            <a:solidFill>
              <a:schemeClr val="accent3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37160" tIns="136776" rIns="205356" bIns="136776" numCol="1" spcCol="1270" anchor="ctr" anchorCtr="0">
            <a:noAutofit/>
          </a:bodyPr>
          <a:lstStyle/>
          <a:p>
            <a:pPr marL="0" lvl="1" algn="l" defTabSz="16002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2400" kern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Validate workflow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01D3D06-B294-868D-324A-BACF20FB81C3}"/>
              </a:ext>
            </a:extLst>
          </p:cNvPr>
          <p:cNvSpPr/>
          <p:nvPr/>
        </p:nvSpPr>
        <p:spPr>
          <a:xfrm>
            <a:off x="1468927" y="3202211"/>
            <a:ext cx="3513271" cy="882590"/>
          </a:xfrm>
          <a:custGeom>
            <a:avLst/>
            <a:gdLst>
              <a:gd name="csX0" fmla="*/ 232838 w 1397000"/>
              <a:gd name="csY0" fmla="*/ 0 h 5201920"/>
              <a:gd name="csX1" fmla="*/ 1164162 w 1397000"/>
              <a:gd name="csY1" fmla="*/ 0 h 5201920"/>
              <a:gd name="csX2" fmla="*/ 1397000 w 1397000"/>
              <a:gd name="csY2" fmla="*/ 232838 h 5201920"/>
              <a:gd name="csX3" fmla="*/ 1397000 w 1397000"/>
              <a:gd name="csY3" fmla="*/ 5201920 h 5201920"/>
              <a:gd name="csX4" fmla="*/ 1397000 w 1397000"/>
              <a:gd name="csY4" fmla="*/ 5201920 h 5201920"/>
              <a:gd name="csX5" fmla="*/ 0 w 1397000"/>
              <a:gd name="csY5" fmla="*/ 5201920 h 5201920"/>
              <a:gd name="csX6" fmla="*/ 0 w 1397000"/>
              <a:gd name="csY6" fmla="*/ 5201920 h 5201920"/>
              <a:gd name="csX7" fmla="*/ 0 w 1397000"/>
              <a:gd name="csY7" fmla="*/ 232838 h 5201920"/>
              <a:gd name="csX8" fmla="*/ 232838 w 1397000"/>
              <a:gd name="csY8" fmla="*/ 0 h 5201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97000" h="5201920">
                <a:moveTo>
                  <a:pt x="1397000" y="867004"/>
                </a:moveTo>
                <a:lnTo>
                  <a:pt x="1397000" y="4334916"/>
                </a:lnTo>
                <a:cubicBezTo>
                  <a:pt x="1397000" y="4813750"/>
                  <a:pt x="1369005" y="5201920"/>
                  <a:pt x="1334470" y="5201920"/>
                </a:cubicBezTo>
                <a:lnTo>
                  <a:pt x="0" y="5201920"/>
                </a:lnTo>
                <a:lnTo>
                  <a:pt x="0" y="5201920"/>
                </a:lnTo>
                <a:lnTo>
                  <a:pt x="0" y="0"/>
                </a:lnTo>
                <a:lnTo>
                  <a:pt x="0" y="0"/>
                </a:lnTo>
                <a:lnTo>
                  <a:pt x="1334470" y="0"/>
                </a:lnTo>
                <a:cubicBezTo>
                  <a:pt x="1369005" y="0"/>
                  <a:pt x="1397000" y="388170"/>
                  <a:pt x="1397000" y="867004"/>
                </a:cubicBezTo>
                <a:close/>
              </a:path>
            </a:pathLst>
          </a:custGeom>
          <a:noFill/>
          <a:ln w="25400">
            <a:solidFill>
              <a:schemeClr val="accent3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37160" tIns="136776" rIns="205356" bIns="136776" numCol="1" spcCol="1270" anchor="ctr" anchorCtr="0">
            <a:noAutofit/>
          </a:bodyPr>
          <a:lstStyle/>
          <a:p>
            <a:pPr marL="0" lvl="1" defTabSz="16002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Spike-in controls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7D7DFE3-AE42-8F24-578D-7A2DCA312BF8}"/>
              </a:ext>
            </a:extLst>
          </p:cNvPr>
          <p:cNvSpPr/>
          <p:nvPr/>
        </p:nvSpPr>
        <p:spPr>
          <a:xfrm>
            <a:off x="1468927" y="4625492"/>
            <a:ext cx="3513271" cy="882590"/>
          </a:xfrm>
          <a:custGeom>
            <a:avLst/>
            <a:gdLst>
              <a:gd name="csX0" fmla="*/ 232838 w 1397000"/>
              <a:gd name="csY0" fmla="*/ 0 h 5201920"/>
              <a:gd name="csX1" fmla="*/ 1164162 w 1397000"/>
              <a:gd name="csY1" fmla="*/ 0 h 5201920"/>
              <a:gd name="csX2" fmla="*/ 1397000 w 1397000"/>
              <a:gd name="csY2" fmla="*/ 232838 h 5201920"/>
              <a:gd name="csX3" fmla="*/ 1397000 w 1397000"/>
              <a:gd name="csY3" fmla="*/ 5201920 h 5201920"/>
              <a:gd name="csX4" fmla="*/ 1397000 w 1397000"/>
              <a:gd name="csY4" fmla="*/ 5201920 h 5201920"/>
              <a:gd name="csX5" fmla="*/ 0 w 1397000"/>
              <a:gd name="csY5" fmla="*/ 5201920 h 5201920"/>
              <a:gd name="csX6" fmla="*/ 0 w 1397000"/>
              <a:gd name="csY6" fmla="*/ 5201920 h 5201920"/>
              <a:gd name="csX7" fmla="*/ 0 w 1397000"/>
              <a:gd name="csY7" fmla="*/ 232838 h 5201920"/>
              <a:gd name="csX8" fmla="*/ 232838 w 1397000"/>
              <a:gd name="csY8" fmla="*/ 0 h 5201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97000" h="5201920">
                <a:moveTo>
                  <a:pt x="1397000" y="867004"/>
                </a:moveTo>
                <a:lnTo>
                  <a:pt x="1397000" y="4334916"/>
                </a:lnTo>
                <a:cubicBezTo>
                  <a:pt x="1397000" y="4813750"/>
                  <a:pt x="1369005" y="5201920"/>
                  <a:pt x="1334470" y="5201920"/>
                </a:cubicBezTo>
                <a:lnTo>
                  <a:pt x="0" y="5201920"/>
                </a:lnTo>
                <a:lnTo>
                  <a:pt x="0" y="5201920"/>
                </a:lnTo>
                <a:lnTo>
                  <a:pt x="0" y="0"/>
                </a:lnTo>
                <a:lnTo>
                  <a:pt x="0" y="0"/>
                </a:lnTo>
                <a:lnTo>
                  <a:pt x="1334470" y="0"/>
                </a:lnTo>
                <a:cubicBezTo>
                  <a:pt x="1369005" y="0"/>
                  <a:pt x="1397000" y="388170"/>
                  <a:pt x="1397000" y="867004"/>
                </a:cubicBezTo>
                <a:close/>
              </a:path>
            </a:pathLst>
          </a:custGeom>
          <a:noFill/>
          <a:ln w="25400">
            <a:solidFill>
              <a:schemeClr val="accent3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37160" tIns="136776" rIns="205356" bIns="136776" numCol="1" spcCol="1270" anchor="ctr" anchorCtr="0">
            <a:noAutofit/>
          </a:bodyPr>
          <a:lstStyle/>
          <a:p>
            <a:pPr marL="0" lvl="1" defTabSz="16002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GB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User-friendly workflow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1C6E02C-2108-D3B7-C3DE-A0FC25480EC7}"/>
              </a:ext>
            </a:extLst>
          </p:cNvPr>
          <p:cNvSpPr/>
          <p:nvPr/>
        </p:nvSpPr>
        <p:spPr>
          <a:xfrm>
            <a:off x="304799" y="4785252"/>
            <a:ext cx="1112852" cy="612435"/>
          </a:xfrm>
          <a:custGeom>
            <a:avLst/>
            <a:gdLst>
              <a:gd name="csX0" fmla="*/ 0 w 2926080"/>
              <a:gd name="csY0" fmla="*/ 291047 h 1746250"/>
              <a:gd name="csX1" fmla="*/ 291047 w 2926080"/>
              <a:gd name="csY1" fmla="*/ 0 h 1746250"/>
              <a:gd name="csX2" fmla="*/ 2635033 w 2926080"/>
              <a:gd name="csY2" fmla="*/ 0 h 1746250"/>
              <a:gd name="csX3" fmla="*/ 2926080 w 2926080"/>
              <a:gd name="csY3" fmla="*/ 291047 h 1746250"/>
              <a:gd name="csX4" fmla="*/ 2926080 w 2926080"/>
              <a:gd name="csY4" fmla="*/ 1455203 h 1746250"/>
              <a:gd name="csX5" fmla="*/ 2635033 w 2926080"/>
              <a:gd name="csY5" fmla="*/ 1746250 h 1746250"/>
              <a:gd name="csX6" fmla="*/ 291047 w 2926080"/>
              <a:gd name="csY6" fmla="*/ 1746250 h 1746250"/>
              <a:gd name="csX7" fmla="*/ 0 w 2926080"/>
              <a:gd name="csY7" fmla="*/ 1455203 h 1746250"/>
              <a:gd name="csX8" fmla="*/ 0 w 2926080"/>
              <a:gd name="csY8" fmla="*/ 291047 h 1746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926080" h="1746250">
                <a:moveTo>
                  <a:pt x="0" y="291047"/>
                </a:moveTo>
                <a:cubicBezTo>
                  <a:pt x="0" y="130306"/>
                  <a:pt x="130306" y="0"/>
                  <a:pt x="291047" y="0"/>
                </a:cubicBezTo>
                <a:lnTo>
                  <a:pt x="2635033" y="0"/>
                </a:lnTo>
                <a:cubicBezTo>
                  <a:pt x="2795774" y="0"/>
                  <a:pt x="2926080" y="130306"/>
                  <a:pt x="2926080" y="291047"/>
                </a:cubicBezTo>
                <a:lnTo>
                  <a:pt x="2926080" y="1455203"/>
                </a:lnTo>
                <a:cubicBezTo>
                  <a:pt x="2926080" y="1615944"/>
                  <a:pt x="2795774" y="1746250"/>
                  <a:pt x="2635033" y="1746250"/>
                </a:cubicBezTo>
                <a:lnTo>
                  <a:pt x="291047" y="1746250"/>
                </a:lnTo>
                <a:cubicBezTo>
                  <a:pt x="130306" y="1746250"/>
                  <a:pt x="0" y="1615944"/>
                  <a:pt x="0" y="1455203"/>
                </a:cubicBezTo>
                <a:lnTo>
                  <a:pt x="0" y="291047"/>
                </a:lnTo>
                <a:close/>
              </a:path>
            </a:pathLst>
          </a:cu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332895" tIns="209070" rIns="332895" bIns="209070" numCol="1" spcCol="1270" anchor="ctr" anchorCtr="0">
            <a:noAutofit/>
          </a:bodyPr>
          <a:lstStyle/>
          <a:p>
            <a:pPr marL="0" lvl="0" indent="0" algn="ctr" defTabSz="2889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800" kern="1200" dirty="0"/>
              <a:t>3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0E9355A-9EAE-A8CF-3F72-565C441EB383}"/>
              </a:ext>
            </a:extLst>
          </p:cNvPr>
          <p:cNvSpPr/>
          <p:nvPr/>
        </p:nvSpPr>
        <p:spPr>
          <a:xfrm>
            <a:off x="304799" y="3337288"/>
            <a:ext cx="1112852" cy="612435"/>
          </a:xfrm>
          <a:custGeom>
            <a:avLst/>
            <a:gdLst>
              <a:gd name="csX0" fmla="*/ 0 w 2926080"/>
              <a:gd name="csY0" fmla="*/ 291047 h 1746250"/>
              <a:gd name="csX1" fmla="*/ 291047 w 2926080"/>
              <a:gd name="csY1" fmla="*/ 0 h 1746250"/>
              <a:gd name="csX2" fmla="*/ 2635033 w 2926080"/>
              <a:gd name="csY2" fmla="*/ 0 h 1746250"/>
              <a:gd name="csX3" fmla="*/ 2926080 w 2926080"/>
              <a:gd name="csY3" fmla="*/ 291047 h 1746250"/>
              <a:gd name="csX4" fmla="*/ 2926080 w 2926080"/>
              <a:gd name="csY4" fmla="*/ 1455203 h 1746250"/>
              <a:gd name="csX5" fmla="*/ 2635033 w 2926080"/>
              <a:gd name="csY5" fmla="*/ 1746250 h 1746250"/>
              <a:gd name="csX6" fmla="*/ 291047 w 2926080"/>
              <a:gd name="csY6" fmla="*/ 1746250 h 1746250"/>
              <a:gd name="csX7" fmla="*/ 0 w 2926080"/>
              <a:gd name="csY7" fmla="*/ 1455203 h 1746250"/>
              <a:gd name="csX8" fmla="*/ 0 w 2926080"/>
              <a:gd name="csY8" fmla="*/ 291047 h 1746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926080" h="1746250">
                <a:moveTo>
                  <a:pt x="0" y="291047"/>
                </a:moveTo>
                <a:cubicBezTo>
                  <a:pt x="0" y="130306"/>
                  <a:pt x="130306" y="0"/>
                  <a:pt x="291047" y="0"/>
                </a:cubicBezTo>
                <a:lnTo>
                  <a:pt x="2635033" y="0"/>
                </a:lnTo>
                <a:cubicBezTo>
                  <a:pt x="2795774" y="0"/>
                  <a:pt x="2926080" y="130306"/>
                  <a:pt x="2926080" y="291047"/>
                </a:cubicBezTo>
                <a:lnTo>
                  <a:pt x="2926080" y="1455203"/>
                </a:lnTo>
                <a:cubicBezTo>
                  <a:pt x="2926080" y="1615944"/>
                  <a:pt x="2795774" y="1746250"/>
                  <a:pt x="2635033" y="1746250"/>
                </a:cubicBezTo>
                <a:lnTo>
                  <a:pt x="291047" y="1746250"/>
                </a:lnTo>
                <a:cubicBezTo>
                  <a:pt x="130306" y="1746250"/>
                  <a:pt x="0" y="1615944"/>
                  <a:pt x="0" y="1455203"/>
                </a:cubicBezTo>
                <a:lnTo>
                  <a:pt x="0" y="291047"/>
                </a:lnTo>
                <a:close/>
              </a:path>
            </a:pathLst>
          </a:cu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332895" tIns="209070" rIns="332895" bIns="209070" numCol="1" spcCol="1270" anchor="ctr" anchorCtr="0">
            <a:noAutofit/>
          </a:bodyPr>
          <a:lstStyle/>
          <a:p>
            <a:pPr marL="0" lvl="0" indent="0" algn="ctr" defTabSz="2889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800" kern="1200" dirty="0"/>
              <a:t>2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6AADE32-5FD7-E73E-0DB8-00A9E286B531}"/>
              </a:ext>
            </a:extLst>
          </p:cNvPr>
          <p:cNvSpPr/>
          <p:nvPr/>
        </p:nvSpPr>
        <p:spPr>
          <a:xfrm>
            <a:off x="304799" y="1889324"/>
            <a:ext cx="1112852" cy="612435"/>
          </a:xfrm>
          <a:custGeom>
            <a:avLst/>
            <a:gdLst>
              <a:gd name="csX0" fmla="*/ 0 w 2926080"/>
              <a:gd name="csY0" fmla="*/ 291047 h 1746250"/>
              <a:gd name="csX1" fmla="*/ 291047 w 2926080"/>
              <a:gd name="csY1" fmla="*/ 0 h 1746250"/>
              <a:gd name="csX2" fmla="*/ 2635033 w 2926080"/>
              <a:gd name="csY2" fmla="*/ 0 h 1746250"/>
              <a:gd name="csX3" fmla="*/ 2926080 w 2926080"/>
              <a:gd name="csY3" fmla="*/ 291047 h 1746250"/>
              <a:gd name="csX4" fmla="*/ 2926080 w 2926080"/>
              <a:gd name="csY4" fmla="*/ 1455203 h 1746250"/>
              <a:gd name="csX5" fmla="*/ 2635033 w 2926080"/>
              <a:gd name="csY5" fmla="*/ 1746250 h 1746250"/>
              <a:gd name="csX6" fmla="*/ 291047 w 2926080"/>
              <a:gd name="csY6" fmla="*/ 1746250 h 1746250"/>
              <a:gd name="csX7" fmla="*/ 0 w 2926080"/>
              <a:gd name="csY7" fmla="*/ 1455203 h 1746250"/>
              <a:gd name="csX8" fmla="*/ 0 w 2926080"/>
              <a:gd name="csY8" fmla="*/ 291047 h 1746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926080" h="1746250">
                <a:moveTo>
                  <a:pt x="0" y="291047"/>
                </a:moveTo>
                <a:cubicBezTo>
                  <a:pt x="0" y="130306"/>
                  <a:pt x="130306" y="0"/>
                  <a:pt x="291047" y="0"/>
                </a:cubicBezTo>
                <a:lnTo>
                  <a:pt x="2635033" y="0"/>
                </a:lnTo>
                <a:cubicBezTo>
                  <a:pt x="2795774" y="0"/>
                  <a:pt x="2926080" y="130306"/>
                  <a:pt x="2926080" y="291047"/>
                </a:cubicBezTo>
                <a:lnTo>
                  <a:pt x="2926080" y="1455203"/>
                </a:lnTo>
                <a:cubicBezTo>
                  <a:pt x="2926080" y="1615944"/>
                  <a:pt x="2795774" y="1746250"/>
                  <a:pt x="2635033" y="1746250"/>
                </a:cubicBezTo>
                <a:lnTo>
                  <a:pt x="291047" y="1746250"/>
                </a:lnTo>
                <a:cubicBezTo>
                  <a:pt x="130306" y="1746250"/>
                  <a:pt x="0" y="1615944"/>
                  <a:pt x="0" y="1455203"/>
                </a:cubicBezTo>
                <a:lnTo>
                  <a:pt x="0" y="291047"/>
                </a:lnTo>
                <a:close/>
              </a:path>
            </a:pathLst>
          </a:cu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332895" tIns="209070" rIns="332895" bIns="209070" numCol="1" spcCol="1270" anchor="ctr" anchorCtr="0">
            <a:noAutofit/>
          </a:bodyPr>
          <a:lstStyle/>
          <a:p>
            <a:pPr marL="0" lvl="0" indent="0" algn="ctr" defTabSz="2889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800" kern="1200" dirty="0"/>
              <a:t>1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EC6A88F-05A8-6959-66A9-27EC0DB21DB2}"/>
              </a:ext>
            </a:extLst>
          </p:cNvPr>
          <p:cNvGrpSpPr/>
          <p:nvPr/>
        </p:nvGrpSpPr>
        <p:grpSpPr>
          <a:xfrm>
            <a:off x="6755450" y="979301"/>
            <a:ext cx="4677399" cy="4528781"/>
            <a:chOff x="6755450" y="979301"/>
            <a:chExt cx="4677399" cy="4528781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82ACAF3-7DF8-1565-0438-B3A4ED31797B}"/>
                </a:ext>
              </a:extLst>
            </p:cNvPr>
            <p:cNvSpPr/>
            <p:nvPr/>
          </p:nvSpPr>
          <p:spPr>
            <a:xfrm>
              <a:off x="7919578" y="1729494"/>
              <a:ext cx="3513271" cy="882590"/>
            </a:xfrm>
            <a:custGeom>
              <a:avLst/>
              <a:gdLst>
                <a:gd name="csX0" fmla="*/ 232838 w 1397000"/>
                <a:gd name="csY0" fmla="*/ 0 h 5201920"/>
                <a:gd name="csX1" fmla="*/ 1164162 w 1397000"/>
                <a:gd name="csY1" fmla="*/ 0 h 5201920"/>
                <a:gd name="csX2" fmla="*/ 1397000 w 1397000"/>
                <a:gd name="csY2" fmla="*/ 232838 h 5201920"/>
                <a:gd name="csX3" fmla="*/ 1397000 w 1397000"/>
                <a:gd name="csY3" fmla="*/ 5201920 h 5201920"/>
                <a:gd name="csX4" fmla="*/ 1397000 w 1397000"/>
                <a:gd name="csY4" fmla="*/ 5201920 h 5201920"/>
                <a:gd name="csX5" fmla="*/ 0 w 1397000"/>
                <a:gd name="csY5" fmla="*/ 5201920 h 5201920"/>
                <a:gd name="csX6" fmla="*/ 0 w 1397000"/>
                <a:gd name="csY6" fmla="*/ 5201920 h 5201920"/>
                <a:gd name="csX7" fmla="*/ 0 w 1397000"/>
                <a:gd name="csY7" fmla="*/ 232838 h 5201920"/>
                <a:gd name="csX8" fmla="*/ 232838 w 1397000"/>
                <a:gd name="csY8" fmla="*/ 0 h 5201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97000" h="5201920">
                  <a:moveTo>
                    <a:pt x="1397000" y="867004"/>
                  </a:moveTo>
                  <a:lnTo>
                    <a:pt x="1397000" y="4334916"/>
                  </a:lnTo>
                  <a:cubicBezTo>
                    <a:pt x="1397000" y="4813750"/>
                    <a:pt x="1369005" y="5201920"/>
                    <a:pt x="1334470" y="5201920"/>
                  </a:cubicBezTo>
                  <a:lnTo>
                    <a:pt x="0" y="5201920"/>
                  </a:lnTo>
                  <a:lnTo>
                    <a:pt x="0" y="52019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334470" y="0"/>
                  </a:lnTo>
                  <a:cubicBezTo>
                    <a:pt x="1369005" y="0"/>
                    <a:pt x="1397000" y="388170"/>
                    <a:pt x="1397000" y="867004"/>
                  </a:cubicBezTo>
                  <a:close/>
                </a:path>
              </a:pathLst>
            </a:custGeom>
            <a:noFill/>
            <a:ln w="25400"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7160" tIns="136776" rIns="205356" bIns="136776" numCol="1" spcCol="1270" anchor="ctr" anchorCtr="0">
              <a:noAutofit/>
            </a:bodyPr>
            <a:lstStyle/>
            <a:p>
              <a:pPr marL="0" lvl="1" defTabSz="1600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GB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Repeat experiment</a:t>
              </a: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81D54D6D-93D3-2F9B-CDA1-9B63913178DD}"/>
                </a:ext>
              </a:extLst>
            </p:cNvPr>
            <p:cNvSpPr/>
            <p:nvPr/>
          </p:nvSpPr>
          <p:spPr>
            <a:xfrm>
              <a:off x="7919578" y="3202211"/>
              <a:ext cx="3513271" cy="882590"/>
            </a:xfrm>
            <a:custGeom>
              <a:avLst/>
              <a:gdLst>
                <a:gd name="csX0" fmla="*/ 232838 w 1397000"/>
                <a:gd name="csY0" fmla="*/ 0 h 5201920"/>
                <a:gd name="csX1" fmla="*/ 1164162 w 1397000"/>
                <a:gd name="csY1" fmla="*/ 0 h 5201920"/>
                <a:gd name="csX2" fmla="*/ 1397000 w 1397000"/>
                <a:gd name="csY2" fmla="*/ 232838 h 5201920"/>
                <a:gd name="csX3" fmla="*/ 1397000 w 1397000"/>
                <a:gd name="csY3" fmla="*/ 5201920 h 5201920"/>
                <a:gd name="csX4" fmla="*/ 1397000 w 1397000"/>
                <a:gd name="csY4" fmla="*/ 5201920 h 5201920"/>
                <a:gd name="csX5" fmla="*/ 0 w 1397000"/>
                <a:gd name="csY5" fmla="*/ 5201920 h 5201920"/>
                <a:gd name="csX6" fmla="*/ 0 w 1397000"/>
                <a:gd name="csY6" fmla="*/ 5201920 h 5201920"/>
                <a:gd name="csX7" fmla="*/ 0 w 1397000"/>
                <a:gd name="csY7" fmla="*/ 232838 h 5201920"/>
                <a:gd name="csX8" fmla="*/ 232838 w 1397000"/>
                <a:gd name="csY8" fmla="*/ 0 h 5201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97000" h="5201920">
                  <a:moveTo>
                    <a:pt x="1397000" y="867004"/>
                  </a:moveTo>
                  <a:lnTo>
                    <a:pt x="1397000" y="4334916"/>
                  </a:lnTo>
                  <a:cubicBezTo>
                    <a:pt x="1397000" y="4813750"/>
                    <a:pt x="1369005" y="5201920"/>
                    <a:pt x="1334470" y="5201920"/>
                  </a:cubicBezTo>
                  <a:lnTo>
                    <a:pt x="0" y="5201920"/>
                  </a:lnTo>
                  <a:lnTo>
                    <a:pt x="0" y="52019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334470" y="0"/>
                  </a:lnTo>
                  <a:cubicBezTo>
                    <a:pt x="1369005" y="0"/>
                    <a:pt x="1397000" y="388170"/>
                    <a:pt x="1397000" y="867004"/>
                  </a:cubicBezTo>
                  <a:close/>
                </a:path>
              </a:pathLst>
            </a:custGeom>
            <a:noFill/>
            <a:ln w="25400"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7160" tIns="136776" rIns="205356" bIns="136776" numCol="1" spcCol="1270" anchor="ctr" anchorCtr="0">
              <a:noAutofit/>
            </a:bodyPr>
            <a:lstStyle/>
            <a:p>
              <a:pPr marL="0" lvl="1" defTabSz="1600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GB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Experimental validation </a:t>
              </a:r>
              <a:r>
                <a:rPr lang="en-GB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(e.g., RT-qPCR)</a:t>
              </a:r>
              <a:endParaRPr lang="en-GB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5083348D-2EAC-79CF-12B7-84F50EBAC636}"/>
                </a:ext>
              </a:extLst>
            </p:cNvPr>
            <p:cNvSpPr/>
            <p:nvPr/>
          </p:nvSpPr>
          <p:spPr>
            <a:xfrm>
              <a:off x="7919578" y="4625492"/>
              <a:ext cx="3513271" cy="882590"/>
            </a:xfrm>
            <a:custGeom>
              <a:avLst/>
              <a:gdLst>
                <a:gd name="csX0" fmla="*/ 232838 w 1397000"/>
                <a:gd name="csY0" fmla="*/ 0 h 5201920"/>
                <a:gd name="csX1" fmla="*/ 1164162 w 1397000"/>
                <a:gd name="csY1" fmla="*/ 0 h 5201920"/>
                <a:gd name="csX2" fmla="*/ 1397000 w 1397000"/>
                <a:gd name="csY2" fmla="*/ 232838 h 5201920"/>
                <a:gd name="csX3" fmla="*/ 1397000 w 1397000"/>
                <a:gd name="csY3" fmla="*/ 5201920 h 5201920"/>
                <a:gd name="csX4" fmla="*/ 1397000 w 1397000"/>
                <a:gd name="csY4" fmla="*/ 5201920 h 5201920"/>
                <a:gd name="csX5" fmla="*/ 0 w 1397000"/>
                <a:gd name="csY5" fmla="*/ 5201920 h 5201920"/>
                <a:gd name="csX6" fmla="*/ 0 w 1397000"/>
                <a:gd name="csY6" fmla="*/ 5201920 h 5201920"/>
                <a:gd name="csX7" fmla="*/ 0 w 1397000"/>
                <a:gd name="csY7" fmla="*/ 232838 h 5201920"/>
                <a:gd name="csX8" fmla="*/ 232838 w 1397000"/>
                <a:gd name="csY8" fmla="*/ 0 h 5201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97000" h="5201920">
                  <a:moveTo>
                    <a:pt x="1397000" y="867004"/>
                  </a:moveTo>
                  <a:lnTo>
                    <a:pt x="1397000" y="4334916"/>
                  </a:lnTo>
                  <a:cubicBezTo>
                    <a:pt x="1397000" y="4813750"/>
                    <a:pt x="1369005" y="5201920"/>
                    <a:pt x="1334470" y="5201920"/>
                  </a:cubicBezTo>
                  <a:lnTo>
                    <a:pt x="0" y="5201920"/>
                  </a:lnTo>
                  <a:lnTo>
                    <a:pt x="0" y="52019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334470" y="0"/>
                  </a:lnTo>
                  <a:cubicBezTo>
                    <a:pt x="1369005" y="0"/>
                    <a:pt x="1397000" y="388170"/>
                    <a:pt x="1397000" y="867004"/>
                  </a:cubicBezTo>
                  <a:close/>
                </a:path>
              </a:pathLst>
            </a:custGeom>
            <a:noFill/>
            <a:ln w="25400"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7160" tIns="136776" rIns="205356" bIns="136776" numCol="1" spcCol="1270" anchor="ctr" anchorCtr="0">
              <a:noAutofit/>
            </a:bodyPr>
            <a:lstStyle/>
            <a:p>
              <a:pPr marL="0" lvl="1" defTabSz="1600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GB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Functional studies</a:t>
              </a: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ADCC85C-2E7D-2A7E-30A1-A6336E859266}"/>
                </a:ext>
              </a:extLst>
            </p:cNvPr>
            <p:cNvSpPr/>
            <p:nvPr/>
          </p:nvSpPr>
          <p:spPr>
            <a:xfrm>
              <a:off x="6755450" y="4785252"/>
              <a:ext cx="1112852" cy="612435"/>
            </a:xfrm>
            <a:custGeom>
              <a:avLst/>
              <a:gdLst>
                <a:gd name="csX0" fmla="*/ 0 w 2926080"/>
                <a:gd name="csY0" fmla="*/ 291047 h 1746250"/>
                <a:gd name="csX1" fmla="*/ 291047 w 2926080"/>
                <a:gd name="csY1" fmla="*/ 0 h 1746250"/>
                <a:gd name="csX2" fmla="*/ 2635033 w 2926080"/>
                <a:gd name="csY2" fmla="*/ 0 h 1746250"/>
                <a:gd name="csX3" fmla="*/ 2926080 w 2926080"/>
                <a:gd name="csY3" fmla="*/ 291047 h 1746250"/>
                <a:gd name="csX4" fmla="*/ 2926080 w 2926080"/>
                <a:gd name="csY4" fmla="*/ 1455203 h 1746250"/>
                <a:gd name="csX5" fmla="*/ 2635033 w 2926080"/>
                <a:gd name="csY5" fmla="*/ 1746250 h 1746250"/>
                <a:gd name="csX6" fmla="*/ 291047 w 2926080"/>
                <a:gd name="csY6" fmla="*/ 1746250 h 1746250"/>
                <a:gd name="csX7" fmla="*/ 0 w 2926080"/>
                <a:gd name="csY7" fmla="*/ 1455203 h 1746250"/>
                <a:gd name="csX8" fmla="*/ 0 w 2926080"/>
                <a:gd name="csY8" fmla="*/ 291047 h 174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6080" h="1746250">
                  <a:moveTo>
                    <a:pt x="0" y="291047"/>
                  </a:moveTo>
                  <a:cubicBezTo>
                    <a:pt x="0" y="130306"/>
                    <a:pt x="130306" y="0"/>
                    <a:pt x="291047" y="0"/>
                  </a:cubicBezTo>
                  <a:lnTo>
                    <a:pt x="2635033" y="0"/>
                  </a:lnTo>
                  <a:cubicBezTo>
                    <a:pt x="2795774" y="0"/>
                    <a:pt x="2926080" y="130306"/>
                    <a:pt x="2926080" y="291047"/>
                  </a:cubicBezTo>
                  <a:lnTo>
                    <a:pt x="2926080" y="1455203"/>
                  </a:lnTo>
                  <a:cubicBezTo>
                    <a:pt x="2926080" y="1615944"/>
                    <a:pt x="2795774" y="1746250"/>
                    <a:pt x="2635033" y="1746250"/>
                  </a:cubicBezTo>
                  <a:lnTo>
                    <a:pt x="291047" y="1746250"/>
                  </a:lnTo>
                  <a:cubicBezTo>
                    <a:pt x="130306" y="1746250"/>
                    <a:pt x="0" y="1615944"/>
                    <a:pt x="0" y="1455203"/>
                  </a:cubicBezTo>
                  <a:lnTo>
                    <a:pt x="0" y="291047"/>
                  </a:lnTo>
                  <a:close/>
                </a:path>
              </a:pathLst>
            </a:cu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32895" tIns="209070" rIns="332895" bIns="209070" numCol="1" spcCol="1270" anchor="ctr" anchorCtr="0">
              <a:noAutofit/>
            </a:bodyPr>
            <a:lstStyle/>
            <a:p>
              <a:pPr marL="0" lvl="0" indent="0" algn="ctr" defTabSz="2889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800" kern="1200" dirty="0"/>
                <a:t>3</a:t>
              </a: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4BA087B-F86F-42C5-C55A-9C28FC1CB773}"/>
                </a:ext>
              </a:extLst>
            </p:cNvPr>
            <p:cNvSpPr/>
            <p:nvPr/>
          </p:nvSpPr>
          <p:spPr>
            <a:xfrm>
              <a:off x="6755450" y="3337288"/>
              <a:ext cx="1112852" cy="612435"/>
            </a:xfrm>
            <a:custGeom>
              <a:avLst/>
              <a:gdLst>
                <a:gd name="csX0" fmla="*/ 0 w 2926080"/>
                <a:gd name="csY0" fmla="*/ 291047 h 1746250"/>
                <a:gd name="csX1" fmla="*/ 291047 w 2926080"/>
                <a:gd name="csY1" fmla="*/ 0 h 1746250"/>
                <a:gd name="csX2" fmla="*/ 2635033 w 2926080"/>
                <a:gd name="csY2" fmla="*/ 0 h 1746250"/>
                <a:gd name="csX3" fmla="*/ 2926080 w 2926080"/>
                <a:gd name="csY3" fmla="*/ 291047 h 1746250"/>
                <a:gd name="csX4" fmla="*/ 2926080 w 2926080"/>
                <a:gd name="csY4" fmla="*/ 1455203 h 1746250"/>
                <a:gd name="csX5" fmla="*/ 2635033 w 2926080"/>
                <a:gd name="csY5" fmla="*/ 1746250 h 1746250"/>
                <a:gd name="csX6" fmla="*/ 291047 w 2926080"/>
                <a:gd name="csY6" fmla="*/ 1746250 h 1746250"/>
                <a:gd name="csX7" fmla="*/ 0 w 2926080"/>
                <a:gd name="csY7" fmla="*/ 1455203 h 1746250"/>
                <a:gd name="csX8" fmla="*/ 0 w 2926080"/>
                <a:gd name="csY8" fmla="*/ 291047 h 174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6080" h="1746250">
                  <a:moveTo>
                    <a:pt x="0" y="291047"/>
                  </a:moveTo>
                  <a:cubicBezTo>
                    <a:pt x="0" y="130306"/>
                    <a:pt x="130306" y="0"/>
                    <a:pt x="291047" y="0"/>
                  </a:cubicBezTo>
                  <a:lnTo>
                    <a:pt x="2635033" y="0"/>
                  </a:lnTo>
                  <a:cubicBezTo>
                    <a:pt x="2795774" y="0"/>
                    <a:pt x="2926080" y="130306"/>
                    <a:pt x="2926080" y="291047"/>
                  </a:cubicBezTo>
                  <a:lnTo>
                    <a:pt x="2926080" y="1455203"/>
                  </a:lnTo>
                  <a:cubicBezTo>
                    <a:pt x="2926080" y="1615944"/>
                    <a:pt x="2795774" y="1746250"/>
                    <a:pt x="2635033" y="1746250"/>
                  </a:cubicBezTo>
                  <a:lnTo>
                    <a:pt x="291047" y="1746250"/>
                  </a:lnTo>
                  <a:cubicBezTo>
                    <a:pt x="130306" y="1746250"/>
                    <a:pt x="0" y="1615944"/>
                    <a:pt x="0" y="1455203"/>
                  </a:cubicBezTo>
                  <a:lnTo>
                    <a:pt x="0" y="291047"/>
                  </a:lnTo>
                  <a:close/>
                </a:path>
              </a:pathLst>
            </a:cu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32895" tIns="209070" rIns="332895" bIns="209070" numCol="1" spcCol="1270" anchor="ctr" anchorCtr="0">
              <a:noAutofit/>
            </a:bodyPr>
            <a:lstStyle/>
            <a:p>
              <a:pPr marL="0" lvl="0" indent="0" algn="ctr" defTabSz="2889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800" kern="1200" dirty="0"/>
                <a:t>2</a:t>
              </a: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DAFEE55-FF82-A4A3-B96D-01313849333D}"/>
                </a:ext>
              </a:extLst>
            </p:cNvPr>
            <p:cNvSpPr/>
            <p:nvPr/>
          </p:nvSpPr>
          <p:spPr>
            <a:xfrm>
              <a:off x="6755450" y="1889324"/>
              <a:ext cx="1112852" cy="612435"/>
            </a:xfrm>
            <a:custGeom>
              <a:avLst/>
              <a:gdLst>
                <a:gd name="csX0" fmla="*/ 0 w 2926080"/>
                <a:gd name="csY0" fmla="*/ 291047 h 1746250"/>
                <a:gd name="csX1" fmla="*/ 291047 w 2926080"/>
                <a:gd name="csY1" fmla="*/ 0 h 1746250"/>
                <a:gd name="csX2" fmla="*/ 2635033 w 2926080"/>
                <a:gd name="csY2" fmla="*/ 0 h 1746250"/>
                <a:gd name="csX3" fmla="*/ 2926080 w 2926080"/>
                <a:gd name="csY3" fmla="*/ 291047 h 1746250"/>
                <a:gd name="csX4" fmla="*/ 2926080 w 2926080"/>
                <a:gd name="csY4" fmla="*/ 1455203 h 1746250"/>
                <a:gd name="csX5" fmla="*/ 2635033 w 2926080"/>
                <a:gd name="csY5" fmla="*/ 1746250 h 1746250"/>
                <a:gd name="csX6" fmla="*/ 291047 w 2926080"/>
                <a:gd name="csY6" fmla="*/ 1746250 h 1746250"/>
                <a:gd name="csX7" fmla="*/ 0 w 2926080"/>
                <a:gd name="csY7" fmla="*/ 1455203 h 1746250"/>
                <a:gd name="csX8" fmla="*/ 0 w 2926080"/>
                <a:gd name="csY8" fmla="*/ 291047 h 174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6080" h="1746250">
                  <a:moveTo>
                    <a:pt x="0" y="291047"/>
                  </a:moveTo>
                  <a:cubicBezTo>
                    <a:pt x="0" y="130306"/>
                    <a:pt x="130306" y="0"/>
                    <a:pt x="291047" y="0"/>
                  </a:cubicBezTo>
                  <a:lnTo>
                    <a:pt x="2635033" y="0"/>
                  </a:lnTo>
                  <a:cubicBezTo>
                    <a:pt x="2795774" y="0"/>
                    <a:pt x="2926080" y="130306"/>
                    <a:pt x="2926080" y="291047"/>
                  </a:cubicBezTo>
                  <a:lnTo>
                    <a:pt x="2926080" y="1455203"/>
                  </a:lnTo>
                  <a:cubicBezTo>
                    <a:pt x="2926080" y="1615944"/>
                    <a:pt x="2795774" y="1746250"/>
                    <a:pt x="2635033" y="1746250"/>
                  </a:cubicBezTo>
                  <a:lnTo>
                    <a:pt x="291047" y="1746250"/>
                  </a:lnTo>
                  <a:cubicBezTo>
                    <a:pt x="130306" y="1746250"/>
                    <a:pt x="0" y="1615944"/>
                    <a:pt x="0" y="1455203"/>
                  </a:cubicBezTo>
                  <a:lnTo>
                    <a:pt x="0" y="291047"/>
                  </a:lnTo>
                  <a:close/>
                </a:path>
              </a:pathLst>
            </a:cu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32895" tIns="209070" rIns="332895" bIns="209070" numCol="1" spcCol="1270" anchor="ctr" anchorCtr="0">
              <a:noAutofit/>
            </a:bodyPr>
            <a:lstStyle/>
            <a:p>
              <a:pPr marL="0" lvl="0" indent="0" algn="ctr" defTabSz="2889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800" kern="1200" dirty="0"/>
                <a:t>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DCFCA53-0EE6-B675-FF01-05C6A771A1CC}"/>
                </a:ext>
              </a:extLst>
            </p:cNvPr>
            <p:cNvSpPr txBox="1"/>
            <p:nvPr/>
          </p:nvSpPr>
          <p:spPr>
            <a:xfrm>
              <a:off x="6755450" y="979301"/>
              <a:ext cx="1749022" cy="3693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Experimental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42C810A-BA14-142D-CD9B-E4132B15F67A}"/>
              </a:ext>
            </a:extLst>
          </p:cNvPr>
          <p:cNvSpPr txBox="1"/>
          <p:nvPr/>
        </p:nvSpPr>
        <p:spPr>
          <a:xfrm>
            <a:off x="304799" y="1002982"/>
            <a:ext cx="1749022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Workflow</a:t>
            </a:r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D356A3E3-50D2-AEA7-592E-99C528789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640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FBEB3-2649-F3E8-A8C2-B31D5CCB9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of Rectangle 3">
            <a:extLst>
              <a:ext uri="{FF2B5EF4-FFF2-40B4-BE49-F238E27FC236}">
                <a16:creationId xmlns:a16="http://schemas.microsoft.com/office/drawing/2014/main" id="{6FAC44B9-2E33-166D-8295-31C52F31974E}"/>
              </a:ext>
            </a:extLst>
          </p:cNvPr>
          <p:cNvSpPr/>
          <p:nvPr/>
        </p:nvSpPr>
        <p:spPr>
          <a:xfrm>
            <a:off x="1353579" y="1058116"/>
            <a:ext cx="9248159" cy="5274699"/>
          </a:xfrm>
          <a:prstGeom prst="snip1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54B2D7-2A70-F9AE-087B-B1FD405D4F55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Summary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862BEF-6E6D-C394-0AEE-5A38FDB33935}"/>
              </a:ext>
            </a:extLst>
          </p:cNvPr>
          <p:cNvSpPr/>
          <p:nvPr/>
        </p:nvSpPr>
        <p:spPr>
          <a:xfrm>
            <a:off x="2837203" y="1589517"/>
            <a:ext cx="6850135" cy="82894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Biologically  plausible results detected in primary HBEC dataset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353EBE-6B81-9B86-9B4B-4B3B48847C4F}"/>
              </a:ext>
            </a:extLst>
          </p:cNvPr>
          <p:cNvSpPr/>
          <p:nvPr/>
        </p:nvSpPr>
        <p:spPr>
          <a:xfrm>
            <a:off x="2085174" y="1683521"/>
            <a:ext cx="632389" cy="52984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E4F2E1A-7DE2-FBDA-3259-E66AC53FECD8}"/>
              </a:ext>
            </a:extLst>
          </p:cNvPr>
          <p:cNvGrpSpPr/>
          <p:nvPr/>
        </p:nvGrpSpPr>
        <p:grpSpPr>
          <a:xfrm>
            <a:off x="2085174" y="2685324"/>
            <a:ext cx="7602164" cy="828942"/>
            <a:chOff x="2085174" y="2685324"/>
            <a:chExt cx="7602164" cy="8289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86C1190-29C9-A8D8-4462-9D1548BB165F}"/>
                </a:ext>
              </a:extLst>
            </p:cNvPr>
            <p:cNvSpPr/>
            <p:nvPr/>
          </p:nvSpPr>
          <p:spPr>
            <a:xfrm>
              <a:off x="2837203" y="2685324"/>
              <a:ext cx="6850135" cy="82894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Context-dependent filtering would improve target gene-level enrichment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ADDD8D4-A699-3256-BAAF-4595DB41A342}"/>
                </a:ext>
              </a:extLst>
            </p:cNvPr>
            <p:cNvSpPr/>
            <p:nvPr/>
          </p:nvSpPr>
          <p:spPr>
            <a:xfrm>
              <a:off x="2085174" y="2779328"/>
              <a:ext cx="632389" cy="52984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3BCB37-046E-472C-FB08-1A704054B256}"/>
              </a:ext>
            </a:extLst>
          </p:cNvPr>
          <p:cNvGrpSpPr/>
          <p:nvPr/>
        </p:nvGrpSpPr>
        <p:grpSpPr>
          <a:xfrm>
            <a:off x="2085174" y="3781131"/>
            <a:ext cx="7602164" cy="828942"/>
            <a:chOff x="2085174" y="3781131"/>
            <a:chExt cx="7602164" cy="82894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61D82C-C962-CEA2-07A7-659480566971}"/>
                </a:ext>
              </a:extLst>
            </p:cNvPr>
            <p:cNvSpPr/>
            <p:nvPr/>
          </p:nvSpPr>
          <p:spPr>
            <a:xfrm>
              <a:off x="2837203" y="3781131"/>
              <a:ext cx="6850135" cy="82894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Calu-3 dataset was underpowered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D19E02F-2E3E-EEF2-F562-0E4AB46B3C43}"/>
                </a:ext>
              </a:extLst>
            </p:cNvPr>
            <p:cNvSpPr/>
            <p:nvPr/>
          </p:nvSpPr>
          <p:spPr>
            <a:xfrm>
              <a:off x="2085174" y="3875135"/>
              <a:ext cx="632389" cy="52984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3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BC8B924-C8BA-3A07-4D41-466794C8341B}"/>
              </a:ext>
            </a:extLst>
          </p:cNvPr>
          <p:cNvGrpSpPr/>
          <p:nvPr/>
        </p:nvGrpSpPr>
        <p:grpSpPr>
          <a:xfrm>
            <a:off x="2085174" y="4970942"/>
            <a:ext cx="7602164" cy="828942"/>
            <a:chOff x="2085174" y="4970942"/>
            <a:chExt cx="7602164" cy="82894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4011673-79B8-23FD-5E41-C02ECFC8E05A}"/>
                </a:ext>
              </a:extLst>
            </p:cNvPr>
            <p:cNvSpPr/>
            <p:nvPr/>
          </p:nvSpPr>
          <p:spPr>
            <a:xfrm>
              <a:off x="2837203" y="4970942"/>
              <a:ext cx="6850135" cy="82894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Created an open-access workflow potentially suitable for in-house transcriptomics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E5042FF-9499-4F9E-4544-E42631AD5E70}"/>
                </a:ext>
              </a:extLst>
            </p:cNvPr>
            <p:cNvSpPr/>
            <p:nvPr/>
          </p:nvSpPr>
          <p:spPr>
            <a:xfrm>
              <a:off x="2085174" y="5064946"/>
              <a:ext cx="632389" cy="52984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4</a:t>
              </a: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D17D513-C5D5-9D4E-EE8A-E394A549D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3342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1887E-A621-D637-25F0-CC17BF01A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31C63D-BDE2-7677-3679-DD088EE5B3A5}"/>
              </a:ext>
            </a:extLst>
          </p:cNvPr>
          <p:cNvSpPr txBox="1"/>
          <p:nvPr/>
        </p:nvSpPr>
        <p:spPr>
          <a:xfrm>
            <a:off x="313923" y="1225558"/>
            <a:ext cx="11272603" cy="186204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11500" dirty="0">
                <a:solidFill>
                  <a:srgbClr val="002060"/>
                </a:solidFill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B39C7-D04B-4E75-F5D9-33B150E3BB00}"/>
              </a:ext>
            </a:extLst>
          </p:cNvPr>
          <p:cNvSpPr txBox="1"/>
          <p:nvPr/>
        </p:nvSpPr>
        <p:spPr>
          <a:xfrm>
            <a:off x="795132" y="3296317"/>
            <a:ext cx="629478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u="sng" dirty="0"/>
              <a:t>Acknowledgements</a:t>
            </a:r>
            <a:endParaRPr lang="en-GB" u="sng" dirty="0"/>
          </a:p>
          <a:p>
            <a:endParaRPr lang="en-GB" dirty="0"/>
          </a:p>
          <a:p>
            <a:r>
              <a:rPr lang="en-GB" dirty="0"/>
              <a:t>I would like to acknowledge and thank my project supervisors:</a:t>
            </a:r>
          </a:p>
          <a:p>
            <a:endParaRPr lang="en-GB" dirty="0"/>
          </a:p>
          <a:p>
            <a:r>
              <a:rPr lang="en-GB" dirty="0"/>
              <a:t>Professor Lucy Fairclough</a:t>
            </a:r>
          </a:p>
          <a:p>
            <a:r>
              <a:rPr lang="en-GB" dirty="0"/>
              <a:t>Dr Georgina Hopkins</a:t>
            </a:r>
          </a:p>
          <a:p>
            <a:r>
              <a:rPr lang="en-GB" dirty="0"/>
              <a:t>Dr Hannah Jackson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6E89D-1531-CBCB-D4E8-C5B6DD92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090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701C9-BF95-014B-69BF-B24745506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745FE-A996-7A26-77E4-0736C2013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59007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5D480-7978-9281-3E12-A23492F5C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513662-08CA-2884-4389-DFA4B25F5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100" y="2146300"/>
            <a:ext cx="3225800" cy="256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6E4E08-A8B6-C592-389E-64622E314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45553" y="1816100"/>
            <a:ext cx="3225800" cy="256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CA370B-C509-A7A9-2312-FBE0AF3DB3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25" b="63132"/>
          <a:stretch>
            <a:fillRect/>
          </a:stretch>
        </p:blipFill>
        <p:spPr>
          <a:xfrm rot="16200000">
            <a:off x="7160461" y="2776287"/>
            <a:ext cx="3225800" cy="645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FFF90FC-442E-83E3-5681-73C86A8755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" t="68233" r="23031" b="23100"/>
          <a:stretch>
            <a:fillRect/>
          </a:stretch>
        </p:blipFill>
        <p:spPr>
          <a:xfrm rot="16200000">
            <a:off x="8273712" y="3449461"/>
            <a:ext cx="2302135" cy="2223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097E18-3F3A-5C33-6A73-2237E27FE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890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7178D-8529-BFCD-C9B3-2F96AF93D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98D07-F313-135C-E75A-5829E6FC4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234" y="1889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8800" dirty="0"/>
              <a:t>Archive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58D68D-E287-1A6F-2479-C74BEA9E0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7797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03899-6408-ED96-8BDC-CDE54485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F3E23D2-A17F-D068-BD18-69634BFF04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40B328A-423A-D35F-C649-BF11BB70D4FE}"/>
              </a:ext>
            </a:extLst>
          </p:cNvPr>
          <p:cNvSpPr/>
          <p:nvPr/>
        </p:nvSpPr>
        <p:spPr>
          <a:xfrm>
            <a:off x="77452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79E1E55-2B8E-1AFA-D5F8-BCD47B2BA68D}"/>
              </a:ext>
            </a:extLst>
          </p:cNvPr>
          <p:cNvSpPr/>
          <p:nvPr/>
        </p:nvSpPr>
        <p:spPr>
          <a:xfrm>
            <a:off x="384245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BB8354-CBAA-A87C-7610-FCE2CA79F118}"/>
              </a:ext>
            </a:extLst>
          </p:cNvPr>
          <p:cNvSpPr/>
          <p:nvPr/>
        </p:nvSpPr>
        <p:spPr>
          <a:xfrm>
            <a:off x="589229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2C2AB7A-42E1-CB52-D443-B7B0EECE49F0}"/>
              </a:ext>
            </a:extLst>
          </p:cNvPr>
          <p:cNvSpPr/>
          <p:nvPr/>
        </p:nvSpPr>
        <p:spPr>
          <a:xfrm>
            <a:off x="880558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65C9F4D2-4F38-538B-EC4F-CB42F7205A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21" name="Graphic 20" descr="Close outline">
            <a:extLst>
              <a:ext uri="{FF2B5EF4-FFF2-40B4-BE49-F238E27FC236}">
                <a16:creationId xmlns:a16="http://schemas.microsoft.com/office/drawing/2014/main" id="{5840AA8B-2906-2867-51FE-D154EC67B2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24" name="Graphic 23" descr="Close with solid fill">
            <a:extLst>
              <a:ext uri="{FF2B5EF4-FFF2-40B4-BE49-F238E27FC236}">
                <a16:creationId xmlns:a16="http://schemas.microsoft.com/office/drawing/2014/main" id="{553216EA-6F1F-B17D-3FF4-843F60D8F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25" name="Graphic 24" descr="Close with solid fill">
            <a:extLst>
              <a:ext uri="{FF2B5EF4-FFF2-40B4-BE49-F238E27FC236}">
                <a16:creationId xmlns:a16="http://schemas.microsoft.com/office/drawing/2014/main" id="{129F40D1-0F50-2C1A-3BAC-150F763C0A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26" name="Graphic 25" descr="Close with solid fill">
            <a:extLst>
              <a:ext uri="{FF2B5EF4-FFF2-40B4-BE49-F238E27FC236}">
                <a16:creationId xmlns:a16="http://schemas.microsoft.com/office/drawing/2014/main" id="{F52D1291-A8FD-5C93-C737-B91505BCAC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6C3CB9-492F-E31B-41C7-830FF8C24CA8}"/>
              </a:ext>
            </a:extLst>
          </p:cNvPr>
          <p:cNvSpPr txBox="1"/>
          <p:nvPr/>
        </p:nvSpPr>
        <p:spPr>
          <a:xfrm>
            <a:off x="1183087" y="989744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21760A-8C19-A3B4-6C5F-C73170E395BC}"/>
              </a:ext>
            </a:extLst>
          </p:cNvPr>
          <p:cNvSpPr txBox="1"/>
          <p:nvPr/>
        </p:nvSpPr>
        <p:spPr>
          <a:xfrm>
            <a:off x="4283796" y="989744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6E0EA5-701F-2918-F709-11F5246DC239}"/>
              </a:ext>
            </a:extLst>
          </p:cNvPr>
          <p:cNvSpPr txBox="1"/>
          <p:nvPr/>
        </p:nvSpPr>
        <p:spPr>
          <a:xfrm>
            <a:off x="6299705" y="989744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16E25A-015B-59B3-B209-6C40C92E7179}"/>
              </a:ext>
            </a:extLst>
          </p:cNvPr>
          <p:cNvSpPr txBox="1"/>
          <p:nvPr/>
        </p:nvSpPr>
        <p:spPr>
          <a:xfrm>
            <a:off x="9226594" y="989744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ED76F6-99CD-42AE-B0F9-1B678D48DB7A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4F877C-5EE0-D843-A119-A859360081ED}"/>
              </a:ext>
            </a:extLst>
          </p:cNvPr>
          <p:cNvSpPr txBox="1"/>
          <p:nvPr/>
        </p:nvSpPr>
        <p:spPr>
          <a:xfrm>
            <a:off x="691256" y="6466835"/>
            <a:ext cx="6907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Figure created by Chris Janschke in </a:t>
            </a:r>
            <a:r>
              <a:rPr lang="en-GB" sz="1200" dirty="0" err="1"/>
              <a:t>BioRender</a:t>
            </a:r>
            <a:r>
              <a:rPr lang="en-GB" sz="1200" dirty="0"/>
              <a:t>: https://</a:t>
            </a:r>
            <a:r>
              <a:rPr lang="en-GB" sz="1200" dirty="0" err="1"/>
              <a:t>BioRender.com</a:t>
            </a:r>
            <a:r>
              <a:rPr lang="en-GB" sz="1200" dirty="0">
                <a:effectLst/>
              </a:rPr>
              <a:t> </a:t>
            </a:r>
            <a:endParaRPr lang="en-GB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A3E56-FEC3-D7EF-75C9-39F95C9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1881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45F6E-955B-46BF-0251-9D9C6C951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3F6F81-3344-BAE7-4B29-5639965FE0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E179657-C73D-9781-BAB5-BCFA44AFEB87}"/>
              </a:ext>
            </a:extLst>
          </p:cNvPr>
          <p:cNvSpPr/>
          <p:nvPr/>
        </p:nvSpPr>
        <p:spPr>
          <a:xfrm>
            <a:off x="77452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F6AF091-1C8A-D344-4EE9-8812F15BB4E7}"/>
              </a:ext>
            </a:extLst>
          </p:cNvPr>
          <p:cNvSpPr/>
          <p:nvPr/>
        </p:nvSpPr>
        <p:spPr>
          <a:xfrm>
            <a:off x="384245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60F8E0-2426-F992-E0A5-6747C0AAC78B}"/>
              </a:ext>
            </a:extLst>
          </p:cNvPr>
          <p:cNvSpPr/>
          <p:nvPr/>
        </p:nvSpPr>
        <p:spPr>
          <a:xfrm>
            <a:off x="589229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FB1503A-8D5F-AFB8-1B27-43C2E2C78219}"/>
              </a:ext>
            </a:extLst>
          </p:cNvPr>
          <p:cNvSpPr/>
          <p:nvPr/>
        </p:nvSpPr>
        <p:spPr>
          <a:xfrm>
            <a:off x="880558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10" name="Graphic 9" descr="Close outline">
            <a:extLst>
              <a:ext uri="{FF2B5EF4-FFF2-40B4-BE49-F238E27FC236}">
                <a16:creationId xmlns:a16="http://schemas.microsoft.com/office/drawing/2014/main" id="{4CF55A00-3101-31FA-DD14-35079CB5A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DF90022F-BBAA-5232-1862-10203F5511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6A4841BA-C3B9-ED5B-642F-57874E0C06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13" name="Graphic 12" descr="Close with solid fill">
            <a:extLst>
              <a:ext uri="{FF2B5EF4-FFF2-40B4-BE49-F238E27FC236}">
                <a16:creationId xmlns:a16="http://schemas.microsoft.com/office/drawing/2014/main" id="{E027F8B8-85E1-D0FD-4704-47C565328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4BDA8863-ED97-D213-D264-4A6B9EF9CC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C9A2176-7507-459A-B355-30095D45DD83}"/>
              </a:ext>
            </a:extLst>
          </p:cNvPr>
          <p:cNvSpPr txBox="1"/>
          <p:nvPr/>
        </p:nvSpPr>
        <p:spPr>
          <a:xfrm>
            <a:off x="1183087" y="989744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FE38EC-9E62-E242-52A3-47B7E14176E4}"/>
              </a:ext>
            </a:extLst>
          </p:cNvPr>
          <p:cNvSpPr txBox="1"/>
          <p:nvPr/>
        </p:nvSpPr>
        <p:spPr>
          <a:xfrm>
            <a:off x="4283796" y="989744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DAFC59-356C-6D13-1432-D92F2636ECEE}"/>
              </a:ext>
            </a:extLst>
          </p:cNvPr>
          <p:cNvSpPr txBox="1"/>
          <p:nvPr/>
        </p:nvSpPr>
        <p:spPr>
          <a:xfrm>
            <a:off x="6299705" y="989744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B31C5B-FB15-7E18-1D39-70A2AEB32D3B}"/>
              </a:ext>
            </a:extLst>
          </p:cNvPr>
          <p:cNvSpPr txBox="1"/>
          <p:nvPr/>
        </p:nvSpPr>
        <p:spPr>
          <a:xfrm>
            <a:off x="9226594" y="989744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AB541B-BFE2-555F-79B5-BD7B0A108D58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01D4AE-E06D-3FCA-59EC-4483A72B2C81}"/>
              </a:ext>
            </a:extLst>
          </p:cNvPr>
          <p:cNvSpPr txBox="1"/>
          <p:nvPr/>
        </p:nvSpPr>
        <p:spPr>
          <a:xfrm>
            <a:off x="691256" y="6466835"/>
            <a:ext cx="6907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Figure created by Chris Janschke in </a:t>
            </a:r>
            <a:r>
              <a:rPr lang="en-GB" sz="1200" dirty="0" err="1"/>
              <a:t>BioRender</a:t>
            </a:r>
            <a:r>
              <a:rPr lang="en-GB" sz="1200" dirty="0"/>
              <a:t>: https://</a:t>
            </a:r>
            <a:r>
              <a:rPr lang="en-GB" sz="1200" dirty="0" err="1"/>
              <a:t>BioRender.com</a:t>
            </a:r>
            <a:r>
              <a:rPr lang="en-GB" sz="1200" dirty="0">
                <a:effectLst/>
              </a:rPr>
              <a:t> </a:t>
            </a:r>
            <a:endParaRPr lang="en-GB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BE83A3-1C85-54F1-CE0E-257F64DA292D}"/>
              </a:ext>
            </a:extLst>
          </p:cNvPr>
          <p:cNvSpPr/>
          <p:nvPr/>
        </p:nvSpPr>
        <p:spPr>
          <a:xfrm>
            <a:off x="548640" y="4572000"/>
            <a:ext cx="10952104" cy="18948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8B1CB79-E4E4-4CD6-17C5-BA02893C8E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3" t="12139" r="4305" b="36156"/>
          <a:stretch>
            <a:fillRect/>
          </a:stretch>
        </p:blipFill>
        <p:spPr>
          <a:xfrm>
            <a:off x="649086" y="4506723"/>
            <a:ext cx="10952103" cy="19601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96FB01-A02A-09EB-72A4-8D33A738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3243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40D1F-561F-330E-A9CF-37D1C74E5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A1A35AF-20B7-D28E-28B7-61AAB4829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895" y="2262819"/>
            <a:ext cx="3657600" cy="24384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C6092F-6F69-3809-8EC2-84487DB2DE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86" t="39488" r="50915" b="48718"/>
          <a:stretch>
            <a:fillRect/>
          </a:stretch>
        </p:blipFill>
        <p:spPr>
          <a:xfrm rot="752272">
            <a:off x="3935913" y="3168423"/>
            <a:ext cx="1945964" cy="3473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8C665C-DEC4-E7D5-CC42-823132263337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Data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FB0D40-321B-4820-6C7E-6F2E421F6B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13" t="8505" r="23376" b="54213"/>
          <a:stretch>
            <a:fillRect/>
          </a:stretch>
        </p:blipFill>
        <p:spPr>
          <a:xfrm>
            <a:off x="304801" y="1946442"/>
            <a:ext cx="3710539" cy="1498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535AE4-ADB5-CC41-1819-13B395884EC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552" r="36171" b="70647"/>
          <a:stretch>
            <a:fillRect/>
          </a:stretch>
        </p:blipFill>
        <p:spPr>
          <a:xfrm>
            <a:off x="5504234" y="228600"/>
            <a:ext cx="2910840" cy="19848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B96D42-4E21-3326-F293-148A1010496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552" t="66174" r="36171"/>
          <a:stretch>
            <a:fillRect/>
          </a:stretch>
        </p:blipFill>
        <p:spPr>
          <a:xfrm>
            <a:off x="5744865" y="4701219"/>
            <a:ext cx="2453850" cy="192818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CE9DB7C-0EFE-D18E-C62F-91C02AF55AF6}"/>
              </a:ext>
            </a:extLst>
          </p:cNvPr>
          <p:cNvSpPr txBox="1"/>
          <p:nvPr/>
        </p:nvSpPr>
        <p:spPr>
          <a:xfrm>
            <a:off x="532999" y="1579460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Primary HBEC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9BF9A3-199C-9DDC-219E-BEA03FB0A16C}"/>
              </a:ext>
            </a:extLst>
          </p:cNvPr>
          <p:cNvSpPr txBox="1"/>
          <p:nvPr/>
        </p:nvSpPr>
        <p:spPr>
          <a:xfrm>
            <a:off x="532998" y="3812024"/>
            <a:ext cx="28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Calu-3 adenocarcinoma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241FDD8-9D2C-6756-9BC6-624508DEAA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86" t="39488" r="50915" b="48718"/>
          <a:stretch>
            <a:fillRect/>
          </a:stretch>
        </p:blipFill>
        <p:spPr>
          <a:xfrm rot="20400988">
            <a:off x="3945815" y="4017533"/>
            <a:ext cx="1945964" cy="3473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0821E3-217C-4EAD-01C2-DA68BD7D8E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13" t="71274" r="23376"/>
          <a:stretch>
            <a:fillRect/>
          </a:stretch>
        </p:blipFill>
        <p:spPr>
          <a:xfrm>
            <a:off x="304800" y="4123898"/>
            <a:ext cx="3710539" cy="1154642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7C93550D-DEFE-6351-062C-40CA0AC2C3E5}"/>
              </a:ext>
            </a:extLst>
          </p:cNvPr>
          <p:cNvSpPr/>
          <p:nvPr/>
        </p:nvSpPr>
        <p:spPr>
          <a:xfrm rot="16200000">
            <a:off x="8238338" y="2897833"/>
            <a:ext cx="656314" cy="153499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8111081-A49F-3754-B7AC-9BD982A3244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924" t="23573" r="5478" b="19535"/>
          <a:stretch>
            <a:fillRect/>
          </a:stretch>
        </p:blipFill>
        <p:spPr>
          <a:xfrm>
            <a:off x="9339486" y="2196546"/>
            <a:ext cx="2852514" cy="228765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C8756CF-CF27-9E0B-9691-C4AEF8E5100E}"/>
              </a:ext>
            </a:extLst>
          </p:cNvPr>
          <p:cNvSpPr txBox="1"/>
          <p:nvPr/>
        </p:nvSpPr>
        <p:spPr>
          <a:xfrm>
            <a:off x="9903968" y="1870116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Transcriptomics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7BF864-D125-B0FD-7CEA-D72EB0139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1708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2D5BD-3B05-AA7A-CD3A-49A1B960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930F64-2188-4222-B01A-D732B0000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47" y="1419225"/>
            <a:ext cx="7772400" cy="40195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057117-A78D-0089-294B-C2890FBC6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631" y="990600"/>
            <a:ext cx="3657600" cy="243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E8DC05-958A-D2D8-D880-7D4D81AA92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552" r="36171"/>
          <a:stretch>
            <a:fillRect/>
          </a:stretch>
        </p:blipFill>
        <p:spPr>
          <a:xfrm>
            <a:off x="9994231" y="745456"/>
            <a:ext cx="2197769" cy="510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5AFE94-2804-D267-5955-1A1CB8D0D19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>
            <a:off x="2651760" y="2892279"/>
            <a:ext cx="3373120" cy="6021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159C32-2447-309F-12D9-0EF3C31D3E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7924" t="23573" r="5478" b="19535"/>
          <a:stretch>
            <a:fillRect/>
          </a:stretch>
        </p:blipFill>
        <p:spPr>
          <a:xfrm>
            <a:off x="6372489" y="3674144"/>
            <a:ext cx="3621742" cy="290456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7E2A9B-FCB3-CD05-2D8D-55231C0DC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71578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FDDA4-2F53-73F5-CCEF-02E9225D9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0EC4BE-1ABC-89FD-8DF2-F44E206F1230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Aims</a:t>
            </a:r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A18F8022-DE43-E881-E57C-AF4881C864E6}"/>
              </a:ext>
            </a:extLst>
          </p:cNvPr>
          <p:cNvSpPr/>
          <p:nvPr/>
        </p:nvSpPr>
        <p:spPr>
          <a:xfrm>
            <a:off x="-3464962" y="1012123"/>
            <a:ext cx="6647736" cy="4625710"/>
          </a:xfrm>
          <a:prstGeom prst="blockArc">
            <a:avLst>
              <a:gd name="adj1" fmla="val 18900000"/>
              <a:gd name="adj2" fmla="val 2700000"/>
              <a:gd name="adj3" fmla="val 296"/>
            </a:avLst>
          </a:prstGeom>
        </p:spPr>
        <p:style>
          <a:lnRef idx="2">
            <a:schemeClr val="accent1">
              <a:shade val="60000"/>
              <a:hueOff val="0"/>
              <a:satOff val="0"/>
              <a:lumOff val="0"/>
              <a:alphaOff val="0"/>
            </a:schemeClr>
          </a:lnRef>
          <a:fillRef idx="0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6E6F1587-446C-1946-C5F6-41C892FD5F65}"/>
              </a:ext>
            </a:extLst>
          </p:cNvPr>
          <p:cNvSpPr/>
          <p:nvPr/>
        </p:nvSpPr>
        <p:spPr>
          <a:xfrm>
            <a:off x="2803422" y="1950316"/>
            <a:ext cx="6654684" cy="687330"/>
          </a:xfrm>
          <a:custGeom>
            <a:avLst/>
            <a:gdLst>
              <a:gd name="csX0" fmla="*/ 0 w 7301111"/>
              <a:gd name="csY0" fmla="*/ 0 h 1083733"/>
              <a:gd name="csX1" fmla="*/ 7301111 w 7301111"/>
              <a:gd name="csY1" fmla="*/ 0 h 1083733"/>
              <a:gd name="csX2" fmla="*/ 7301111 w 7301111"/>
              <a:gd name="csY2" fmla="*/ 1083733 h 1083733"/>
              <a:gd name="csX3" fmla="*/ 0 w 7301111"/>
              <a:gd name="csY3" fmla="*/ 1083733 h 1083733"/>
              <a:gd name="csX4" fmla="*/ 0 w 7301111"/>
              <a:gd name="csY4" fmla="*/ 0 h 1083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301111" h="1083733">
                <a:moveTo>
                  <a:pt x="0" y="0"/>
                </a:moveTo>
                <a:lnTo>
                  <a:pt x="7301111" y="0"/>
                </a:lnTo>
                <a:lnTo>
                  <a:pt x="7301111" y="1083733"/>
                </a:lnTo>
                <a:lnTo>
                  <a:pt x="0" y="108373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80000"/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60213" tIns="142240" rIns="142240" bIns="142240" numCol="1" spcCol="1270" anchor="ctr" anchorCtr="0">
            <a:noAutofit/>
          </a:bodyPr>
          <a:lstStyle/>
          <a:p>
            <a:pPr defTabSz="2489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dirty="0"/>
              <a:t>Create a transcriptomics workflow using the primary HBEC dataset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772822-D470-C948-8634-E21F0165BCF2}"/>
              </a:ext>
            </a:extLst>
          </p:cNvPr>
          <p:cNvSpPr/>
          <p:nvPr/>
        </p:nvSpPr>
        <p:spPr>
          <a:xfrm>
            <a:off x="2186059" y="1864400"/>
            <a:ext cx="1234726" cy="859163"/>
          </a:xfrm>
          <a:prstGeom prst="ellipse">
            <a:avLst/>
          </a:prstGeom>
          <a:solidFill>
            <a:srgbClr val="C5D3FF">
              <a:alpha val="75000"/>
            </a:srgbClr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anchor="ctr"/>
          <a:lstStyle/>
          <a:p>
            <a:pPr algn="ctr"/>
            <a:r>
              <a:rPr lang="en-GB" sz="3600" b="1" dirty="0"/>
              <a:t>1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7D421DE-77BE-84DD-49A2-4AF5957A9CAA}"/>
              </a:ext>
            </a:extLst>
          </p:cNvPr>
          <p:cNvSpPr/>
          <p:nvPr/>
        </p:nvSpPr>
        <p:spPr>
          <a:xfrm>
            <a:off x="3162481" y="2981312"/>
            <a:ext cx="6295626" cy="687330"/>
          </a:xfrm>
          <a:custGeom>
            <a:avLst/>
            <a:gdLst>
              <a:gd name="csX0" fmla="*/ 0 w 6907174"/>
              <a:gd name="csY0" fmla="*/ 0 h 1083733"/>
              <a:gd name="csX1" fmla="*/ 6907174 w 6907174"/>
              <a:gd name="csY1" fmla="*/ 0 h 1083733"/>
              <a:gd name="csX2" fmla="*/ 6907174 w 6907174"/>
              <a:gd name="csY2" fmla="*/ 1083733 h 1083733"/>
              <a:gd name="csX3" fmla="*/ 0 w 6907174"/>
              <a:gd name="csY3" fmla="*/ 1083733 h 1083733"/>
              <a:gd name="csX4" fmla="*/ 0 w 6907174"/>
              <a:gd name="csY4" fmla="*/ 0 h 1083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907174" h="1083733">
                <a:moveTo>
                  <a:pt x="0" y="0"/>
                </a:moveTo>
                <a:lnTo>
                  <a:pt x="6907174" y="0"/>
                </a:lnTo>
                <a:lnTo>
                  <a:pt x="6907174" y="1083733"/>
                </a:lnTo>
                <a:lnTo>
                  <a:pt x="0" y="108373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80000"/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60213" tIns="142240" rIns="142240" bIns="142240" numCol="1" spcCol="1270" anchor="ctr" anchorCtr="0">
            <a:noAutofit/>
          </a:bodyPr>
          <a:lstStyle/>
          <a:p>
            <a:pPr defTabSz="2489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dirty="0"/>
              <a:t>Use exclusively open-access software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8E2E00E-71B7-8D6E-8115-89D64C9F62FA}"/>
              </a:ext>
            </a:extLst>
          </p:cNvPr>
          <p:cNvSpPr/>
          <p:nvPr/>
        </p:nvSpPr>
        <p:spPr>
          <a:xfrm>
            <a:off x="2545117" y="2895399"/>
            <a:ext cx="1234726" cy="859163"/>
          </a:xfrm>
          <a:prstGeom prst="ellipse">
            <a:avLst/>
          </a:prstGeom>
          <a:solidFill>
            <a:srgbClr val="C5D3FF">
              <a:alpha val="75000"/>
            </a:srgbClr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anchor="ctr"/>
          <a:lstStyle/>
          <a:p>
            <a:pPr algn="ctr"/>
            <a:r>
              <a:rPr lang="en-GB" sz="3600" b="1" dirty="0"/>
              <a:t>2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0BE6F2AC-2DA3-4BEC-959B-72AAF5046CB3}"/>
              </a:ext>
            </a:extLst>
          </p:cNvPr>
          <p:cNvSpPr/>
          <p:nvPr/>
        </p:nvSpPr>
        <p:spPr>
          <a:xfrm>
            <a:off x="2803422" y="4012309"/>
            <a:ext cx="6654684" cy="687330"/>
          </a:xfrm>
          <a:custGeom>
            <a:avLst/>
            <a:gdLst>
              <a:gd name="csX0" fmla="*/ 0 w 7301111"/>
              <a:gd name="csY0" fmla="*/ 0 h 1083733"/>
              <a:gd name="csX1" fmla="*/ 7301111 w 7301111"/>
              <a:gd name="csY1" fmla="*/ 0 h 1083733"/>
              <a:gd name="csX2" fmla="*/ 7301111 w 7301111"/>
              <a:gd name="csY2" fmla="*/ 1083733 h 1083733"/>
              <a:gd name="csX3" fmla="*/ 0 w 7301111"/>
              <a:gd name="csY3" fmla="*/ 1083733 h 1083733"/>
              <a:gd name="csX4" fmla="*/ 0 w 7301111"/>
              <a:gd name="csY4" fmla="*/ 0 h 1083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301111" h="1083733">
                <a:moveTo>
                  <a:pt x="0" y="0"/>
                </a:moveTo>
                <a:lnTo>
                  <a:pt x="7301111" y="0"/>
                </a:lnTo>
                <a:lnTo>
                  <a:pt x="7301111" y="1083733"/>
                </a:lnTo>
                <a:lnTo>
                  <a:pt x="0" y="108373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80000"/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60213" tIns="142240" rIns="142240" bIns="142240" numCol="1" spcCol="1270" anchor="ctr" anchorCtr="0">
            <a:noAutofit/>
          </a:bodyPr>
          <a:lstStyle/>
          <a:p>
            <a:pPr defTabSz="2489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GB" dirty="0"/>
              <a:t>Apply the workflow to the Calu-3 dataset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FB189B4-5554-D6C9-79E2-8FDC90DB57AE}"/>
              </a:ext>
            </a:extLst>
          </p:cNvPr>
          <p:cNvSpPr/>
          <p:nvPr/>
        </p:nvSpPr>
        <p:spPr>
          <a:xfrm>
            <a:off x="2186058" y="3926394"/>
            <a:ext cx="1234726" cy="859163"/>
          </a:xfrm>
          <a:prstGeom prst="ellipse">
            <a:avLst/>
          </a:prstGeom>
          <a:solidFill>
            <a:srgbClr val="C5D3FF">
              <a:alpha val="75000"/>
            </a:srgbClr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anchor="ctr"/>
          <a:lstStyle/>
          <a:p>
            <a:pPr algn="ctr"/>
            <a:r>
              <a:rPr lang="en-GB" sz="3600" b="1" dirty="0"/>
              <a:t>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66502A-CAE7-A41D-239A-1F965EEB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2298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5F34B-D0E0-661D-4B1B-51944ECE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B8687C-37AB-636D-5369-E9CB15F398B6}"/>
              </a:ext>
            </a:extLst>
          </p:cNvPr>
          <p:cNvSpPr txBox="1"/>
          <p:nvPr/>
        </p:nvSpPr>
        <p:spPr>
          <a:xfrm>
            <a:off x="304800" y="228600"/>
            <a:ext cx="29108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Transcriptomics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9E5BE1-26DD-B362-4715-9E74E8288C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924" t="23573" r="5478" b="19535"/>
          <a:stretch>
            <a:fillRect/>
          </a:stretch>
        </p:blipFill>
        <p:spPr>
          <a:xfrm>
            <a:off x="64858" y="1715845"/>
            <a:ext cx="1756685" cy="1408826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F61CAF2-B7B3-8145-C277-396DC1D35516}"/>
              </a:ext>
            </a:extLst>
          </p:cNvPr>
          <p:cNvSpPr/>
          <p:nvPr/>
        </p:nvSpPr>
        <p:spPr>
          <a:xfrm>
            <a:off x="2126343" y="1328058"/>
            <a:ext cx="9506857" cy="218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7ED84A-4755-05D9-543C-DA7E180CC980}"/>
              </a:ext>
            </a:extLst>
          </p:cNvPr>
          <p:cNvSpPr/>
          <p:nvPr/>
        </p:nvSpPr>
        <p:spPr>
          <a:xfrm>
            <a:off x="2380343" y="1915886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Trimming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3762D85D-B1FC-9C30-CAFC-7ABE8EAD7053}"/>
              </a:ext>
            </a:extLst>
          </p:cNvPr>
          <p:cNvSpPr/>
          <p:nvPr/>
        </p:nvSpPr>
        <p:spPr>
          <a:xfrm>
            <a:off x="3824514" y="2264229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0AACE4-5A41-4404-2B93-8A0DBA95BA96}"/>
              </a:ext>
            </a:extLst>
          </p:cNvPr>
          <p:cNvSpPr/>
          <p:nvPr/>
        </p:nvSpPr>
        <p:spPr>
          <a:xfrm>
            <a:off x="4855029" y="1915885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Quality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Control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910E53-4FBD-0EFB-0787-458EDB2A1ED3}"/>
              </a:ext>
            </a:extLst>
          </p:cNvPr>
          <p:cNvSpPr/>
          <p:nvPr/>
        </p:nvSpPr>
        <p:spPr>
          <a:xfrm>
            <a:off x="7329715" y="1915884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miRNA mapping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CE326598-AE0E-AE3D-E1E7-2532438129DF}"/>
              </a:ext>
            </a:extLst>
          </p:cNvPr>
          <p:cNvSpPr/>
          <p:nvPr/>
        </p:nvSpPr>
        <p:spPr>
          <a:xfrm>
            <a:off x="8773886" y="2264227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A2DFCA-F45E-5CEB-E1AF-858235080DD8}"/>
              </a:ext>
            </a:extLst>
          </p:cNvPr>
          <p:cNvSpPr/>
          <p:nvPr/>
        </p:nvSpPr>
        <p:spPr>
          <a:xfrm>
            <a:off x="9804401" y="1915883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Differential Expression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00A087C3-E2D9-9B77-9A29-BCB36BEF7B0A}"/>
              </a:ext>
            </a:extLst>
          </p:cNvPr>
          <p:cNvSpPr/>
          <p:nvPr/>
        </p:nvSpPr>
        <p:spPr>
          <a:xfrm>
            <a:off x="6306457" y="2264229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8729C5-E313-1206-4F53-71ABF9B70D99}"/>
              </a:ext>
            </a:extLst>
          </p:cNvPr>
          <p:cNvCxnSpPr/>
          <p:nvPr/>
        </p:nvCxnSpPr>
        <p:spPr>
          <a:xfrm>
            <a:off x="10486571" y="3512458"/>
            <a:ext cx="0" cy="12191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B5070AF-ED70-A3DB-96E4-7F4E1D650EBC}"/>
              </a:ext>
            </a:extLst>
          </p:cNvPr>
          <p:cNvSpPr/>
          <p:nvPr/>
        </p:nvSpPr>
        <p:spPr>
          <a:xfrm>
            <a:off x="2126343" y="4307117"/>
            <a:ext cx="9506857" cy="218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E6148E-F405-CE7B-2DF2-94BE3655DDBF}"/>
              </a:ext>
            </a:extLst>
          </p:cNvPr>
          <p:cNvSpPr/>
          <p:nvPr/>
        </p:nvSpPr>
        <p:spPr>
          <a:xfrm>
            <a:off x="2380343" y="4894945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Trimming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D3EB04D4-1C3E-AD5D-62B0-DCAA6FD69C58}"/>
              </a:ext>
            </a:extLst>
          </p:cNvPr>
          <p:cNvSpPr/>
          <p:nvPr/>
        </p:nvSpPr>
        <p:spPr>
          <a:xfrm rot="10800000">
            <a:off x="3824514" y="5243288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812BD8-F0D4-99EE-E5B7-177CB3D8F7BE}"/>
              </a:ext>
            </a:extLst>
          </p:cNvPr>
          <p:cNvSpPr/>
          <p:nvPr/>
        </p:nvSpPr>
        <p:spPr>
          <a:xfrm>
            <a:off x="4855029" y="4894944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Quality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Control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F88888-0332-3335-F809-4F48295CED2E}"/>
              </a:ext>
            </a:extLst>
          </p:cNvPr>
          <p:cNvSpPr/>
          <p:nvPr/>
        </p:nvSpPr>
        <p:spPr>
          <a:xfrm>
            <a:off x="7329715" y="4894943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miRNA mapping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9CD3FEEA-33D1-507C-3458-75A04EBB405F}"/>
              </a:ext>
            </a:extLst>
          </p:cNvPr>
          <p:cNvSpPr/>
          <p:nvPr/>
        </p:nvSpPr>
        <p:spPr>
          <a:xfrm rot="10800000">
            <a:off x="8773886" y="5243286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B7292F-CADA-A686-DC08-794710F08EAC}"/>
              </a:ext>
            </a:extLst>
          </p:cNvPr>
          <p:cNvSpPr/>
          <p:nvPr/>
        </p:nvSpPr>
        <p:spPr>
          <a:xfrm>
            <a:off x="9804401" y="4894942"/>
            <a:ext cx="1364343" cy="928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Pathway Enrichment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4017169C-AE98-783F-5456-BCC6B1280988}"/>
              </a:ext>
            </a:extLst>
          </p:cNvPr>
          <p:cNvSpPr/>
          <p:nvPr/>
        </p:nvSpPr>
        <p:spPr>
          <a:xfrm rot="10800000">
            <a:off x="6306457" y="5243288"/>
            <a:ext cx="885372" cy="2322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DE85F-DACE-B4E9-6F41-960ACC627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9642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95FE9-A229-16F4-CBED-0EF04F27D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39E4B4D-4B3E-ABDA-B122-17B206716816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(5)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94C3CF1-E263-6213-5D7B-B58BAF8B0982}"/>
              </a:ext>
            </a:extLst>
          </p:cNvPr>
          <p:cNvGraphicFramePr>
            <a:graphicFrameLocks noGrp="1"/>
          </p:cNvGraphicFramePr>
          <p:nvPr/>
        </p:nvGraphicFramePr>
        <p:xfrm>
          <a:off x="4443664" y="244642"/>
          <a:ext cx="6874042" cy="982579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874042">
                  <a:extLst>
                    <a:ext uri="{9D8B030D-6E8A-4147-A177-3AD203B41FA5}">
                      <a16:colId xmlns:a16="http://schemas.microsoft.com/office/drawing/2014/main" val="3859239714"/>
                    </a:ext>
                  </a:extLst>
                </a:gridCol>
              </a:tblGrid>
              <a:tr h="384573">
                <a:tc>
                  <a:txBody>
                    <a:bodyPr/>
                    <a:lstStyle/>
                    <a:p>
                      <a:r>
                        <a:rPr lang="en-GB" dirty="0"/>
                        <a:t>Summary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15783"/>
                  </a:ext>
                </a:extLst>
              </a:tr>
              <a:tr h="598006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GB" dirty="0"/>
                        <a:t>Experimental design optimisation could improve transcriptomics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029511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48B4AAC1-7E41-F864-A13F-833015CB881F}"/>
              </a:ext>
            </a:extLst>
          </p:cNvPr>
          <p:cNvSpPr txBox="1"/>
          <p:nvPr/>
        </p:nvSpPr>
        <p:spPr>
          <a:xfrm>
            <a:off x="232611" y="1804737"/>
            <a:ext cx="27913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u="sng" dirty="0"/>
              <a:t>Experimental Design</a:t>
            </a:r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4F9B2DA-8353-EB3F-3D8E-EF1FFCF5EF91}"/>
              </a:ext>
            </a:extLst>
          </p:cNvPr>
          <p:cNvSpPr/>
          <p:nvPr/>
        </p:nvSpPr>
        <p:spPr>
          <a:xfrm>
            <a:off x="946243" y="2463643"/>
            <a:ext cx="3123406" cy="3123406"/>
          </a:xfrm>
          <a:custGeom>
            <a:avLst/>
            <a:gdLst>
              <a:gd name="csX0" fmla="*/ 0 w 3123406"/>
              <a:gd name="csY0" fmla="*/ 1561703 h 3123406"/>
              <a:gd name="csX1" fmla="*/ 1561703 w 3123406"/>
              <a:gd name="csY1" fmla="*/ 0 h 3123406"/>
              <a:gd name="csX2" fmla="*/ 3123406 w 3123406"/>
              <a:gd name="csY2" fmla="*/ 1561703 h 3123406"/>
              <a:gd name="csX3" fmla="*/ 1561703 w 3123406"/>
              <a:gd name="csY3" fmla="*/ 3123406 h 3123406"/>
              <a:gd name="csX4" fmla="*/ 0 w 3123406"/>
              <a:gd name="csY4" fmla="*/ 1561703 h 31234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23406" h="3123406">
                <a:moveTo>
                  <a:pt x="0" y="1561703"/>
                </a:moveTo>
                <a:cubicBezTo>
                  <a:pt x="0" y="699198"/>
                  <a:pt x="699198" y="0"/>
                  <a:pt x="1561703" y="0"/>
                </a:cubicBezTo>
                <a:cubicBezTo>
                  <a:pt x="2424208" y="0"/>
                  <a:pt x="3123406" y="699198"/>
                  <a:pt x="3123406" y="1561703"/>
                </a:cubicBezTo>
                <a:cubicBezTo>
                  <a:pt x="3123406" y="2424208"/>
                  <a:pt x="2424208" y="3123406"/>
                  <a:pt x="1561703" y="3123406"/>
                </a:cubicBezTo>
                <a:cubicBezTo>
                  <a:pt x="699198" y="3123406"/>
                  <a:pt x="0" y="2424208"/>
                  <a:pt x="0" y="1561703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</a:ln>
          <a:scene3d>
            <a:camera prst="orthographicFront"/>
            <a:lightRig rig="flat" dir="t"/>
          </a:scene3d>
          <a:sp3d prstMaterial="dkEdge">
            <a:bevelT w="8200" h="38100"/>
          </a:sp3d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1">
              <a:alpha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50000"/>
              <a:hueOff val="0"/>
              <a:satOff val="0"/>
              <a:lumOff val="0"/>
              <a:alphaOff val="0"/>
            </a:schemeClr>
          </a:effectRef>
          <a:fontRef idx="minor">
            <a:schemeClr val="tx1"/>
          </a:fontRef>
        </p:style>
        <p:txBody>
          <a:bodyPr spcFirstLastPara="0" vert="horz" wrap="square" lIns="629303" tIns="538692" rIns="629303" bIns="538692" numCol="1" spcCol="1270" anchor="ctr" anchorCtr="0">
            <a:noAutofit/>
          </a:bodyPr>
          <a:lstStyle/>
          <a:p>
            <a:pPr marL="0" lvl="0" indent="0" algn="ctr" defTabSz="2844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6400" kern="12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D260555-7ADF-DBE5-12A7-32417C9637AD}"/>
              </a:ext>
            </a:extLst>
          </p:cNvPr>
          <p:cNvSpPr txBox="1"/>
          <p:nvPr/>
        </p:nvSpPr>
        <p:spPr>
          <a:xfrm>
            <a:off x="1747793" y="4656005"/>
            <a:ext cx="16683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1. Increase sample size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4D5C8502-8733-C0FF-7799-AFC95EC97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291" y="3128569"/>
            <a:ext cx="350265" cy="1398040"/>
          </a:xfrm>
          <a:prstGeom prst="rect">
            <a:avLst/>
          </a:prstGeom>
        </p:spPr>
      </p:pic>
      <p:pic>
        <p:nvPicPr>
          <p:cNvPr id="76" name="Graphic 75" descr="Group of people with solid fill">
            <a:extLst>
              <a:ext uri="{FF2B5EF4-FFF2-40B4-BE49-F238E27FC236}">
                <a16:creationId xmlns:a16="http://schemas.microsoft.com/office/drawing/2014/main" id="{13DF19C0-997C-D0CE-3211-1E443D614D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4782" y="3456892"/>
            <a:ext cx="914400" cy="914400"/>
          </a:xfrm>
          <a:prstGeom prst="rect">
            <a:avLst/>
          </a:prstGeom>
        </p:spPr>
      </p:pic>
      <p:sp>
        <p:nvSpPr>
          <p:cNvPr id="77" name="Freeform 76">
            <a:extLst>
              <a:ext uri="{FF2B5EF4-FFF2-40B4-BE49-F238E27FC236}">
                <a16:creationId xmlns:a16="http://schemas.microsoft.com/office/drawing/2014/main" id="{114FF7C6-87B1-FDF9-6DB4-BC45E75B9F5C}"/>
              </a:ext>
            </a:extLst>
          </p:cNvPr>
          <p:cNvSpPr/>
          <p:nvPr/>
        </p:nvSpPr>
        <p:spPr>
          <a:xfrm>
            <a:off x="4384140" y="2551109"/>
            <a:ext cx="3123406" cy="3123406"/>
          </a:xfrm>
          <a:custGeom>
            <a:avLst/>
            <a:gdLst>
              <a:gd name="csX0" fmla="*/ 0 w 3123406"/>
              <a:gd name="csY0" fmla="*/ 1561703 h 3123406"/>
              <a:gd name="csX1" fmla="*/ 1561703 w 3123406"/>
              <a:gd name="csY1" fmla="*/ 0 h 3123406"/>
              <a:gd name="csX2" fmla="*/ 3123406 w 3123406"/>
              <a:gd name="csY2" fmla="*/ 1561703 h 3123406"/>
              <a:gd name="csX3" fmla="*/ 1561703 w 3123406"/>
              <a:gd name="csY3" fmla="*/ 3123406 h 3123406"/>
              <a:gd name="csX4" fmla="*/ 0 w 3123406"/>
              <a:gd name="csY4" fmla="*/ 1561703 h 31234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23406" h="3123406">
                <a:moveTo>
                  <a:pt x="0" y="1561703"/>
                </a:moveTo>
                <a:cubicBezTo>
                  <a:pt x="0" y="699198"/>
                  <a:pt x="699198" y="0"/>
                  <a:pt x="1561703" y="0"/>
                </a:cubicBezTo>
                <a:cubicBezTo>
                  <a:pt x="2424208" y="0"/>
                  <a:pt x="3123406" y="699198"/>
                  <a:pt x="3123406" y="1561703"/>
                </a:cubicBezTo>
                <a:cubicBezTo>
                  <a:pt x="3123406" y="2424208"/>
                  <a:pt x="2424208" y="3123406"/>
                  <a:pt x="1561703" y="3123406"/>
                </a:cubicBezTo>
                <a:cubicBezTo>
                  <a:pt x="699198" y="3123406"/>
                  <a:pt x="0" y="2424208"/>
                  <a:pt x="0" y="1561703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</a:ln>
          <a:scene3d>
            <a:camera prst="orthographicFront"/>
            <a:lightRig rig="flat" dir="t"/>
          </a:scene3d>
          <a:sp3d prstMaterial="dkEdge">
            <a:bevelT w="8200" h="38100"/>
          </a:sp3d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1">
              <a:alpha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50000"/>
              <a:hueOff val="0"/>
              <a:satOff val="0"/>
              <a:lumOff val="0"/>
              <a:alphaOff val="0"/>
            </a:schemeClr>
          </a:effectRef>
          <a:fontRef idx="minor">
            <a:schemeClr val="tx1"/>
          </a:fontRef>
        </p:style>
        <p:txBody>
          <a:bodyPr spcFirstLastPara="0" vert="horz" wrap="square" lIns="629303" tIns="538692" rIns="629303" bIns="538692" numCol="1" spcCol="1270" anchor="ctr" anchorCtr="0">
            <a:noAutofit/>
          </a:bodyPr>
          <a:lstStyle/>
          <a:p>
            <a:pPr marL="0" lvl="0" indent="0" algn="ctr" defTabSz="2844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6400" kern="1200" dirty="0"/>
          </a:p>
        </p:txBody>
      </p:sp>
      <p:sp>
        <p:nvSpPr>
          <p:cNvPr id="78" name="Freeform 77">
            <a:extLst>
              <a:ext uri="{FF2B5EF4-FFF2-40B4-BE49-F238E27FC236}">
                <a16:creationId xmlns:a16="http://schemas.microsoft.com/office/drawing/2014/main" id="{0B91A4A3-56C7-B679-A030-B59DBE273341}"/>
              </a:ext>
            </a:extLst>
          </p:cNvPr>
          <p:cNvSpPr/>
          <p:nvPr/>
        </p:nvSpPr>
        <p:spPr>
          <a:xfrm>
            <a:off x="7822037" y="2551109"/>
            <a:ext cx="3123406" cy="3123406"/>
          </a:xfrm>
          <a:custGeom>
            <a:avLst/>
            <a:gdLst>
              <a:gd name="csX0" fmla="*/ 0 w 3123406"/>
              <a:gd name="csY0" fmla="*/ 1561703 h 3123406"/>
              <a:gd name="csX1" fmla="*/ 1561703 w 3123406"/>
              <a:gd name="csY1" fmla="*/ 0 h 3123406"/>
              <a:gd name="csX2" fmla="*/ 3123406 w 3123406"/>
              <a:gd name="csY2" fmla="*/ 1561703 h 3123406"/>
              <a:gd name="csX3" fmla="*/ 1561703 w 3123406"/>
              <a:gd name="csY3" fmla="*/ 3123406 h 3123406"/>
              <a:gd name="csX4" fmla="*/ 0 w 3123406"/>
              <a:gd name="csY4" fmla="*/ 1561703 h 31234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23406" h="3123406">
                <a:moveTo>
                  <a:pt x="0" y="1561703"/>
                </a:moveTo>
                <a:cubicBezTo>
                  <a:pt x="0" y="699198"/>
                  <a:pt x="699198" y="0"/>
                  <a:pt x="1561703" y="0"/>
                </a:cubicBezTo>
                <a:cubicBezTo>
                  <a:pt x="2424208" y="0"/>
                  <a:pt x="3123406" y="699198"/>
                  <a:pt x="3123406" y="1561703"/>
                </a:cubicBezTo>
                <a:cubicBezTo>
                  <a:pt x="3123406" y="2424208"/>
                  <a:pt x="2424208" y="3123406"/>
                  <a:pt x="1561703" y="3123406"/>
                </a:cubicBezTo>
                <a:cubicBezTo>
                  <a:pt x="699198" y="3123406"/>
                  <a:pt x="0" y="2424208"/>
                  <a:pt x="0" y="1561703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</a:ln>
          <a:scene3d>
            <a:camera prst="orthographicFront"/>
            <a:lightRig rig="flat" dir="t"/>
          </a:scene3d>
          <a:sp3d prstMaterial="dkEdge">
            <a:bevelT w="8200" h="38100"/>
          </a:sp3d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1">
              <a:alpha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50000"/>
              <a:hueOff val="0"/>
              <a:satOff val="0"/>
              <a:lumOff val="0"/>
              <a:alphaOff val="0"/>
            </a:schemeClr>
          </a:effectRef>
          <a:fontRef idx="minor">
            <a:schemeClr val="tx1"/>
          </a:fontRef>
        </p:style>
        <p:txBody>
          <a:bodyPr spcFirstLastPara="0" vert="horz" wrap="square" lIns="629303" tIns="538692" rIns="629303" bIns="538692" numCol="1" spcCol="1270" anchor="ctr" anchorCtr="0">
            <a:noAutofit/>
          </a:bodyPr>
          <a:lstStyle/>
          <a:p>
            <a:pPr marL="0" lvl="0" indent="0" algn="ctr" defTabSz="2844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6400" kern="1200" dirty="0"/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99418E05-0A6F-CFA0-1844-CAE74B8A7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4088" y="2770760"/>
            <a:ext cx="350265" cy="1398040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0EA57357-40EE-001D-664E-19BB48758EF7}"/>
              </a:ext>
            </a:extLst>
          </p:cNvPr>
          <p:cNvSpPr txBox="1"/>
          <p:nvPr/>
        </p:nvSpPr>
        <p:spPr>
          <a:xfrm>
            <a:off x="5384709" y="4213643"/>
            <a:ext cx="1668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 Increase amount of extracellular vesicles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B6B744C0-3CD2-F6AF-DCEE-1207ED119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5088" y="3059092"/>
            <a:ext cx="352926" cy="33469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9EB32A02-0BD9-66EC-1990-A75F1EB967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1595" y="3775859"/>
            <a:ext cx="352926" cy="334696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BEFB482-9454-9B6F-9BDE-DD1CDA9D2F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9985" y="3353797"/>
            <a:ext cx="352926" cy="334696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B99B08E-A079-9CB2-56CC-8BE1B50876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459" y="3677372"/>
            <a:ext cx="352926" cy="334696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55C460D9-F105-8FF1-67D4-8C4E63997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7931" y="2935427"/>
            <a:ext cx="352926" cy="33469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1C2B536-1337-97A8-3A52-2CD994644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8796" y="3099083"/>
            <a:ext cx="352926" cy="33469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0071F664-2FA0-F007-BC85-5286BD23CF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259" y="3433779"/>
            <a:ext cx="352926" cy="33469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8B65DA05-26EF-1ADE-62AC-FE2C16147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938" y="3417475"/>
            <a:ext cx="352926" cy="334696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C3615267-8B92-9E1F-B501-F93C65284A3B}"/>
              </a:ext>
            </a:extLst>
          </p:cNvPr>
          <p:cNvSpPr txBox="1"/>
          <p:nvPr/>
        </p:nvSpPr>
        <p:spPr>
          <a:xfrm>
            <a:off x="8775829" y="4227571"/>
            <a:ext cx="1668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3. Integrate matched miRNA-mRNA data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7A80674-085B-025A-6412-58A5B100C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2140" y="3270123"/>
            <a:ext cx="2545739" cy="56240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86F07D4-F63D-1549-2351-B16A54699418}"/>
              </a:ext>
            </a:extLst>
          </p:cNvPr>
          <p:cNvGrpSpPr/>
          <p:nvPr/>
        </p:nvGrpSpPr>
        <p:grpSpPr>
          <a:xfrm>
            <a:off x="10987982" y="925525"/>
            <a:ext cx="3123406" cy="3123406"/>
            <a:chOff x="4676730" y="1797059"/>
            <a:chExt cx="3123406" cy="3123406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B359556-CD90-7E81-1E40-43C2396281A5}"/>
                </a:ext>
              </a:extLst>
            </p:cNvPr>
            <p:cNvSpPr/>
            <p:nvPr/>
          </p:nvSpPr>
          <p:spPr>
            <a:xfrm>
              <a:off x="4676730" y="1797059"/>
              <a:ext cx="3123406" cy="3123406"/>
            </a:xfrm>
            <a:custGeom>
              <a:avLst/>
              <a:gdLst>
                <a:gd name="csX0" fmla="*/ 0 w 3123406"/>
                <a:gd name="csY0" fmla="*/ 1561703 h 3123406"/>
                <a:gd name="csX1" fmla="*/ 1561703 w 3123406"/>
                <a:gd name="csY1" fmla="*/ 0 h 3123406"/>
                <a:gd name="csX2" fmla="*/ 3123406 w 3123406"/>
                <a:gd name="csY2" fmla="*/ 1561703 h 3123406"/>
                <a:gd name="csX3" fmla="*/ 1561703 w 3123406"/>
                <a:gd name="csY3" fmla="*/ 3123406 h 3123406"/>
                <a:gd name="csX4" fmla="*/ 0 w 3123406"/>
                <a:gd name="csY4" fmla="*/ 1561703 h 3123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123406" h="3123406">
                  <a:moveTo>
                    <a:pt x="0" y="1561703"/>
                  </a:moveTo>
                  <a:cubicBezTo>
                    <a:pt x="0" y="699198"/>
                    <a:pt x="699198" y="0"/>
                    <a:pt x="1561703" y="0"/>
                  </a:cubicBezTo>
                  <a:cubicBezTo>
                    <a:pt x="2424208" y="0"/>
                    <a:pt x="3123406" y="699198"/>
                    <a:pt x="3123406" y="1561703"/>
                  </a:cubicBezTo>
                  <a:cubicBezTo>
                    <a:pt x="3123406" y="2424208"/>
                    <a:pt x="2424208" y="3123406"/>
                    <a:pt x="1561703" y="3123406"/>
                  </a:cubicBezTo>
                  <a:cubicBezTo>
                    <a:pt x="699198" y="3123406"/>
                    <a:pt x="0" y="2424208"/>
                    <a:pt x="0" y="1561703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</a:ln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alpha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tx1"/>
            </a:fontRef>
          </p:style>
          <p:txBody>
            <a:bodyPr spcFirstLastPara="0" vert="horz" wrap="square" lIns="629303" tIns="538692" rIns="629303" bIns="538692" numCol="1" spcCol="1270" anchor="ctr" anchorCtr="0">
              <a:noAutofit/>
            </a:bodyPr>
            <a:lstStyle/>
            <a:p>
              <a:pPr marL="0" lvl="0" indent="0" algn="ctr" defTabSz="2844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6400" kern="1200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56108C1-CF9E-FAB1-BAEC-7EF533C564EF}"/>
                </a:ext>
              </a:extLst>
            </p:cNvPr>
            <p:cNvSpPr/>
            <p:nvPr/>
          </p:nvSpPr>
          <p:spPr>
            <a:xfrm>
              <a:off x="4719022" y="3714584"/>
              <a:ext cx="3038822" cy="1205881"/>
            </a:xfrm>
            <a:custGeom>
              <a:avLst/>
              <a:gdLst>
                <a:gd name="csX0" fmla="*/ 0 w 3038822"/>
                <a:gd name="csY0" fmla="*/ 0 h 1205881"/>
                <a:gd name="csX1" fmla="*/ 3038822 w 3038822"/>
                <a:gd name="csY1" fmla="*/ 0 h 1205881"/>
                <a:gd name="csX2" fmla="*/ 3010903 w 3038822"/>
                <a:gd name="csY2" fmla="*/ 108581 h 1205881"/>
                <a:gd name="csX3" fmla="*/ 1519411 w 3038822"/>
                <a:gd name="csY3" fmla="*/ 1205881 h 1205881"/>
                <a:gd name="csX4" fmla="*/ 27919 w 3038822"/>
                <a:gd name="csY4" fmla="*/ 108581 h 1205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38822" h="1205881">
                  <a:moveTo>
                    <a:pt x="0" y="0"/>
                  </a:moveTo>
                  <a:lnTo>
                    <a:pt x="3038822" y="0"/>
                  </a:lnTo>
                  <a:lnTo>
                    <a:pt x="3010903" y="108581"/>
                  </a:lnTo>
                  <a:cubicBezTo>
                    <a:pt x="2813174" y="744301"/>
                    <a:pt x="2220196" y="1205881"/>
                    <a:pt x="1519411" y="1205881"/>
                  </a:cubicBezTo>
                  <a:cubicBezTo>
                    <a:pt x="818626" y="1205881"/>
                    <a:pt x="225649" y="744301"/>
                    <a:pt x="27919" y="108581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E278EF-DC5A-319E-BBEA-A91CDCA35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310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2958B-7021-9DC6-3755-982DC06D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39533D-75AC-21FE-5C0A-F6F9EE244DD0}"/>
              </a:ext>
            </a:extLst>
          </p:cNvPr>
          <p:cNvSpPr txBox="1"/>
          <p:nvPr/>
        </p:nvSpPr>
        <p:spPr>
          <a:xfrm>
            <a:off x="304799" y="228600"/>
            <a:ext cx="55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Significance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0C88EAE-E1D8-A377-C246-0CDAE17E8557}"/>
              </a:ext>
            </a:extLst>
          </p:cNvPr>
          <p:cNvSpPr/>
          <p:nvPr/>
        </p:nvSpPr>
        <p:spPr>
          <a:xfrm>
            <a:off x="3420378" y="1880387"/>
            <a:ext cx="5708754" cy="830777"/>
          </a:xfrm>
          <a:custGeom>
            <a:avLst/>
            <a:gdLst>
              <a:gd name="csX0" fmla="*/ 341098 w 5619544"/>
              <a:gd name="csY0" fmla="*/ 0 h 1075590"/>
              <a:gd name="csX1" fmla="*/ 5278446 w 5619544"/>
              <a:gd name="csY1" fmla="*/ 0 h 1075590"/>
              <a:gd name="csX2" fmla="*/ 5619544 w 5619544"/>
              <a:gd name="csY2" fmla="*/ 179269 h 1075590"/>
              <a:gd name="csX3" fmla="*/ 5619544 w 5619544"/>
              <a:gd name="csY3" fmla="*/ 896321 h 1075590"/>
              <a:gd name="csX4" fmla="*/ 5278446 w 5619544"/>
              <a:gd name="csY4" fmla="*/ 1075590 h 1075590"/>
              <a:gd name="csX5" fmla="*/ 341098 w 5619544"/>
              <a:gd name="csY5" fmla="*/ 1075590 h 1075590"/>
              <a:gd name="csX6" fmla="*/ 272355 w 5619544"/>
              <a:gd name="csY6" fmla="*/ 1071948 h 1075590"/>
              <a:gd name="csX7" fmla="*/ 250118 w 5619544"/>
              <a:gd name="csY7" fmla="*/ 1068320 h 1075590"/>
              <a:gd name="csX8" fmla="*/ 0 w 5619544"/>
              <a:gd name="csY8" fmla="*/ 552359 h 1075590"/>
              <a:gd name="csX9" fmla="*/ 0 w 5619544"/>
              <a:gd name="csY9" fmla="*/ 179269 h 1075590"/>
              <a:gd name="csX10" fmla="*/ 341098 w 5619544"/>
              <a:gd name="csY10" fmla="*/ 0 h 10755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619544" h="1075590">
                <a:moveTo>
                  <a:pt x="341098" y="0"/>
                </a:moveTo>
                <a:lnTo>
                  <a:pt x="5278446" y="0"/>
                </a:lnTo>
                <a:cubicBezTo>
                  <a:pt x="5466830" y="0"/>
                  <a:pt x="5619544" y="80261"/>
                  <a:pt x="5619544" y="179269"/>
                </a:cubicBezTo>
                <a:lnTo>
                  <a:pt x="5619544" y="896321"/>
                </a:lnTo>
                <a:cubicBezTo>
                  <a:pt x="5619544" y="995329"/>
                  <a:pt x="5466830" y="1075590"/>
                  <a:pt x="5278446" y="1075590"/>
                </a:cubicBezTo>
                <a:lnTo>
                  <a:pt x="341098" y="1075590"/>
                </a:lnTo>
                <a:cubicBezTo>
                  <a:pt x="317550" y="1075590"/>
                  <a:pt x="294559" y="1074336"/>
                  <a:pt x="272355" y="1071948"/>
                </a:cubicBezTo>
                <a:lnTo>
                  <a:pt x="250118" y="1068320"/>
                </a:lnTo>
                <a:lnTo>
                  <a:pt x="0" y="552359"/>
                </a:lnTo>
                <a:lnTo>
                  <a:pt x="0" y="179269"/>
                </a:lnTo>
                <a:cubicBezTo>
                  <a:pt x="0" y="80261"/>
                  <a:pt x="152714" y="0"/>
                  <a:pt x="341098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180000" anchor="ctr">
            <a:noAutofit/>
          </a:bodyPr>
          <a:lstStyle/>
          <a:p>
            <a:pPr marL="457200" lvl="0" indent="-4572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en-GB" sz="2000" dirty="0"/>
              <a:t>Detected limitations within a dataset intended for publication</a:t>
            </a: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7707FA3-2680-B9F0-26C4-CCFD4D0F9241}"/>
              </a:ext>
            </a:extLst>
          </p:cNvPr>
          <p:cNvSpPr/>
          <p:nvPr/>
        </p:nvSpPr>
        <p:spPr>
          <a:xfrm>
            <a:off x="3717450" y="3027974"/>
            <a:ext cx="5411681" cy="831600"/>
          </a:xfrm>
          <a:custGeom>
            <a:avLst/>
            <a:gdLst>
              <a:gd name="csX0" fmla="*/ 21722 w 5300168"/>
              <a:gd name="csY0" fmla="*/ 0 h 1075590"/>
              <a:gd name="csX1" fmla="*/ 4959070 w 5300168"/>
              <a:gd name="csY1" fmla="*/ 0 h 1075590"/>
              <a:gd name="csX2" fmla="*/ 5300168 w 5300168"/>
              <a:gd name="csY2" fmla="*/ 179269 h 1075590"/>
              <a:gd name="csX3" fmla="*/ 5300168 w 5300168"/>
              <a:gd name="csY3" fmla="*/ 896321 h 1075590"/>
              <a:gd name="csX4" fmla="*/ 4959070 w 5300168"/>
              <a:gd name="csY4" fmla="*/ 1075590 h 1075590"/>
              <a:gd name="csX5" fmla="*/ 520844 w 5300168"/>
              <a:gd name="csY5" fmla="*/ 1075590 h 1075590"/>
              <a:gd name="csX6" fmla="*/ 0 w 5300168"/>
              <a:gd name="csY6" fmla="*/ 1151 h 1075590"/>
              <a:gd name="csX7" fmla="*/ 21722 w 5300168"/>
              <a:gd name="csY7" fmla="*/ 0 h 10755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300168" h="1075590">
                <a:moveTo>
                  <a:pt x="21722" y="0"/>
                </a:moveTo>
                <a:lnTo>
                  <a:pt x="4959070" y="0"/>
                </a:lnTo>
                <a:cubicBezTo>
                  <a:pt x="5147454" y="0"/>
                  <a:pt x="5300168" y="80261"/>
                  <a:pt x="5300168" y="179269"/>
                </a:cubicBezTo>
                <a:lnTo>
                  <a:pt x="5300168" y="896321"/>
                </a:lnTo>
                <a:cubicBezTo>
                  <a:pt x="5300168" y="995329"/>
                  <a:pt x="5147454" y="1075590"/>
                  <a:pt x="4959070" y="1075590"/>
                </a:cubicBezTo>
                <a:lnTo>
                  <a:pt x="520844" y="1075590"/>
                </a:lnTo>
                <a:lnTo>
                  <a:pt x="0" y="1151"/>
                </a:lnTo>
                <a:lnTo>
                  <a:pt x="21722" y="0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03999" tIns="264546" rIns="264546" bIns="264546" numCol="1" spcCol="1270" anchor="ctr" anchorCtr="0">
            <a:noAutofit/>
          </a:bodyPr>
          <a:lstStyle/>
          <a:p>
            <a:pPr marL="457200" lvl="0" indent="-4572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 startAt="2"/>
            </a:pPr>
            <a:r>
              <a:rPr lang="en-GB" sz="2000" kern="1200" dirty="0"/>
              <a:t>Optimise future experimental design</a:t>
            </a: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9D83E00A-9F3D-3B8D-3CC2-BE361C6865C6}"/>
              </a:ext>
            </a:extLst>
          </p:cNvPr>
          <p:cNvSpPr/>
          <p:nvPr/>
        </p:nvSpPr>
        <p:spPr>
          <a:xfrm>
            <a:off x="4303470" y="4243291"/>
            <a:ext cx="4825661" cy="831600"/>
          </a:xfrm>
          <a:custGeom>
            <a:avLst/>
            <a:gdLst>
              <a:gd name="csX0" fmla="*/ 0 w 4714149"/>
              <a:gd name="csY0" fmla="*/ 0 h 1075590"/>
              <a:gd name="csX1" fmla="*/ 4373051 w 4714149"/>
              <a:gd name="csY1" fmla="*/ 0 h 1075590"/>
              <a:gd name="csX2" fmla="*/ 4714149 w 4714149"/>
              <a:gd name="csY2" fmla="*/ 179269 h 1075590"/>
              <a:gd name="csX3" fmla="*/ 4714149 w 4714149"/>
              <a:gd name="csY3" fmla="*/ 896321 h 1075590"/>
              <a:gd name="csX4" fmla="*/ 4373051 w 4714149"/>
              <a:gd name="csY4" fmla="*/ 1075590 h 1075590"/>
              <a:gd name="csX5" fmla="*/ 521403 w 4714149"/>
              <a:gd name="csY5" fmla="*/ 1075590 h 1075590"/>
              <a:gd name="csX6" fmla="*/ 0 w 4714149"/>
              <a:gd name="csY6" fmla="*/ 0 h 10755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714149" h="1075590">
                <a:moveTo>
                  <a:pt x="0" y="0"/>
                </a:moveTo>
                <a:lnTo>
                  <a:pt x="4373051" y="0"/>
                </a:lnTo>
                <a:cubicBezTo>
                  <a:pt x="4561435" y="0"/>
                  <a:pt x="4714149" y="80262"/>
                  <a:pt x="4714149" y="179269"/>
                </a:cubicBezTo>
                <a:lnTo>
                  <a:pt x="4714149" y="896321"/>
                </a:lnTo>
                <a:cubicBezTo>
                  <a:pt x="4714149" y="995329"/>
                  <a:pt x="4561435" y="1075590"/>
                  <a:pt x="4373051" y="1075590"/>
                </a:cubicBezTo>
                <a:lnTo>
                  <a:pt x="521403" y="107559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468000" anchor="ctr">
            <a:noAutofit/>
          </a:bodyPr>
          <a:lstStyle/>
          <a:p>
            <a:pPr marL="342900" lvl="0" indent="-342900" defTabSz="2355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 startAt="3"/>
            </a:pPr>
            <a:r>
              <a:rPr lang="en-GB" sz="2000" dirty="0"/>
              <a:t>Framework for in-house transcriptomics</a:t>
            </a:r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5966EBCD-A28E-8DB8-448D-5621C4D16CA1}"/>
              </a:ext>
            </a:extLst>
          </p:cNvPr>
          <p:cNvSpPr/>
          <p:nvPr/>
        </p:nvSpPr>
        <p:spPr>
          <a:xfrm>
            <a:off x="765717" y="1171900"/>
            <a:ext cx="4405252" cy="4543748"/>
          </a:xfrm>
          <a:prstGeom prst="triangl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n-GB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EE69B3F-095C-4A8D-D5EE-CE0971F4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0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1292</Words>
  <Application>Microsoft Macintosh PowerPoint</Application>
  <PresentationFormat>Widescreen</PresentationFormat>
  <Paragraphs>300</Paragraphs>
  <Slides>29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Wingdings</vt:lpstr>
      <vt:lpstr>Office Theme</vt:lpstr>
      <vt:lpstr>Transcriptomic analysis of extracellular vesicle miRNA cargo derived from allergen-exposed airway epithelial cells using open-access software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Janschke</dc:creator>
  <cp:lastModifiedBy>Chris Janschke</cp:lastModifiedBy>
  <cp:revision>86</cp:revision>
  <dcterms:created xsi:type="dcterms:W3CDTF">2026-08-03T12:33:40Z</dcterms:created>
  <dcterms:modified xsi:type="dcterms:W3CDTF">2026-08-06T16:02:43Z</dcterms:modified>
</cp:coreProperties>
</file>
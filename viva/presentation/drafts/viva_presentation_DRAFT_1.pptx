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62" r:id="rId2"/>
    <p:sldId id="257" r:id="rId3"/>
    <p:sldId id="263" r:id="rId4"/>
    <p:sldId id="268" r:id="rId5"/>
    <p:sldId id="266" r:id="rId6"/>
    <p:sldId id="265" r:id="rId7"/>
    <p:sldId id="267" r:id="rId8"/>
    <p:sldId id="261" r:id="rId9"/>
    <p:sldId id="258" r:id="rId10"/>
    <p:sldId id="260" r:id="rId11"/>
    <p:sldId id="264" r:id="rId12"/>
    <p:sldId id="25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C4B1156A-380E-4F78-BDF5-A606A8083BF9}" styleName="Medium Style 4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A107856-5554-42FB-B03E-39F5DBC370BA}" styleName="Medium Style 4 –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Medium Style 4 –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34"/>
    <p:restoredTop sz="87796"/>
  </p:normalViewPr>
  <p:slideViewPr>
    <p:cSldViewPr snapToGrid="0">
      <p:cViewPr>
        <p:scale>
          <a:sx n="69" d="100"/>
          <a:sy n="69" d="100"/>
        </p:scale>
        <p:origin x="1736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BB9A7B-CC8D-CB4B-96C7-D620BE5EB343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1E7E17-40CA-274F-8297-5DBF26091F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4596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[need to state the aim is to use open-access software]</a:t>
            </a:r>
          </a:p>
          <a:p>
            <a:r>
              <a:rPr lang="en-GB" dirty="0"/>
              <a:t>[need to state the findings is that the workflow produced biologically plausible results on datasets where experimental design was appropriate but not when the design was inappropriate]</a:t>
            </a:r>
          </a:p>
          <a:p>
            <a:r>
              <a:rPr lang="en-GB" dirty="0"/>
              <a:t>[need to state the significance is also that it could save money on outsourcing transcriptomics]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7E17-40CA-274F-8297-5DBF26091FCD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72261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178C2-7C0C-05AA-485E-D2B4FE20D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AC9C5E-1785-9DB7-3DDF-30EF897FC4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F61C51-D537-48B2-AF61-18F6925F1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[all allergens are nebulised with PBS as untreated control]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62576A-0352-8B8B-D8B1-FFA07EDF6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7E17-40CA-274F-8297-5DBF26091FCD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01225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[all allergens are nebulised with PBS as untreated control]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7E17-40CA-274F-8297-5DBF26091FCD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2649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4EEBB-5FA6-FD5B-1A7C-A0BB8F18A4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AF08B5-8E64-0051-9D54-83D6783597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0BA714-CAF2-697B-D374-EC6EB083A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1023E-778A-574F-80D3-C8C1C80DD39B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8A45EA-E969-3B8D-E043-84F5FC213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DFCA8A-E0DF-73B2-4A78-53FF840F3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0082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D3AC8-233A-E279-38B4-3BD0A3407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74DE64-9F71-E9CE-84D7-C6B5668FD2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37EDA9-A344-DE37-CE81-92C23EE10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1023E-778A-574F-80D3-C8C1C80DD39B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45817D-36C4-5EC8-D361-6D55DC3BE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2E905B-F375-7567-00D1-48A2E59B9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72435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62639-87E7-7B82-EE93-BDE3F8D60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854515-8183-3DFD-77FB-F58CC0755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00EC03-F221-DC2D-F3BD-4B2697F80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1023E-778A-574F-80D3-C8C1C80DD39B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3EF58-8DB0-CC21-2CEF-7831F2649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BFAB4A-908F-4627-FCAC-DAE3819A2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68164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C6A0-34F7-8DD9-0339-798CB40F1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9D8979-6E68-DDEC-AFCB-88A4FA22F7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9FB517-0D8D-4F58-DE36-17566F5F73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C9C1F0-DAFB-7308-355E-43514EF33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1023E-778A-574F-80D3-C8C1C80DD39B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EDF178-D4EA-4315-7F85-235055F38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B06BFB-30ED-C22D-1D68-11B9C58BA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45512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52713-AE3E-E7C7-5C47-3DF42737E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A72BE8-786F-C013-DF8E-667BB398F4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65BA19-42B8-1B68-A79F-1F6ED0BB9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99AD99-22C6-1024-7C40-A788A78E71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DC7F92-75C3-53BD-BC20-D7EAF2F320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D9F70C-3F0C-562E-A9FC-0A1C5113DA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1023E-778A-574F-80D3-C8C1C80DD39B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17E965-82F6-F91F-00A9-207318A52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2639181-2072-519C-27F5-2C1D92236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615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574C7-3FB1-2C47-68BA-A3C2A3F44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157A85-133E-95B9-4A50-A1BBAC921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1023E-778A-574F-80D3-C8C1C80DD39B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A1287B-3885-13F2-DBAD-50AFEF492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B6876E-7911-53A2-E5FC-44E633F13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3911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2DCBCE5-9AA6-09FE-186E-1484C3CAE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1023E-778A-574F-80D3-C8C1C80DD39B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05A7D5-D834-33E7-4155-514F8D17B6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3B60A3-E890-AC88-389B-323C242C8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6318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74F55-774D-E0C1-CEB0-AAB70F6FE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4F8108-87B9-86CB-2533-C689E4645A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FB6FD-BB76-911D-7858-0E250EACEB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138AC1-88DC-15F2-9EF1-BDC34FE16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1023E-778A-574F-80D3-C8C1C80DD39B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3DEFF8-EC0F-3018-A120-5C899354C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387783-0D77-6077-2722-CF160482E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16075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1B396-D153-2886-7F7C-8C6B07B34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1FF8C9-01CA-DB9F-E9A4-4330814C6F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5E1FAE-ACD4-71AA-6378-63CDB8B4F9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DD35BF-DBBC-C4C6-DAB4-FF285CD94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1023E-778A-574F-80D3-C8C1C80DD39B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C80E0-6E1F-26D1-5F5E-5D96F7CC5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3E5226-7AC7-7893-C995-E03F1A684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2588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69BF9-8314-4BB4-6863-6BF0B3C22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31E6C4-EA2F-B228-49C6-C54B85FC50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A0AAFE-9B03-D708-816F-93C8500D9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1023E-778A-574F-80D3-C8C1C80DD39B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7DCEA6-7ED8-A716-6BD8-C58A7CB9E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730B2F-CAB7-F9FE-E089-B225E2B40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21162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ACB63E7-2D80-6E63-A21A-74B5AC6B50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2C04C7-2EB7-8810-3B95-92F7DD6AC9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6EC41-829F-5002-C952-239CBC6A7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1023E-778A-574F-80D3-C8C1C80DD39B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81911-9EA8-4CFE-4CF1-13BC9FC2E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D5534B-5CCE-9251-1308-D3AEBD658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2C436-2398-F34B-A706-69BC3409080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89533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3EE2C7-9E18-BFD5-7A11-E3A347F41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832A12-5364-CA10-56DA-FF98402BE1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098582-13D8-AB6B-DDA9-941CEF4419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A1023E-778A-574F-80D3-C8C1C80DD39B}" type="datetimeFigureOut">
              <a:rPr lang="en-GB" smtClean="0"/>
              <a:t>03/08/2026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446C69-8155-818A-EED5-629F43F5FF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5085AF-B349-0AA8-90F8-4A4B9BC499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B2C436-2398-F34B-A706-69BC3409080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7267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g"/><Relationship Id="rId9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0415F-FF0D-F2DE-A67D-EB048DB421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0372" y="1163161"/>
            <a:ext cx="10991256" cy="2031055"/>
          </a:xfrm>
        </p:spPr>
        <p:txBody>
          <a:bodyPr>
            <a:noAutofit/>
          </a:bodyPr>
          <a:lstStyle/>
          <a:p>
            <a:r>
              <a:rPr lang="en-GB" sz="2800" b="1" dirty="0">
                <a:solidFill>
                  <a:schemeClr val="accent1">
                    <a:lumMod val="75000"/>
                  </a:schemeClr>
                </a:solidFill>
              </a:rPr>
              <a:t>Transcriptomic analysis of extracellular vesicle miRNA cargo derived</a:t>
            </a:r>
            <a:br>
              <a:rPr lang="en-GB" sz="2800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GB" sz="2800" b="1" dirty="0">
                <a:solidFill>
                  <a:schemeClr val="accent1">
                    <a:lumMod val="75000"/>
                  </a:schemeClr>
                </a:solidFill>
              </a:rPr>
              <a:t>from allergen-exposed airway epithelial cells using</a:t>
            </a:r>
            <a:br>
              <a:rPr lang="en-GB" sz="2800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GB" sz="2800" b="1" dirty="0">
                <a:solidFill>
                  <a:schemeClr val="accent1">
                    <a:lumMod val="75000"/>
                  </a:schemeClr>
                </a:solidFill>
              </a:rPr>
              <a:t>open-access software</a:t>
            </a:r>
            <a:endParaRPr lang="en-GB" sz="28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49195E-AB77-583F-EF6B-47BDD87EFD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5368" y="4160126"/>
            <a:ext cx="6105194" cy="682079"/>
          </a:xfrm>
        </p:spPr>
        <p:txBody>
          <a:bodyPr>
            <a:normAutofit lnSpcReduction="10000"/>
          </a:bodyPr>
          <a:lstStyle/>
          <a:p>
            <a:r>
              <a:rPr lang="en-GB" sz="1800" dirty="0">
                <a:solidFill>
                  <a:schemeClr val="tx2"/>
                </a:solidFill>
              </a:rPr>
              <a:t>Student ID: 	50805916</a:t>
            </a:r>
          </a:p>
          <a:p>
            <a:r>
              <a:rPr lang="en-GB" sz="1800" dirty="0">
                <a:solidFill>
                  <a:schemeClr val="tx2"/>
                </a:solidFill>
              </a:rPr>
              <a:t>   Name:	 Christopher Janschke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8AD058-2D9A-8963-313F-2B8B12C76E39}"/>
              </a:ext>
            </a:extLst>
          </p:cNvPr>
          <p:cNvSpPr/>
          <p:nvPr/>
        </p:nvSpPr>
        <p:spPr>
          <a:xfrm>
            <a:off x="2828693" y="3531426"/>
            <a:ext cx="6534614" cy="4571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20455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CC63535-639F-770E-9E95-FE6842C5EC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7836544"/>
              </p:ext>
            </p:extLst>
          </p:nvPr>
        </p:nvGraphicFramePr>
        <p:xfrm>
          <a:off x="1153160" y="1268306"/>
          <a:ext cx="9184640" cy="4781976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716380">
                  <a:extLst>
                    <a:ext uri="{9D8B030D-6E8A-4147-A177-3AD203B41FA5}">
                      <a16:colId xmlns:a16="http://schemas.microsoft.com/office/drawing/2014/main" val="2734460248"/>
                    </a:ext>
                  </a:extLst>
                </a:gridCol>
                <a:gridCol w="7468260">
                  <a:extLst>
                    <a:ext uri="{9D8B030D-6E8A-4147-A177-3AD203B41FA5}">
                      <a16:colId xmlns:a16="http://schemas.microsoft.com/office/drawing/2014/main" val="3048280910"/>
                    </a:ext>
                  </a:extLst>
                </a:gridCol>
              </a:tblGrid>
              <a:tr h="1195494">
                <a:tc>
                  <a:txBody>
                    <a:bodyPr/>
                    <a:lstStyle/>
                    <a:p>
                      <a:pPr algn="ctr"/>
                      <a:r>
                        <a:rPr lang="en-GB" sz="2000" b="1" dirty="0"/>
                        <a:t>Aims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Determine impact of allergen exposure on airway biology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1550636"/>
                  </a:ext>
                </a:extLst>
              </a:tr>
              <a:tr h="1195494">
                <a:tc>
                  <a:txBody>
                    <a:bodyPr/>
                    <a:lstStyle/>
                    <a:p>
                      <a:pPr algn="ctr"/>
                      <a:r>
                        <a:rPr lang="en-GB" sz="2000" b="1" dirty="0"/>
                        <a:t>Methods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/>
                        <a:t>Method development </a:t>
                      </a:r>
                      <a:r>
                        <a:rPr lang="en-GB" dirty="0">
                          <a:sym typeface="Wingdings" pitchFamily="2" charset="2"/>
                        </a:rPr>
                        <a:t> Differential Expression  Pathway Analysis </a:t>
                      </a:r>
                      <a:endParaRPr lang="en-GB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9114698"/>
                  </a:ext>
                </a:extLst>
              </a:tr>
              <a:tr h="1195494">
                <a:tc>
                  <a:txBody>
                    <a:bodyPr/>
                    <a:lstStyle/>
                    <a:p>
                      <a:pPr algn="ctr"/>
                      <a:r>
                        <a:rPr lang="en-GB" sz="2000" b="1" dirty="0"/>
                        <a:t>Findings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/>
                        <a:t>Biologically plausible results are obtainable provided suitable experimental design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4479082"/>
                  </a:ext>
                </a:extLst>
              </a:tr>
              <a:tr h="1195494">
                <a:tc>
                  <a:txBody>
                    <a:bodyPr/>
                    <a:lstStyle/>
                    <a:p>
                      <a:pPr algn="ctr"/>
                      <a:r>
                        <a:rPr lang="en-GB" sz="2000" b="1" dirty="0"/>
                        <a:t>Significance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/>
                        <a:t>Informs experimental design for future experiments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2368931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636F3849-B5CF-CD27-AD88-90DB7CF8B567}"/>
              </a:ext>
            </a:extLst>
          </p:cNvPr>
          <p:cNvSpPr txBox="1"/>
          <p:nvPr/>
        </p:nvSpPr>
        <p:spPr>
          <a:xfrm>
            <a:off x="304800" y="228600"/>
            <a:ext cx="2910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Project Summary</a:t>
            </a:r>
          </a:p>
        </p:txBody>
      </p:sp>
    </p:spTree>
    <p:extLst>
      <p:ext uri="{BB962C8B-B14F-4D97-AF65-F5344CB8AC3E}">
        <p14:creationId xmlns:p14="http://schemas.microsoft.com/office/powerpoint/2010/main" val="3046206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5563B-179B-457A-6B54-877CD24C5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F88ADE3-C77B-4B3B-820C-8C4DE5D8EF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80" r="387"/>
          <a:stretch>
            <a:fillRect/>
          </a:stretch>
        </p:blipFill>
        <p:spPr>
          <a:xfrm>
            <a:off x="691256" y="1142360"/>
            <a:ext cx="10767319" cy="532447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6E2F5C0-5FE8-876B-3ACC-8B2AD3E8CA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D2F074A-2078-7116-1D45-1A5B2DB4DA1E}"/>
              </a:ext>
            </a:extLst>
          </p:cNvPr>
          <p:cNvSpPr/>
          <p:nvPr/>
        </p:nvSpPr>
        <p:spPr>
          <a:xfrm>
            <a:off x="774526" y="963280"/>
            <a:ext cx="408561" cy="40856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0E2205B-240D-E61B-5C23-CFA6D2FB8BA8}"/>
              </a:ext>
            </a:extLst>
          </p:cNvPr>
          <p:cNvSpPr/>
          <p:nvPr/>
        </p:nvSpPr>
        <p:spPr>
          <a:xfrm>
            <a:off x="3842451" y="963280"/>
            <a:ext cx="408561" cy="40856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746A92C-2E4F-ED9C-DA6C-4DC308294B25}"/>
              </a:ext>
            </a:extLst>
          </p:cNvPr>
          <p:cNvSpPr/>
          <p:nvPr/>
        </p:nvSpPr>
        <p:spPr>
          <a:xfrm>
            <a:off x="5892296" y="804032"/>
            <a:ext cx="408561" cy="40856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1B27BE4-1EB0-43AF-57A8-D3137A73D172}"/>
              </a:ext>
            </a:extLst>
          </p:cNvPr>
          <p:cNvSpPr/>
          <p:nvPr/>
        </p:nvSpPr>
        <p:spPr>
          <a:xfrm>
            <a:off x="8805581" y="804032"/>
            <a:ext cx="408561" cy="40856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pic>
        <p:nvPicPr>
          <p:cNvPr id="10" name="Graphic 9" descr="Close outline">
            <a:extLst>
              <a:ext uri="{FF2B5EF4-FFF2-40B4-BE49-F238E27FC236}">
                <a16:creationId xmlns:a16="http://schemas.microsoft.com/office/drawing/2014/main" id="{DE4EFE57-DA03-7DC8-D7B5-2A1F710DF0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40236" y="2976274"/>
            <a:ext cx="905452" cy="905452"/>
          </a:xfrm>
          <a:prstGeom prst="rect">
            <a:avLst/>
          </a:prstGeom>
        </p:spPr>
      </p:pic>
      <p:pic>
        <p:nvPicPr>
          <p:cNvPr id="11" name="Graphic 10" descr="Close outline">
            <a:extLst>
              <a:ext uri="{FF2B5EF4-FFF2-40B4-BE49-F238E27FC236}">
                <a16:creationId xmlns:a16="http://schemas.microsoft.com/office/drawing/2014/main" id="{E0EB950A-0523-43EA-96E7-199DEB4645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40236" y="1624295"/>
            <a:ext cx="905452" cy="905452"/>
          </a:xfrm>
          <a:prstGeom prst="rect">
            <a:avLst/>
          </a:prstGeom>
        </p:spPr>
      </p:pic>
      <p:pic>
        <p:nvPicPr>
          <p:cNvPr id="12" name="Graphic 11" descr="Close with solid fill">
            <a:extLst>
              <a:ext uri="{FF2B5EF4-FFF2-40B4-BE49-F238E27FC236}">
                <a16:creationId xmlns:a16="http://schemas.microsoft.com/office/drawing/2014/main" id="{35C17D91-F7A2-B78A-0C62-C257E30AC2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55831" y="2571426"/>
            <a:ext cx="354031" cy="354031"/>
          </a:xfrm>
          <a:prstGeom prst="rect">
            <a:avLst/>
          </a:prstGeom>
        </p:spPr>
      </p:pic>
      <p:pic>
        <p:nvPicPr>
          <p:cNvPr id="13" name="Graphic 12" descr="Close with solid fill">
            <a:extLst>
              <a:ext uri="{FF2B5EF4-FFF2-40B4-BE49-F238E27FC236}">
                <a16:creationId xmlns:a16="http://schemas.microsoft.com/office/drawing/2014/main" id="{EE66C87C-95C5-317F-4581-07FF96F9D2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20787" y="3018294"/>
            <a:ext cx="354031" cy="354031"/>
          </a:xfrm>
          <a:prstGeom prst="rect">
            <a:avLst/>
          </a:prstGeom>
        </p:spPr>
      </p:pic>
      <p:pic>
        <p:nvPicPr>
          <p:cNvPr id="14" name="Graphic 13" descr="Close with solid fill">
            <a:extLst>
              <a:ext uri="{FF2B5EF4-FFF2-40B4-BE49-F238E27FC236}">
                <a16:creationId xmlns:a16="http://schemas.microsoft.com/office/drawing/2014/main" id="{0BD93E3F-B2E2-BF63-9671-4AC5EA2164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90308" y="2748441"/>
            <a:ext cx="354031" cy="35403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DD07B43-F7EB-E725-6F3E-0BCC75C0DAB2}"/>
              </a:ext>
            </a:extLst>
          </p:cNvPr>
          <p:cNvSpPr txBox="1"/>
          <p:nvPr/>
        </p:nvSpPr>
        <p:spPr>
          <a:xfrm>
            <a:off x="1183087" y="982895"/>
            <a:ext cx="2089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Allergen exposure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EEC1B8B-3D9F-6863-DD94-9784690524EE}"/>
              </a:ext>
            </a:extLst>
          </p:cNvPr>
          <p:cNvSpPr txBox="1"/>
          <p:nvPr/>
        </p:nvSpPr>
        <p:spPr>
          <a:xfrm>
            <a:off x="4283796" y="982895"/>
            <a:ext cx="10903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EV cargo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2DBD97-17D3-9F9D-874F-6456DA222E2B}"/>
              </a:ext>
            </a:extLst>
          </p:cNvPr>
          <p:cNvSpPr txBox="1"/>
          <p:nvPr/>
        </p:nvSpPr>
        <p:spPr>
          <a:xfrm>
            <a:off x="6299705" y="823647"/>
            <a:ext cx="207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 suppression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5EC31EF-120F-34F5-0F96-98505CBA5325}"/>
              </a:ext>
            </a:extLst>
          </p:cNvPr>
          <p:cNvSpPr txBox="1"/>
          <p:nvPr/>
        </p:nvSpPr>
        <p:spPr>
          <a:xfrm>
            <a:off x="9226594" y="823647"/>
            <a:ext cx="2274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Pathway disruption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2C2786-5659-E760-73BE-399C4754420A}"/>
              </a:ext>
            </a:extLst>
          </p:cNvPr>
          <p:cNvSpPr txBox="1"/>
          <p:nvPr/>
        </p:nvSpPr>
        <p:spPr>
          <a:xfrm>
            <a:off x="304800" y="228600"/>
            <a:ext cx="2910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Background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AD211F-CDCA-CEF7-B45A-B06472AD5059}"/>
              </a:ext>
            </a:extLst>
          </p:cNvPr>
          <p:cNvSpPr txBox="1"/>
          <p:nvPr/>
        </p:nvSpPr>
        <p:spPr>
          <a:xfrm>
            <a:off x="691256" y="6466835"/>
            <a:ext cx="69072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/>
              <a:t>Figure created by Chris Janschke in </a:t>
            </a:r>
            <a:r>
              <a:rPr lang="en-GB" sz="1100" dirty="0" err="1"/>
              <a:t>BioRender</a:t>
            </a:r>
            <a:r>
              <a:rPr lang="en-GB" sz="1100" dirty="0"/>
              <a:t>: https://</a:t>
            </a:r>
            <a:r>
              <a:rPr lang="en-GB" sz="1100" dirty="0" err="1"/>
              <a:t>BioRender.com</a:t>
            </a:r>
            <a:r>
              <a:rPr lang="en-GB" sz="1100" dirty="0">
                <a:effectLst/>
              </a:rPr>
              <a:t> </a:t>
            </a:r>
            <a:endParaRPr lang="en-GB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D81A865-0728-CF79-A0C2-0480988309C6}"/>
              </a:ext>
            </a:extLst>
          </p:cNvPr>
          <p:cNvSpPr/>
          <p:nvPr/>
        </p:nvSpPr>
        <p:spPr>
          <a:xfrm>
            <a:off x="548640" y="4572000"/>
            <a:ext cx="10952104" cy="18948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607D0E12-21D6-9C5D-5036-A6340EA2BD2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1203" t="12139" r="4305" b="36156"/>
          <a:stretch>
            <a:fillRect/>
          </a:stretch>
        </p:blipFill>
        <p:spPr>
          <a:xfrm>
            <a:off x="649087" y="4506723"/>
            <a:ext cx="5446914" cy="19601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FCD387D-FA6C-8B96-3277-FFFEE799EB55}"/>
              </a:ext>
            </a:extLst>
          </p:cNvPr>
          <p:cNvSpPr/>
          <p:nvPr/>
        </p:nvSpPr>
        <p:spPr>
          <a:xfrm>
            <a:off x="5892296" y="532015"/>
            <a:ext cx="5778773" cy="36742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DB712C1-99DF-480F-6605-C755FEDF86F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9785" t="2966" r="13489" b="6566"/>
          <a:stretch>
            <a:fillRect/>
          </a:stretch>
        </p:blipFill>
        <p:spPr>
          <a:xfrm>
            <a:off x="6180483" y="1531091"/>
            <a:ext cx="5963556" cy="3429640"/>
          </a:xfrm>
          <a:prstGeom prst="rect">
            <a:avLst/>
          </a:prstGeom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C22A0A6D-2D12-90EB-58AC-107233708A2F}"/>
              </a:ext>
            </a:extLst>
          </p:cNvPr>
          <p:cNvSpPr/>
          <p:nvPr/>
        </p:nvSpPr>
        <p:spPr>
          <a:xfrm>
            <a:off x="6044696" y="963280"/>
            <a:ext cx="408561" cy="40856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CDA861-F459-9A5A-27BD-E9AB5D109E1E}"/>
              </a:ext>
            </a:extLst>
          </p:cNvPr>
          <p:cNvSpPr/>
          <p:nvPr/>
        </p:nvSpPr>
        <p:spPr>
          <a:xfrm>
            <a:off x="8957981" y="963280"/>
            <a:ext cx="408561" cy="40856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807BA13-8AFC-9179-4911-69F7D7C83596}"/>
              </a:ext>
            </a:extLst>
          </p:cNvPr>
          <p:cNvSpPr txBox="1"/>
          <p:nvPr/>
        </p:nvSpPr>
        <p:spPr>
          <a:xfrm>
            <a:off x="6452105" y="982895"/>
            <a:ext cx="207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 suppression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658EBBF-40B6-735F-5C6C-4F0860CAF0BC}"/>
              </a:ext>
            </a:extLst>
          </p:cNvPr>
          <p:cNvSpPr txBox="1"/>
          <p:nvPr/>
        </p:nvSpPr>
        <p:spPr>
          <a:xfrm>
            <a:off x="9378994" y="982895"/>
            <a:ext cx="2274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Pathway disruption</a:t>
            </a:r>
          </a:p>
        </p:txBody>
      </p:sp>
      <p:pic>
        <p:nvPicPr>
          <p:cNvPr id="27" name="Graphic 26" descr="Close outline">
            <a:extLst>
              <a:ext uri="{FF2B5EF4-FFF2-40B4-BE49-F238E27FC236}">
                <a16:creationId xmlns:a16="http://schemas.microsoft.com/office/drawing/2014/main" id="{FB5EBDBC-566C-E291-1203-342F258B7E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46483" y="2070822"/>
            <a:ext cx="905452" cy="905452"/>
          </a:xfrm>
          <a:prstGeom prst="rect">
            <a:avLst/>
          </a:prstGeom>
        </p:spPr>
      </p:pic>
      <p:pic>
        <p:nvPicPr>
          <p:cNvPr id="28" name="Graphic 27" descr="Close outline">
            <a:extLst>
              <a:ext uri="{FF2B5EF4-FFF2-40B4-BE49-F238E27FC236}">
                <a16:creationId xmlns:a16="http://schemas.microsoft.com/office/drawing/2014/main" id="{32B9A2F9-14DE-4853-02C0-F821500167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46483" y="3678034"/>
            <a:ext cx="905452" cy="905452"/>
          </a:xfrm>
          <a:prstGeom prst="rect">
            <a:avLst/>
          </a:prstGeom>
        </p:spPr>
      </p:pic>
      <p:pic>
        <p:nvPicPr>
          <p:cNvPr id="29" name="Graphic 28" descr="Close with solid fill">
            <a:extLst>
              <a:ext uri="{FF2B5EF4-FFF2-40B4-BE49-F238E27FC236}">
                <a16:creationId xmlns:a16="http://schemas.microsoft.com/office/drawing/2014/main" id="{BB7DED94-F391-FFF9-4AA2-5C2A8C2DBD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70327" y="3130866"/>
            <a:ext cx="354031" cy="354031"/>
          </a:xfrm>
          <a:prstGeom prst="rect">
            <a:avLst/>
          </a:prstGeom>
        </p:spPr>
      </p:pic>
      <p:pic>
        <p:nvPicPr>
          <p:cNvPr id="30" name="Graphic 29" descr="Close with solid fill">
            <a:extLst>
              <a:ext uri="{FF2B5EF4-FFF2-40B4-BE49-F238E27FC236}">
                <a16:creationId xmlns:a16="http://schemas.microsoft.com/office/drawing/2014/main" id="{43B22A45-79EC-E5E8-B7EF-617135929B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39053" y="3678034"/>
            <a:ext cx="354031" cy="354031"/>
          </a:xfrm>
          <a:prstGeom prst="rect">
            <a:avLst/>
          </a:prstGeom>
        </p:spPr>
      </p:pic>
      <p:pic>
        <p:nvPicPr>
          <p:cNvPr id="31" name="Graphic 30" descr="Close with solid fill">
            <a:extLst>
              <a:ext uri="{FF2B5EF4-FFF2-40B4-BE49-F238E27FC236}">
                <a16:creationId xmlns:a16="http://schemas.microsoft.com/office/drawing/2014/main" id="{2B48746E-AEFD-0E30-E5B8-07C1A9963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689304" y="3324003"/>
            <a:ext cx="354031" cy="354031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C9096D3F-0918-21DD-8B9E-40CAC22D9AFE}"/>
              </a:ext>
            </a:extLst>
          </p:cNvPr>
          <p:cNvSpPr txBox="1"/>
          <p:nvPr/>
        </p:nvSpPr>
        <p:spPr>
          <a:xfrm>
            <a:off x="5958922" y="5244673"/>
            <a:ext cx="13346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Airway</a:t>
            </a:r>
          </a:p>
          <a:p>
            <a:r>
              <a:rPr lang="en-GB" sz="1600" dirty="0"/>
              <a:t>Epithelial Barrier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CADB9BB-9FF4-C3FB-F050-432B396D5F73}"/>
              </a:ext>
            </a:extLst>
          </p:cNvPr>
          <p:cNvSpPr txBox="1"/>
          <p:nvPr/>
        </p:nvSpPr>
        <p:spPr>
          <a:xfrm>
            <a:off x="4141917" y="2102840"/>
            <a:ext cx="40856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dirty="0"/>
              <a:t>EV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40817B40-BD6D-9A7C-9939-AB72A20F19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8807" y="1650358"/>
            <a:ext cx="447868" cy="395014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E9B825C1-B942-7C4E-6024-DAC25B623585}"/>
              </a:ext>
            </a:extLst>
          </p:cNvPr>
          <p:cNvSpPr txBox="1"/>
          <p:nvPr/>
        </p:nvSpPr>
        <p:spPr>
          <a:xfrm>
            <a:off x="4073406" y="1717987"/>
            <a:ext cx="59903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dirty="0"/>
              <a:t>miRNA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6CEA8A67-478B-D16E-C964-EF5F15D93A8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89559" y="2023689"/>
            <a:ext cx="416529" cy="395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4954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880AD-C6F0-DDC8-7CEE-89FB69AA9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BB73469-F6CB-877E-FF14-CEEE2FDFBF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503" t="11725" b="63132"/>
          <a:stretch>
            <a:fillRect/>
          </a:stretch>
        </p:blipFill>
        <p:spPr>
          <a:xfrm rot="5400000">
            <a:off x="5724685" y="4609844"/>
            <a:ext cx="2209574" cy="6450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86B0BF5-D825-C648-140D-AD249B2E58A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503" t="11725" b="63132"/>
          <a:stretch>
            <a:fillRect/>
          </a:stretch>
        </p:blipFill>
        <p:spPr>
          <a:xfrm rot="16200000">
            <a:off x="5544501" y="1501823"/>
            <a:ext cx="2209574" cy="64502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C53A5D6-47FF-BAB2-602A-1E6C6CA0E0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0837" y="2313589"/>
            <a:ext cx="3079405" cy="205293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51F6CBE-F7D3-DECF-08BE-2D58A59CBDC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686" t="39488" r="50915" b="48718"/>
          <a:stretch>
            <a:fillRect/>
          </a:stretch>
        </p:blipFill>
        <p:spPr>
          <a:xfrm rot="752272">
            <a:off x="3935913" y="3168423"/>
            <a:ext cx="1945964" cy="34738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92F406B-18BE-4DBF-A1C3-5366C8E2F964}"/>
              </a:ext>
            </a:extLst>
          </p:cNvPr>
          <p:cNvSpPr txBox="1"/>
          <p:nvPr/>
        </p:nvSpPr>
        <p:spPr>
          <a:xfrm>
            <a:off x="304800" y="228600"/>
            <a:ext cx="2910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Study Data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3F06294-C41E-98C6-CBBC-855DFE94571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213" t="8505" r="23376" b="54213"/>
          <a:stretch>
            <a:fillRect/>
          </a:stretch>
        </p:blipFill>
        <p:spPr>
          <a:xfrm>
            <a:off x="304801" y="1946442"/>
            <a:ext cx="3710539" cy="14986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6347A91-65C6-5ABE-14B3-B69E4B58AF95}"/>
              </a:ext>
            </a:extLst>
          </p:cNvPr>
          <p:cNvSpPr txBox="1"/>
          <p:nvPr/>
        </p:nvSpPr>
        <p:spPr>
          <a:xfrm>
            <a:off x="532999" y="1579460"/>
            <a:ext cx="2454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Primary HBEC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9141E1B-86D9-CF0A-B5F9-94DA1312681F}"/>
              </a:ext>
            </a:extLst>
          </p:cNvPr>
          <p:cNvSpPr txBox="1"/>
          <p:nvPr/>
        </p:nvSpPr>
        <p:spPr>
          <a:xfrm>
            <a:off x="532998" y="3812024"/>
            <a:ext cx="28198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Calu-3 adenocarcinoma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2488337-9214-4E4F-82F5-73BD4787A75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686" t="39488" r="50915" b="48718"/>
          <a:stretch>
            <a:fillRect/>
          </a:stretch>
        </p:blipFill>
        <p:spPr>
          <a:xfrm rot="20400988">
            <a:off x="3945815" y="4017533"/>
            <a:ext cx="1945964" cy="34738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D770F96-856C-F6D3-772C-CD05727E79F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213" t="71274" r="23376"/>
          <a:stretch>
            <a:fillRect/>
          </a:stretch>
        </p:blipFill>
        <p:spPr>
          <a:xfrm>
            <a:off x="304800" y="4123898"/>
            <a:ext cx="3710539" cy="1154642"/>
          </a:xfrm>
          <a:prstGeom prst="rect">
            <a:avLst/>
          </a:prstGeom>
        </p:spPr>
      </p:pic>
      <p:sp>
        <p:nvSpPr>
          <p:cNvPr id="22" name="Down Arrow 21">
            <a:extLst>
              <a:ext uri="{FF2B5EF4-FFF2-40B4-BE49-F238E27FC236}">
                <a16:creationId xmlns:a16="http://schemas.microsoft.com/office/drawing/2014/main" id="{A8077A41-D50F-4571-9BC4-07EA45CF943B}"/>
              </a:ext>
            </a:extLst>
          </p:cNvPr>
          <p:cNvSpPr/>
          <p:nvPr/>
        </p:nvSpPr>
        <p:spPr>
          <a:xfrm rot="16200000">
            <a:off x="8077422" y="2900716"/>
            <a:ext cx="656314" cy="1534995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9B4116B3-BC06-185B-A10A-58D05E9B0DA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47924" t="23573" r="5478" b="19535"/>
          <a:stretch>
            <a:fillRect/>
          </a:stretch>
        </p:blipFill>
        <p:spPr>
          <a:xfrm>
            <a:off x="9339486" y="2196546"/>
            <a:ext cx="2852514" cy="2287659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22080E72-89B4-415C-4D5E-37A5F92D0501}"/>
              </a:ext>
            </a:extLst>
          </p:cNvPr>
          <p:cNvSpPr txBox="1"/>
          <p:nvPr/>
        </p:nvSpPr>
        <p:spPr>
          <a:xfrm>
            <a:off x="9903968" y="1870116"/>
            <a:ext cx="2454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Transcriptomics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BE17D8B-27B0-AD17-2A5E-7D6E7753F7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03" t="68233" r="23031" b="23100"/>
          <a:stretch>
            <a:fillRect/>
          </a:stretch>
        </p:blipFill>
        <p:spPr>
          <a:xfrm rot="20301830">
            <a:off x="3653585" y="1236353"/>
            <a:ext cx="2302135" cy="22234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ADAE92F-81CE-FFFE-C22C-BF5CCE7B829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96006" y="5168180"/>
            <a:ext cx="1849066" cy="153075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7BC745A-23CA-35F1-F989-35F19634B42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16926" y="53060"/>
            <a:ext cx="2025091" cy="1526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2D8C852-67BA-551D-5FC0-0AD01331E0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03" t="68233" r="23031" b="23100"/>
          <a:stretch>
            <a:fillRect/>
          </a:stretch>
        </p:blipFill>
        <p:spPr>
          <a:xfrm rot="1420035">
            <a:off x="3447020" y="5741411"/>
            <a:ext cx="2302135" cy="22234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99FBF3E-1784-EB83-CDD9-F3C82BBD9231}"/>
              </a:ext>
            </a:extLst>
          </p:cNvPr>
          <p:cNvSpPr txBox="1"/>
          <p:nvPr/>
        </p:nvSpPr>
        <p:spPr>
          <a:xfrm>
            <a:off x="244707" y="6200959"/>
            <a:ext cx="69072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/>
              <a:t>Figure created by Chris Janschke in </a:t>
            </a:r>
            <a:r>
              <a:rPr lang="en-GB" sz="1100" dirty="0" err="1"/>
              <a:t>BioRender</a:t>
            </a:r>
            <a:r>
              <a:rPr lang="en-GB" sz="1100" dirty="0"/>
              <a:t>: https://</a:t>
            </a:r>
            <a:r>
              <a:rPr lang="en-GB" sz="1100" dirty="0" err="1"/>
              <a:t>BioRender.com</a:t>
            </a:r>
            <a:r>
              <a:rPr lang="en-GB" sz="1100" dirty="0">
                <a:effectLst/>
              </a:rPr>
              <a:t> </a:t>
            </a:r>
            <a:endParaRPr lang="en-GB" sz="1100" dirty="0"/>
          </a:p>
        </p:txBody>
      </p:sp>
    </p:spTree>
    <p:extLst>
      <p:ext uri="{BB962C8B-B14F-4D97-AF65-F5344CB8AC3E}">
        <p14:creationId xmlns:p14="http://schemas.microsoft.com/office/powerpoint/2010/main" val="3909130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55C1D-15BF-1F81-65AD-F94C53DFF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11118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08CCA-47AB-D2D6-B014-BF3B9A9D9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C88CFDD-4A39-98EF-73DD-B9F379310B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3100" y="2146300"/>
            <a:ext cx="3225800" cy="2565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2DBCAA1-7ED8-657F-6716-044488DBA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845553" y="1816100"/>
            <a:ext cx="3225800" cy="2565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6CBA325-C27E-78C1-1DDB-02368DCC2F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725" b="63132"/>
          <a:stretch>
            <a:fillRect/>
          </a:stretch>
        </p:blipFill>
        <p:spPr>
          <a:xfrm rot="16200000">
            <a:off x="7160461" y="2776287"/>
            <a:ext cx="3225800" cy="6450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15FD5F-D7FC-FFBF-33E4-F330CBDA340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603" t="68233" r="23031" b="23100"/>
          <a:stretch>
            <a:fillRect/>
          </a:stretch>
        </p:blipFill>
        <p:spPr>
          <a:xfrm rot="16200000">
            <a:off x="8273712" y="3449461"/>
            <a:ext cx="2302135" cy="222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11568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3E273-FD4C-0013-EC93-9B60196E1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82773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987C2-B366-EFC8-EA2A-A6691F390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42EFB-5853-ABB9-C708-5ECC5BD02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234" y="1889125"/>
            <a:ext cx="10515600" cy="1325563"/>
          </a:xfrm>
        </p:spPr>
        <p:txBody>
          <a:bodyPr>
            <a:normAutofit/>
          </a:bodyPr>
          <a:lstStyle/>
          <a:p>
            <a:r>
              <a:rPr lang="en-GB" sz="8800" dirty="0"/>
              <a:t>Archive</a:t>
            </a:r>
          </a:p>
        </p:txBody>
      </p:sp>
    </p:spTree>
    <p:extLst>
      <p:ext uri="{BB962C8B-B14F-4D97-AF65-F5344CB8AC3E}">
        <p14:creationId xmlns:p14="http://schemas.microsoft.com/office/powerpoint/2010/main" val="41098523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038C15-0E41-8CFD-B861-ACB600BEE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5C34E7C-01D8-2B91-7284-6C0CF42822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80" r="387"/>
          <a:stretch>
            <a:fillRect/>
          </a:stretch>
        </p:blipFill>
        <p:spPr>
          <a:xfrm>
            <a:off x="691256" y="1142360"/>
            <a:ext cx="10767319" cy="532447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30DBA58-987A-3ECB-BBBC-6EE41B2900CF}"/>
              </a:ext>
            </a:extLst>
          </p:cNvPr>
          <p:cNvSpPr/>
          <p:nvPr/>
        </p:nvSpPr>
        <p:spPr>
          <a:xfrm>
            <a:off x="774526" y="970129"/>
            <a:ext cx="408561" cy="40856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5C2FC7C-CF2C-93A4-9971-99D27ABA0679}"/>
              </a:ext>
            </a:extLst>
          </p:cNvPr>
          <p:cNvSpPr/>
          <p:nvPr/>
        </p:nvSpPr>
        <p:spPr>
          <a:xfrm>
            <a:off x="3842451" y="970129"/>
            <a:ext cx="408561" cy="40856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A3BFF14-4E90-64AA-6168-99ED26C46C48}"/>
              </a:ext>
            </a:extLst>
          </p:cNvPr>
          <p:cNvSpPr/>
          <p:nvPr/>
        </p:nvSpPr>
        <p:spPr>
          <a:xfrm>
            <a:off x="5892296" y="970129"/>
            <a:ext cx="408561" cy="40856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EF699D4-1AD0-1E43-A8B7-6E0A26389917}"/>
              </a:ext>
            </a:extLst>
          </p:cNvPr>
          <p:cNvSpPr/>
          <p:nvPr/>
        </p:nvSpPr>
        <p:spPr>
          <a:xfrm>
            <a:off x="8805581" y="970129"/>
            <a:ext cx="408561" cy="40856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pic>
        <p:nvPicPr>
          <p:cNvPr id="20" name="Graphic 19" descr="Close outline">
            <a:extLst>
              <a:ext uri="{FF2B5EF4-FFF2-40B4-BE49-F238E27FC236}">
                <a16:creationId xmlns:a16="http://schemas.microsoft.com/office/drawing/2014/main" id="{3050DFA6-B260-6A59-28B3-C58BC860D9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40236" y="2976274"/>
            <a:ext cx="905452" cy="905452"/>
          </a:xfrm>
          <a:prstGeom prst="rect">
            <a:avLst/>
          </a:prstGeom>
        </p:spPr>
      </p:pic>
      <p:pic>
        <p:nvPicPr>
          <p:cNvPr id="21" name="Graphic 20" descr="Close outline">
            <a:extLst>
              <a:ext uri="{FF2B5EF4-FFF2-40B4-BE49-F238E27FC236}">
                <a16:creationId xmlns:a16="http://schemas.microsoft.com/office/drawing/2014/main" id="{FF76E4C7-81F9-93FF-46B2-2FC513D2D1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40236" y="1624295"/>
            <a:ext cx="905452" cy="905452"/>
          </a:xfrm>
          <a:prstGeom prst="rect">
            <a:avLst/>
          </a:prstGeom>
        </p:spPr>
      </p:pic>
      <p:pic>
        <p:nvPicPr>
          <p:cNvPr id="24" name="Graphic 23" descr="Close with solid fill">
            <a:extLst>
              <a:ext uri="{FF2B5EF4-FFF2-40B4-BE49-F238E27FC236}">
                <a16:creationId xmlns:a16="http://schemas.microsoft.com/office/drawing/2014/main" id="{F062366E-A2F1-8027-7E08-40A9E5CED3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55831" y="2571426"/>
            <a:ext cx="354031" cy="354031"/>
          </a:xfrm>
          <a:prstGeom prst="rect">
            <a:avLst/>
          </a:prstGeom>
        </p:spPr>
      </p:pic>
      <p:pic>
        <p:nvPicPr>
          <p:cNvPr id="25" name="Graphic 24" descr="Close with solid fill">
            <a:extLst>
              <a:ext uri="{FF2B5EF4-FFF2-40B4-BE49-F238E27FC236}">
                <a16:creationId xmlns:a16="http://schemas.microsoft.com/office/drawing/2014/main" id="{A1B59CA5-9EFC-BCED-F2CD-D61FF4455A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20787" y="3018294"/>
            <a:ext cx="354031" cy="354031"/>
          </a:xfrm>
          <a:prstGeom prst="rect">
            <a:avLst/>
          </a:prstGeom>
        </p:spPr>
      </p:pic>
      <p:pic>
        <p:nvPicPr>
          <p:cNvPr id="26" name="Graphic 25" descr="Close with solid fill">
            <a:extLst>
              <a:ext uri="{FF2B5EF4-FFF2-40B4-BE49-F238E27FC236}">
                <a16:creationId xmlns:a16="http://schemas.microsoft.com/office/drawing/2014/main" id="{69A4E5DF-9D44-8B5B-9B40-D6B279884C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90308" y="2748441"/>
            <a:ext cx="354031" cy="354031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58A94C6-51A9-5A64-0FDA-1EAFA40502D7}"/>
              </a:ext>
            </a:extLst>
          </p:cNvPr>
          <p:cNvSpPr txBox="1"/>
          <p:nvPr/>
        </p:nvSpPr>
        <p:spPr>
          <a:xfrm>
            <a:off x="1183087" y="989744"/>
            <a:ext cx="2089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Allergen exposure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3AF0969-C4F8-BC00-9A24-DFB096C2C27B}"/>
              </a:ext>
            </a:extLst>
          </p:cNvPr>
          <p:cNvSpPr txBox="1"/>
          <p:nvPr/>
        </p:nvSpPr>
        <p:spPr>
          <a:xfrm>
            <a:off x="4283796" y="989744"/>
            <a:ext cx="10903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EV cargo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654BB37-45CF-696A-2117-CE30E4FF7FB7}"/>
              </a:ext>
            </a:extLst>
          </p:cNvPr>
          <p:cNvSpPr txBox="1"/>
          <p:nvPr/>
        </p:nvSpPr>
        <p:spPr>
          <a:xfrm>
            <a:off x="6299705" y="989744"/>
            <a:ext cx="207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 suppression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864BE6-3519-0DF0-00D6-E92FA789F227}"/>
              </a:ext>
            </a:extLst>
          </p:cNvPr>
          <p:cNvSpPr txBox="1"/>
          <p:nvPr/>
        </p:nvSpPr>
        <p:spPr>
          <a:xfrm>
            <a:off x="9226594" y="989744"/>
            <a:ext cx="2274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Pathway disruption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BDD3DE6-38F5-AD96-3D49-4C4711D697B7}"/>
              </a:ext>
            </a:extLst>
          </p:cNvPr>
          <p:cNvSpPr txBox="1"/>
          <p:nvPr/>
        </p:nvSpPr>
        <p:spPr>
          <a:xfrm>
            <a:off x="304800" y="228600"/>
            <a:ext cx="2910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Background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4A40D5-9368-55D9-12FD-2DFA8A896A98}"/>
              </a:ext>
            </a:extLst>
          </p:cNvPr>
          <p:cNvSpPr txBox="1"/>
          <p:nvPr/>
        </p:nvSpPr>
        <p:spPr>
          <a:xfrm>
            <a:off x="691256" y="6466835"/>
            <a:ext cx="69072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Figure created by Chris Janschke in </a:t>
            </a:r>
            <a:r>
              <a:rPr lang="en-GB" sz="1200" dirty="0" err="1"/>
              <a:t>BioRender</a:t>
            </a:r>
            <a:r>
              <a:rPr lang="en-GB" sz="1200" dirty="0"/>
              <a:t>: https://</a:t>
            </a:r>
            <a:r>
              <a:rPr lang="en-GB" sz="1200" dirty="0" err="1"/>
              <a:t>BioRender.com</a:t>
            </a:r>
            <a:r>
              <a:rPr lang="en-GB" sz="1200" dirty="0">
                <a:effectLst/>
              </a:rPr>
              <a:t> 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32702219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4135E-8342-56AF-AF62-2073C5987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A59895E-A7AB-AD47-A3BA-90CC288E36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80" r="387"/>
          <a:stretch>
            <a:fillRect/>
          </a:stretch>
        </p:blipFill>
        <p:spPr>
          <a:xfrm>
            <a:off x="691256" y="1142360"/>
            <a:ext cx="10767319" cy="532447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FE87D06-B618-AD11-8245-647EE2FFAE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0603DEC-BE47-C731-2C09-617B3849BF5D}"/>
              </a:ext>
            </a:extLst>
          </p:cNvPr>
          <p:cNvSpPr/>
          <p:nvPr/>
        </p:nvSpPr>
        <p:spPr>
          <a:xfrm>
            <a:off x="774526" y="970129"/>
            <a:ext cx="408561" cy="40856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DFEC3D7-2CB0-DE2E-0CF1-C8A419598210}"/>
              </a:ext>
            </a:extLst>
          </p:cNvPr>
          <p:cNvSpPr/>
          <p:nvPr/>
        </p:nvSpPr>
        <p:spPr>
          <a:xfrm>
            <a:off x="3842451" y="970129"/>
            <a:ext cx="408561" cy="40856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EE97669-80D7-F53D-29CD-BF7290CD5EF1}"/>
              </a:ext>
            </a:extLst>
          </p:cNvPr>
          <p:cNvSpPr/>
          <p:nvPr/>
        </p:nvSpPr>
        <p:spPr>
          <a:xfrm>
            <a:off x="5892296" y="970129"/>
            <a:ext cx="408561" cy="40856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C4732F7-8822-C042-DD27-530C8DAE5A42}"/>
              </a:ext>
            </a:extLst>
          </p:cNvPr>
          <p:cNvSpPr/>
          <p:nvPr/>
        </p:nvSpPr>
        <p:spPr>
          <a:xfrm>
            <a:off x="8805581" y="970129"/>
            <a:ext cx="408561" cy="40856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pic>
        <p:nvPicPr>
          <p:cNvPr id="10" name="Graphic 9" descr="Close outline">
            <a:extLst>
              <a:ext uri="{FF2B5EF4-FFF2-40B4-BE49-F238E27FC236}">
                <a16:creationId xmlns:a16="http://schemas.microsoft.com/office/drawing/2014/main" id="{36863FAA-FF30-82A9-DDB2-4F8C576A81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40236" y="2976274"/>
            <a:ext cx="905452" cy="905452"/>
          </a:xfrm>
          <a:prstGeom prst="rect">
            <a:avLst/>
          </a:prstGeom>
        </p:spPr>
      </p:pic>
      <p:pic>
        <p:nvPicPr>
          <p:cNvPr id="11" name="Graphic 10" descr="Close outline">
            <a:extLst>
              <a:ext uri="{FF2B5EF4-FFF2-40B4-BE49-F238E27FC236}">
                <a16:creationId xmlns:a16="http://schemas.microsoft.com/office/drawing/2014/main" id="{48DF6B72-E239-AB85-5B8A-A3D8B20100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40236" y="1624295"/>
            <a:ext cx="905452" cy="905452"/>
          </a:xfrm>
          <a:prstGeom prst="rect">
            <a:avLst/>
          </a:prstGeom>
        </p:spPr>
      </p:pic>
      <p:pic>
        <p:nvPicPr>
          <p:cNvPr id="12" name="Graphic 11" descr="Close with solid fill">
            <a:extLst>
              <a:ext uri="{FF2B5EF4-FFF2-40B4-BE49-F238E27FC236}">
                <a16:creationId xmlns:a16="http://schemas.microsoft.com/office/drawing/2014/main" id="{1A9D29BA-699D-324B-1AD9-A5377C022B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55831" y="2571426"/>
            <a:ext cx="354031" cy="354031"/>
          </a:xfrm>
          <a:prstGeom prst="rect">
            <a:avLst/>
          </a:prstGeom>
        </p:spPr>
      </p:pic>
      <p:pic>
        <p:nvPicPr>
          <p:cNvPr id="13" name="Graphic 12" descr="Close with solid fill">
            <a:extLst>
              <a:ext uri="{FF2B5EF4-FFF2-40B4-BE49-F238E27FC236}">
                <a16:creationId xmlns:a16="http://schemas.microsoft.com/office/drawing/2014/main" id="{0C21E822-0665-75E3-4644-B5BA638CF3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20787" y="3018294"/>
            <a:ext cx="354031" cy="354031"/>
          </a:xfrm>
          <a:prstGeom prst="rect">
            <a:avLst/>
          </a:prstGeom>
        </p:spPr>
      </p:pic>
      <p:pic>
        <p:nvPicPr>
          <p:cNvPr id="14" name="Graphic 13" descr="Close with solid fill">
            <a:extLst>
              <a:ext uri="{FF2B5EF4-FFF2-40B4-BE49-F238E27FC236}">
                <a16:creationId xmlns:a16="http://schemas.microsoft.com/office/drawing/2014/main" id="{855A62AF-E5FD-F700-C628-0AF6F0D217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90308" y="2748441"/>
            <a:ext cx="354031" cy="35403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9799FBC-0572-21AD-AF94-692768540118}"/>
              </a:ext>
            </a:extLst>
          </p:cNvPr>
          <p:cNvSpPr txBox="1"/>
          <p:nvPr/>
        </p:nvSpPr>
        <p:spPr>
          <a:xfrm>
            <a:off x="1183087" y="989744"/>
            <a:ext cx="2089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Allergen exposure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90C4755-6FA3-DE78-0113-1137C73ED86D}"/>
              </a:ext>
            </a:extLst>
          </p:cNvPr>
          <p:cNvSpPr txBox="1"/>
          <p:nvPr/>
        </p:nvSpPr>
        <p:spPr>
          <a:xfrm>
            <a:off x="4283796" y="989744"/>
            <a:ext cx="10903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EV cargo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EE8746-42A0-6DB3-C799-D55B11D478E4}"/>
              </a:ext>
            </a:extLst>
          </p:cNvPr>
          <p:cNvSpPr txBox="1"/>
          <p:nvPr/>
        </p:nvSpPr>
        <p:spPr>
          <a:xfrm>
            <a:off x="6299705" y="989744"/>
            <a:ext cx="207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 suppression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76D015-46E7-C286-3D81-790D02FAB1BF}"/>
              </a:ext>
            </a:extLst>
          </p:cNvPr>
          <p:cNvSpPr txBox="1"/>
          <p:nvPr/>
        </p:nvSpPr>
        <p:spPr>
          <a:xfrm>
            <a:off x="9226594" y="989744"/>
            <a:ext cx="2274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Pathway disruption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60EC99-CCDE-0066-0E16-B97A0DDB7449}"/>
              </a:ext>
            </a:extLst>
          </p:cNvPr>
          <p:cNvSpPr txBox="1"/>
          <p:nvPr/>
        </p:nvSpPr>
        <p:spPr>
          <a:xfrm>
            <a:off x="304800" y="228600"/>
            <a:ext cx="2910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Background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BB1781-DB5B-911D-D540-36289062D831}"/>
              </a:ext>
            </a:extLst>
          </p:cNvPr>
          <p:cNvSpPr txBox="1"/>
          <p:nvPr/>
        </p:nvSpPr>
        <p:spPr>
          <a:xfrm>
            <a:off x="691256" y="6466835"/>
            <a:ext cx="69072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Figure created by Chris Janschke in </a:t>
            </a:r>
            <a:r>
              <a:rPr lang="en-GB" sz="1200" dirty="0" err="1"/>
              <a:t>BioRender</a:t>
            </a:r>
            <a:r>
              <a:rPr lang="en-GB" sz="1200" dirty="0"/>
              <a:t>: https://</a:t>
            </a:r>
            <a:r>
              <a:rPr lang="en-GB" sz="1200" dirty="0" err="1"/>
              <a:t>BioRender.com</a:t>
            </a:r>
            <a:r>
              <a:rPr lang="en-GB" sz="1200" dirty="0">
                <a:effectLst/>
              </a:rPr>
              <a:t> </a:t>
            </a:r>
            <a:endParaRPr lang="en-GB" sz="12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BB98C4D-D81A-BB5D-C1A9-D8EA27630906}"/>
              </a:ext>
            </a:extLst>
          </p:cNvPr>
          <p:cNvSpPr/>
          <p:nvPr/>
        </p:nvSpPr>
        <p:spPr>
          <a:xfrm>
            <a:off x="548640" y="4572000"/>
            <a:ext cx="10952104" cy="18948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1D33377-80D2-AE2F-4770-DE7BFF69FD3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1203" t="12139" r="4305" b="36156"/>
          <a:stretch>
            <a:fillRect/>
          </a:stretch>
        </p:blipFill>
        <p:spPr>
          <a:xfrm>
            <a:off x="649086" y="4506723"/>
            <a:ext cx="10952103" cy="1960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3649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D73D7-3DF6-C593-ACFE-919F552F0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BF251C8E-596A-6455-55FA-655C0B71C6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8895" y="2262819"/>
            <a:ext cx="3657600" cy="24384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8815F42-A6F5-A8AB-D8F0-DC32472282D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686" t="39488" r="50915" b="48718"/>
          <a:stretch>
            <a:fillRect/>
          </a:stretch>
        </p:blipFill>
        <p:spPr>
          <a:xfrm rot="752272">
            <a:off x="3935913" y="3168423"/>
            <a:ext cx="1945964" cy="34738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908D77C-F68E-75E3-1C6A-52C0CF04FDFA}"/>
              </a:ext>
            </a:extLst>
          </p:cNvPr>
          <p:cNvSpPr txBox="1"/>
          <p:nvPr/>
        </p:nvSpPr>
        <p:spPr>
          <a:xfrm>
            <a:off x="304800" y="228600"/>
            <a:ext cx="2910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Study Data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8740D14-064F-DB7F-D67F-73957856848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9213" t="8505" r="23376" b="54213"/>
          <a:stretch>
            <a:fillRect/>
          </a:stretch>
        </p:blipFill>
        <p:spPr>
          <a:xfrm>
            <a:off x="304801" y="1946442"/>
            <a:ext cx="3710539" cy="14986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615C0C9-8D13-ED15-3CD5-4812A7E23FB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5552" r="36171" b="70647"/>
          <a:stretch>
            <a:fillRect/>
          </a:stretch>
        </p:blipFill>
        <p:spPr>
          <a:xfrm>
            <a:off x="5504234" y="228600"/>
            <a:ext cx="2910840" cy="198482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D1E659F-98A9-4688-3B40-AAE37DC2846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5552" t="66174" r="36171"/>
          <a:stretch>
            <a:fillRect/>
          </a:stretch>
        </p:blipFill>
        <p:spPr>
          <a:xfrm>
            <a:off x="5744865" y="4701219"/>
            <a:ext cx="2453850" cy="192818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B45BBB4-9349-306F-732A-3A1923A3C940}"/>
              </a:ext>
            </a:extLst>
          </p:cNvPr>
          <p:cNvSpPr txBox="1"/>
          <p:nvPr/>
        </p:nvSpPr>
        <p:spPr>
          <a:xfrm>
            <a:off x="532999" y="1579460"/>
            <a:ext cx="2454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Primary HBEC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FA1CBF5-AB3B-3BEF-5C72-11D633B6198F}"/>
              </a:ext>
            </a:extLst>
          </p:cNvPr>
          <p:cNvSpPr txBox="1"/>
          <p:nvPr/>
        </p:nvSpPr>
        <p:spPr>
          <a:xfrm>
            <a:off x="532998" y="3812024"/>
            <a:ext cx="28198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Calu-3 adenocarcinoma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77E1F1D5-4E7B-9BA9-CD80-96C62981E99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686" t="39488" r="50915" b="48718"/>
          <a:stretch>
            <a:fillRect/>
          </a:stretch>
        </p:blipFill>
        <p:spPr>
          <a:xfrm rot="20400988">
            <a:off x="3945815" y="4017533"/>
            <a:ext cx="1945964" cy="34738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0C3EC7B-36AA-8981-9C18-9F1C3BDC3F0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9213" t="71274" r="23376"/>
          <a:stretch>
            <a:fillRect/>
          </a:stretch>
        </p:blipFill>
        <p:spPr>
          <a:xfrm>
            <a:off x="304800" y="4123898"/>
            <a:ext cx="3710539" cy="1154642"/>
          </a:xfrm>
          <a:prstGeom prst="rect">
            <a:avLst/>
          </a:prstGeom>
        </p:spPr>
      </p:pic>
      <p:sp>
        <p:nvSpPr>
          <p:cNvPr id="22" name="Down Arrow 21">
            <a:extLst>
              <a:ext uri="{FF2B5EF4-FFF2-40B4-BE49-F238E27FC236}">
                <a16:creationId xmlns:a16="http://schemas.microsoft.com/office/drawing/2014/main" id="{0EDF6E5A-27FF-E23D-3B01-95027DF12807}"/>
              </a:ext>
            </a:extLst>
          </p:cNvPr>
          <p:cNvSpPr/>
          <p:nvPr/>
        </p:nvSpPr>
        <p:spPr>
          <a:xfrm rot="16200000">
            <a:off x="8238338" y="2897833"/>
            <a:ext cx="656314" cy="1534995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C51EDB2-FDDB-7A77-0612-0C0E3CE916F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47924" t="23573" r="5478" b="19535"/>
          <a:stretch>
            <a:fillRect/>
          </a:stretch>
        </p:blipFill>
        <p:spPr>
          <a:xfrm>
            <a:off x="9339486" y="2196546"/>
            <a:ext cx="2852514" cy="2287659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F2A1B280-8A27-3A10-56B2-42DFA31A35DD}"/>
              </a:ext>
            </a:extLst>
          </p:cNvPr>
          <p:cNvSpPr txBox="1"/>
          <p:nvPr/>
        </p:nvSpPr>
        <p:spPr>
          <a:xfrm>
            <a:off x="9903968" y="1870116"/>
            <a:ext cx="2454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Transcriptomics</a:t>
            </a:r>
          </a:p>
        </p:txBody>
      </p:sp>
    </p:spTree>
    <p:extLst>
      <p:ext uri="{BB962C8B-B14F-4D97-AF65-F5344CB8AC3E}">
        <p14:creationId xmlns:p14="http://schemas.microsoft.com/office/powerpoint/2010/main" val="36191075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67195-3156-1134-CF18-24B2CAFBE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501F873-099F-8934-2659-50E8CCB35F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47" y="1419225"/>
            <a:ext cx="7772400" cy="40195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474047A-7BAA-67A4-A6CC-24629597C7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631" y="990600"/>
            <a:ext cx="3657600" cy="2438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7F52728-5E31-C06D-B5B6-E4D5C1E2331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5552" r="36171"/>
          <a:stretch>
            <a:fillRect/>
          </a:stretch>
        </p:blipFill>
        <p:spPr>
          <a:xfrm>
            <a:off x="9994231" y="745456"/>
            <a:ext cx="2197769" cy="5105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2620149-B8A5-E51C-2C1E-87B44C9D81D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686" t="39488" r="50915" b="48718"/>
          <a:stretch>
            <a:fillRect/>
          </a:stretch>
        </p:blipFill>
        <p:spPr>
          <a:xfrm>
            <a:off x="2651760" y="2892279"/>
            <a:ext cx="3373120" cy="60215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06B4C69-C354-E08D-F4E4-24830E4889E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7924" t="23573" r="5478" b="19535"/>
          <a:stretch>
            <a:fillRect/>
          </a:stretch>
        </p:blipFill>
        <p:spPr>
          <a:xfrm>
            <a:off x="6372489" y="3674144"/>
            <a:ext cx="3621742" cy="2904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5815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267</Words>
  <Application>Microsoft Macintosh PowerPoint</Application>
  <PresentationFormat>Widescreen</PresentationFormat>
  <Paragraphs>68</Paragraphs>
  <Slides>12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Wingdings</vt:lpstr>
      <vt:lpstr>Office Theme</vt:lpstr>
      <vt:lpstr>Transcriptomic analysis of extracellular vesicle miRNA cargo derived from allergen-exposed airway epithelial cells using open-access software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Archive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 Janschke</dc:creator>
  <cp:lastModifiedBy>Chris Janschke</cp:lastModifiedBy>
  <cp:revision>15</cp:revision>
  <dcterms:created xsi:type="dcterms:W3CDTF">2026-08-03T12:33:40Z</dcterms:created>
  <dcterms:modified xsi:type="dcterms:W3CDTF">2026-08-03T16:10:20Z</dcterms:modified>
</cp:coreProperties>
</file>
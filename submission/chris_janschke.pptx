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6" r:id="rId2"/>
    <p:sldId id="313" r:id="rId3"/>
    <p:sldId id="278" r:id="rId4"/>
    <p:sldId id="279" r:id="rId5"/>
    <p:sldId id="297" r:id="rId6"/>
    <p:sldId id="280" r:id="rId7"/>
    <p:sldId id="325" r:id="rId8"/>
    <p:sldId id="312" r:id="rId9"/>
    <p:sldId id="315" r:id="rId10"/>
    <p:sldId id="284" r:id="rId11"/>
    <p:sldId id="303" r:id="rId12"/>
    <p:sldId id="306" r:id="rId13"/>
    <p:sldId id="285" r:id="rId14"/>
    <p:sldId id="307" r:id="rId15"/>
    <p:sldId id="319" r:id="rId16"/>
    <p:sldId id="320" r:id="rId17"/>
    <p:sldId id="309" r:id="rId18"/>
    <p:sldId id="31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75C5"/>
    <a:srgbClr val="C5D3FF"/>
    <a:srgbClr val="215F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55"/>
    <p:restoredTop sz="89315"/>
  </p:normalViewPr>
  <p:slideViewPr>
    <p:cSldViewPr snapToGrid="0">
      <p:cViewPr varScale="1">
        <p:scale>
          <a:sx n="108" d="100"/>
          <a:sy n="108" d="100"/>
        </p:scale>
        <p:origin x="792" y="200"/>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BB9A7B-CC8D-CB4B-96C7-D620BE5EB343}" type="datetimeFigureOut">
              <a:rPr lang="en-GB" smtClean="0"/>
              <a:t>04/09/2026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1E7E17-40CA-274F-8297-5DBF26091FCD}" type="slidenum">
              <a:rPr lang="en-GB" smtClean="0"/>
              <a:t>‹#›</a:t>
            </a:fld>
            <a:endParaRPr lang="en-GB"/>
          </a:p>
        </p:txBody>
      </p:sp>
    </p:spTree>
    <p:extLst>
      <p:ext uri="{BB962C8B-B14F-4D97-AF65-F5344CB8AC3E}">
        <p14:creationId xmlns:p14="http://schemas.microsoft.com/office/powerpoint/2010/main" val="4144596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41E7E17-40CA-274F-8297-5DBF26091FCD}" type="slidenum">
              <a:rPr lang="en-GB" smtClean="0"/>
              <a:t>1</a:t>
            </a:fld>
            <a:endParaRPr lang="en-GB"/>
          </a:p>
        </p:txBody>
      </p:sp>
    </p:spTree>
    <p:extLst>
      <p:ext uri="{BB962C8B-B14F-4D97-AF65-F5344CB8AC3E}">
        <p14:creationId xmlns:p14="http://schemas.microsoft.com/office/powerpoint/2010/main" val="425689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CED4F-EF36-965E-B39F-F4007E29BB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CA2892-46F3-4839-2FD4-6B7FF3CEA3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0A1D07-FB48-9973-8CF0-C3218EA8A906}"/>
              </a:ext>
            </a:extLst>
          </p:cNvPr>
          <p:cNvSpPr>
            <a:spLocks noGrp="1"/>
          </p:cNvSpPr>
          <p:nvPr>
            <p:ph type="body" idx="1"/>
          </p:nvPr>
        </p:nvSpPr>
        <p:spPr/>
        <p:txBody>
          <a:bodyPr/>
          <a:lstStyle/>
          <a:p>
            <a:r>
              <a:rPr lang="en-GB" dirty="0"/>
              <a:t>Aim:</a:t>
            </a:r>
          </a:p>
          <a:p>
            <a:pPr marL="171450" indent="-171450">
              <a:buFontTx/>
              <a:buChar char="-"/>
            </a:pPr>
            <a:r>
              <a:rPr lang="en-GB" dirty="0"/>
              <a:t>Create an open-access transcriptomic workflow.</a:t>
            </a:r>
          </a:p>
          <a:p>
            <a:pPr marL="171450" indent="-171450">
              <a:buFontTx/>
              <a:buChar char="-"/>
            </a:pPr>
            <a:r>
              <a:rPr lang="en-GB" dirty="0"/>
              <a:t>Exposing human airway epithelial cells to a range of allergens to determine if the miRNA cargo of extracellular vesicles is altered and if so, what pathways might be affected</a:t>
            </a:r>
          </a:p>
          <a:p>
            <a:endParaRPr lang="en-GB" dirty="0"/>
          </a:p>
          <a:p>
            <a:r>
              <a:rPr lang="en-GB" dirty="0"/>
              <a:t>Methods:</a:t>
            </a:r>
          </a:p>
          <a:p>
            <a:pPr marL="171450" indent="-171450">
              <a:buFontTx/>
              <a:buChar char="-"/>
            </a:pPr>
            <a:r>
              <a:rPr lang="en-GB" dirty="0"/>
              <a:t>Two datasets containing treated vs untreated samples were provided. </a:t>
            </a:r>
          </a:p>
          <a:p>
            <a:pPr marL="171450" indent="-171450">
              <a:buFontTx/>
              <a:buChar char="-"/>
            </a:pPr>
            <a:r>
              <a:rPr lang="en-GB" dirty="0"/>
              <a:t>The workflow consisted of performing differential expression analysis and then pathway analysis on the DE miRNAs.</a:t>
            </a:r>
          </a:p>
          <a:p>
            <a:pPr marL="171450" indent="-171450">
              <a:buFontTx/>
              <a:buChar char="-"/>
            </a:pPr>
            <a:r>
              <a:rPr lang="en-GB" dirty="0"/>
              <a:t>Most of the analysis had been performed before by external companies and using commercial software, but those methods and findings were not initially shared with me.</a:t>
            </a:r>
          </a:p>
          <a:p>
            <a:pPr marL="171450" indent="-171450">
              <a:buFontTx/>
              <a:buChar char="-"/>
            </a:pPr>
            <a:r>
              <a:rPr lang="en-GB" dirty="0"/>
              <a:t>The first dataset was used to establish the effectiveness of the workflow as this dataset had both differential expression and pathway analysis results.</a:t>
            </a:r>
          </a:p>
          <a:p>
            <a:pPr marL="171450" indent="-171450">
              <a:buFontTx/>
              <a:buChar char="-"/>
            </a:pPr>
            <a:r>
              <a:rPr lang="en-GB" dirty="0"/>
              <a:t>The workflow was then applied to the second dataset for which only differential expression analysis had been performed.</a:t>
            </a:r>
          </a:p>
          <a:p>
            <a:pPr marL="171450" indent="-171450">
              <a:buFontTx/>
              <a:buChar char="-"/>
            </a:pPr>
            <a:endParaRPr lang="en-GB" dirty="0"/>
          </a:p>
          <a:p>
            <a:pPr marL="0" indent="0">
              <a:buFont typeface="Arial" panose="020B0604020202020204" pitchFamily="34" charset="0"/>
              <a:buNone/>
            </a:pPr>
            <a:r>
              <a:rPr lang="en-GB" dirty="0"/>
              <a:t>Findings:</a:t>
            </a:r>
          </a:p>
          <a:p>
            <a:pPr marL="171450" indent="-171450">
              <a:buFontTx/>
              <a:buChar char="-"/>
            </a:pPr>
            <a:r>
              <a:rPr lang="en-GB" dirty="0"/>
              <a:t>Using the method development dataset, the workflow was able to detect DE miRNAs that may be associated with airway inflammation and immune responses </a:t>
            </a:r>
          </a:p>
          <a:p>
            <a:pPr marL="171450" indent="-171450">
              <a:buFontTx/>
              <a:buChar char="-"/>
            </a:pPr>
            <a:r>
              <a:rPr lang="en-GB" dirty="0"/>
              <a:t>The second dataset was unsuitable for meaningful transcriptomics analysis due to the low quantity of miRNA sent for transcriptomics analysis</a:t>
            </a:r>
          </a:p>
          <a:p>
            <a:pPr marL="171450" indent="-171450">
              <a:buFontTx/>
              <a:buChar char="-"/>
            </a:pPr>
            <a:endParaRPr lang="en-GB" dirty="0"/>
          </a:p>
          <a:p>
            <a:pPr marL="0" indent="0">
              <a:buFontTx/>
              <a:buNone/>
            </a:pPr>
            <a:r>
              <a:rPr lang="en-GB" dirty="0"/>
              <a:t>Significance:</a:t>
            </a:r>
          </a:p>
          <a:p>
            <a:pPr marL="171450" indent="-171450">
              <a:buFontTx/>
              <a:buChar char="-"/>
            </a:pPr>
            <a:r>
              <a:rPr lang="en-GB" dirty="0"/>
              <a:t>The workflow may be suitable when applied to datasets with appropriate experimental data</a:t>
            </a:r>
          </a:p>
          <a:p>
            <a:pPr marL="171450" indent="-171450">
              <a:buFontTx/>
              <a:buChar char="-"/>
            </a:pPr>
            <a:r>
              <a:rPr lang="en-GB" dirty="0"/>
              <a:t>The workflow identified experimental limitations and provided recommendations to improve future studies.</a:t>
            </a:r>
          </a:p>
          <a:p>
            <a:endParaRPr lang="en-GB" dirty="0"/>
          </a:p>
          <a:p>
            <a:endParaRPr lang="en-GB" dirty="0"/>
          </a:p>
          <a:p>
            <a:r>
              <a:rPr lang="en-GB" dirty="0"/>
              <a:t>[need to state the aim is to use open-access software]</a:t>
            </a:r>
          </a:p>
          <a:p>
            <a:r>
              <a:rPr lang="en-GB" dirty="0"/>
              <a:t>[need to state the findings is that the workflow produced biologically plausible results on datasets where experimental design was appropriate but not when the design was inappropriate]</a:t>
            </a:r>
          </a:p>
          <a:p>
            <a:r>
              <a:rPr lang="en-GB" dirty="0"/>
              <a:t>[need to state the significance is also that it could save money on outsourcing transcriptomics]</a:t>
            </a:r>
          </a:p>
        </p:txBody>
      </p:sp>
      <p:sp>
        <p:nvSpPr>
          <p:cNvPr id="4" name="Slide Number Placeholder 3">
            <a:extLst>
              <a:ext uri="{FF2B5EF4-FFF2-40B4-BE49-F238E27FC236}">
                <a16:creationId xmlns:a16="http://schemas.microsoft.com/office/drawing/2014/main" id="{DA1025EE-E220-5E50-0876-01CE276850B3}"/>
              </a:ext>
            </a:extLst>
          </p:cNvPr>
          <p:cNvSpPr>
            <a:spLocks noGrp="1"/>
          </p:cNvSpPr>
          <p:nvPr>
            <p:ph type="sldNum" sz="quarter" idx="5"/>
          </p:nvPr>
        </p:nvSpPr>
        <p:spPr/>
        <p:txBody>
          <a:bodyPr/>
          <a:lstStyle/>
          <a:p>
            <a:fld id="{241E7E17-40CA-274F-8297-5DBF26091FCD}" type="slidenum">
              <a:rPr lang="en-GB" smtClean="0"/>
              <a:t>2</a:t>
            </a:fld>
            <a:endParaRPr lang="en-GB"/>
          </a:p>
        </p:txBody>
      </p:sp>
    </p:spTree>
    <p:extLst>
      <p:ext uri="{BB962C8B-B14F-4D97-AF65-F5344CB8AC3E}">
        <p14:creationId xmlns:p14="http://schemas.microsoft.com/office/powerpoint/2010/main" val="3909999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a:t>
            </a:r>
          </a:p>
          <a:p>
            <a:r>
              <a:rPr lang="en-GB" dirty="0"/>
              <a:t>- For the background of the project, allergic diseases constitute a significant health burden worldwide and one main way these arise is through environmental exposure to allergens.</a:t>
            </a:r>
          </a:p>
          <a:p>
            <a:endParaRPr lang="en-GB" dirty="0"/>
          </a:p>
          <a:p>
            <a:r>
              <a:rPr lang="en-GB" dirty="0"/>
              <a:t>Allergen exposure:</a:t>
            </a:r>
          </a:p>
          <a:p>
            <a:r>
              <a:rPr lang="en-GB" dirty="0"/>
              <a:t>- The first contact with inhaled allergens is through the airway epithelial barrier which consists of a range of cells that communicate with immune cells.</a:t>
            </a:r>
          </a:p>
          <a:p>
            <a:r>
              <a:rPr lang="en-GB" dirty="0"/>
              <a:t>- It is known that allergen exposure can disrupt barrier integrity which can lead to respiratory diseases. </a:t>
            </a:r>
          </a:p>
          <a:p>
            <a:endParaRPr lang="en-GB" dirty="0"/>
          </a:p>
          <a:p>
            <a:r>
              <a:rPr lang="en-GB" dirty="0"/>
              <a:t>EV cargo:</a:t>
            </a:r>
          </a:p>
          <a:p>
            <a:pPr marL="171450" indent="-171450">
              <a:buFontTx/>
              <a:buChar char="-"/>
            </a:pPr>
            <a:r>
              <a:rPr lang="en-GB" dirty="0"/>
              <a:t>Epithelial cells can communicate with immune cells through extracellular vesicle signalling.</a:t>
            </a:r>
          </a:p>
          <a:p>
            <a:pPr marL="171450" indent="-171450">
              <a:buFontTx/>
              <a:buChar char="-"/>
            </a:pPr>
            <a:r>
              <a:rPr lang="en-GB" dirty="0"/>
              <a:t>Extracellular vesicles are small lipid-enclosed particles that transfer their cargo to recipient cells.</a:t>
            </a:r>
          </a:p>
          <a:p>
            <a:pPr marL="171450" indent="-171450">
              <a:buFontTx/>
              <a:buChar char="-"/>
            </a:pPr>
            <a:r>
              <a:rPr lang="en-GB" dirty="0"/>
              <a:t>The cargo can include various types of RNA, including miRNAs.</a:t>
            </a:r>
          </a:p>
          <a:p>
            <a:pPr marL="171450" indent="-171450">
              <a:buFontTx/>
              <a:buChar char="-"/>
            </a:pPr>
            <a:r>
              <a:rPr lang="en-GB" dirty="0"/>
              <a:t>The specific miRNAs present in the extracellular vesicles are known as the miRNA signature and this can change in response to allergen exposure.</a:t>
            </a:r>
          </a:p>
          <a:p>
            <a:pPr marL="171450" indent="-171450">
              <a:buFontTx/>
              <a:buChar char="-"/>
            </a:pPr>
            <a:endParaRPr lang="en-GB" dirty="0"/>
          </a:p>
          <a:p>
            <a:r>
              <a:rPr lang="en-GB" dirty="0"/>
              <a:t>Gene suppression: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miRNAs interact with genes to post-transcriptionally suppress their expression.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If the miRNA signature changes then it is likely that the genes they suppress will also change.</a:t>
            </a:r>
          </a:p>
          <a:p>
            <a:endParaRPr lang="en-GB" dirty="0"/>
          </a:p>
          <a:p>
            <a:r>
              <a:rPr lang="en-GB" dirty="0"/>
              <a:t>Pathway disruption:</a:t>
            </a:r>
          </a:p>
          <a:p>
            <a:pPr marL="171450" indent="-171450">
              <a:buFontTx/>
              <a:buChar char="-"/>
            </a:pPr>
            <a:r>
              <a:rPr lang="en-GB" dirty="0"/>
              <a:t>The change in gene expression can then affect specific pathways.</a:t>
            </a:r>
          </a:p>
        </p:txBody>
      </p:sp>
      <p:sp>
        <p:nvSpPr>
          <p:cNvPr id="4" name="Slide Number Placeholder 3"/>
          <p:cNvSpPr>
            <a:spLocks noGrp="1"/>
          </p:cNvSpPr>
          <p:nvPr>
            <p:ph type="sldNum" sz="quarter" idx="5"/>
          </p:nvPr>
        </p:nvSpPr>
        <p:spPr/>
        <p:txBody>
          <a:bodyPr/>
          <a:lstStyle/>
          <a:p>
            <a:fld id="{241E7E17-40CA-274F-8297-5DBF26091FCD}" type="slidenum">
              <a:rPr lang="en-GB" smtClean="0"/>
              <a:t>3</a:t>
            </a:fld>
            <a:endParaRPr lang="en-GB"/>
          </a:p>
        </p:txBody>
      </p:sp>
    </p:spTree>
    <p:extLst>
      <p:ext uri="{BB962C8B-B14F-4D97-AF65-F5344CB8AC3E}">
        <p14:creationId xmlns:p14="http://schemas.microsoft.com/office/powerpoint/2010/main" val="2422262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E2178-C667-7E57-0F97-58554A0F9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47FB9-FC09-412A-76CE-3B3DC6DAB1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41B78-EA98-91A2-7967-F4485F72C6C0}"/>
              </a:ext>
            </a:extLst>
          </p:cNvPr>
          <p:cNvSpPr>
            <a:spLocks noGrp="1"/>
          </p:cNvSpPr>
          <p:nvPr>
            <p:ph type="body" idx="1"/>
          </p:nvPr>
        </p:nvSpPr>
        <p:spPr/>
        <p:txBody>
          <a:bodyPr/>
          <a:lstStyle/>
          <a:p>
            <a:r>
              <a:rPr lang="en-GB" dirty="0"/>
              <a:t>Intro:</a:t>
            </a:r>
          </a:p>
          <a:p>
            <a:r>
              <a:rPr lang="en-GB" dirty="0"/>
              <a:t>- Now I’m going to discuss the data used in the study. As previously mentioned, the data originated from two independent studies which each used a different airway epithelial cell type.</a:t>
            </a:r>
          </a:p>
          <a:p>
            <a:endParaRPr lang="en-GB" dirty="0"/>
          </a:p>
          <a:p>
            <a:pPr marL="0" indent="0">
              <a:buFontTx/>
              <a:buNone/>
            </a:pPr>
            <a:r>
              <a:rPr lang="en-GB" dirty="0"/>
              <a:t>Primary HBECs:</a:t>
            </a:r>
          </a:p>
          <a:p>
            <a:pPr marL="171450" indent="-171450">
              <a:buFontTx/>
              <a:buChar char="-"/>
            </a:pPr>
            <a:r>
              <a:rPr lang="en-GB" dirty="0"/>
              <a:t>The first study, which was dataset 1 in the summary, used primary human bronchial epithelial cells (HBECs) and exposed them protease allergen at varying concentrations.</a:t>
            </a:r>
          </a:p>
          <a:p>
            <a:pPr marL="171450" indent="-171450">
              <a:buFontTx/>
              <a:buChar char="-"/>
            </a:pPr>
            <a:endParaRPr lang="en-GB" dirty="0"/>
          </a:p>
          <a:p>
            <a:pPr marL="0" indent="0">
              <a:buFontTx/>
              <a:buNone/>
            </a:pPr>
            <a:r>
              <a:rPr lang="en-GB" dirty="0"/>
              <a:t>Calu-3:</a:t>
            </a:r>
          </a:p>
          <a:p>
            <a:pPr marL="171450" indent="-171450">
              <a:buFontTx/>
              <a:buChar char="-"/>
            </a:pPr>
            <a:r>
              <a:rPr lang="en-GB" dirty="0"/>
              <a:t>The second study, which was dataset 2 in the summary, used Calu-3, a human lung adenocarcinoma cell line, was exposed to active and inactive forms of house dust mite allergens and a dog allergen.</a:t>
            </a:r>
          </a:p>
          <a:p>
            <a:pPr marL="171450" indent="-171450">
              <a:buFontTx/>
              <a:buChar char="-"/>
            </a:pPr>
            <a:endParaRPr lang="en-GB" dirty="0"/>
          </a:p>
          <a:p>
            <a:pPr marL="0" indent="0">
              <a:buFontTx/>
              <a:buNone/>
            </a:pPr>
            <a:r>
              <a:rPr lang="en-GB" dirty="0"/>
              <a:t>Experiment:</a:t>
            </a:r>
          </a:p>
          <a:p>
            <a:pPr marL="171450" indent="-171450">
              <a:buFontTx/>
              <a:buChar char="-"/>
            </a:pPr>
            <a:r>
              <a:rPr lang="en-GB" dirty="0"/>
              <a:t>All exposure conditions were performed using 3 independent biological replicates with the control samples receiving PBS.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And all allergens were nebulised to enable delivery in aerosol form.</a:t>
            </a:r>
          </a:p>
          <a:p>
            <a:pPr marL="171450" indent="-171450">
              <a:buFontTx/>
              <a:buChar char="-"/>
            </a:pPr>
            <a:endParaRPr lang="en-GB" dirty="0"/>
          </a:p>
          <a:p>
            <a:pPr marL="0" indent="0">
              <a:buFontTx/>
              <a:buNone/>
            </a:pPr>
            <a:r>
              <a:rPr lang="en-GB" dirty="0"/>
              <a:t>Transcriptomics: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The primary HBEC study performed all the transcriptomic workflow analysis steps, including pathway enrichment analysis.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Only differential expression analysis had been performed on the Calu-3 dataset, not pathway analysis.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Differential expression analysis was outsourced to an external company, and pathway analysis was performed using a commercial platform – both methods are costly.</a:t>
            </a:r>
          </a:p>
          <a:p>
            <a:pPr marL="171450" indent="-171450">
              <a:buFontTx/>
              <a:buChar char="-"/>
            </a:pPr>
            <a:endParaRPr lang="en-GB" dirty="0"/>
          </a:p>
          <a:p>
            <a:endParaRPr lang="en-GB" dirty="0"/>
          </a:p>
          <a:p>
            <a:endParaRPr lang="en-GB" dirty="0"/>
          </a:p>
          <a:p>
            <a:r>
              <a:rPr lang="en-GB" dirty="0"/>
              <a:t>[all allergens are nebulised with PBS as untreated control]</a:t>
            </a:r>
          </a:p>
          <a:p>
            <a:r>
              <a:rPr lang="en-GB" dirty="0"/>
              <a:t>[each condition contained 3 biological replicates]</a:t>
            </a:r>
          </a:p>
        </p:txBody>
      </p:sp>
      <p:sp>
        <p:nvSpPr>
          <p:cNvPr id="4" name="Slide Number Placeholder 3">
            <a:extLst>
              <a:ext uri="{FF2B5EF4-FFF2-40B4-BE49-F238E27FC236}">
                <a16:creationId xmlns:a16="http://schemas.microsoft.com/office/drawing/2014/main" id="{F802A046-3ACA-D6B2-DF13-5C8991F5DE32}"/>
              </a:ext>
            </a:extLst>
          </p:cNvPr>
          <p:cNvSpPr>
            <a:spLocks noGrp="1"/>
          </p:cNvSpPr>
          <p:nvPr>
            <p:ph type="sldNum" sz="quarter" idx="5"/>
          </p:nvPr>
        </p:nvSpPr>
        <p:spPr/>
        <p:txBody>
          <a:bodyPr/>
          <a:lstStyle/>
          <a:p>
            <a:fld id="{241E7E17-40CA-274F-8297-5DBF26091FCD}" type="slidenum">
              <a:rPr lang="en-GB" smtClean="0"/>
              <a:t>4</a:t>
            </a:fld>
            <a:endParaRPr lang="en-GB"/>
          </a:p>
        </p:txBody>
      </p:sp>
    </p:spTree>
    <p:extLst>
      <p:ext uri="{BB962C8B-B14F-4D97-AF65-F5344CB8AC3E}">
        <p14:creationId xmlns:p14="http://schemas.microsoft.com/office/powerpoint/2010/main" val="1229318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Aim 1:</a:t>
            </a:r>
          </a:p>
          <a:p>
            <a:pPr marL="171450" indent="-171450">
              <a:buFontTx/>
              <a:buChar char="-"/>
            </a:pPr>
            <a:r>
              <a:rPr lang="en-GB" dirty="0"/>
              <a:t>Create a transcriptomics workflow to take in raw RNA sequencing data and perform differential expression analysis and pathway enrichment analysis.</a:t>
            </a:r>
          </a:p>
          <a:p>
            <a:pPr marL="171450" indent="-171450">
              <a:buFontTx/>
              <a:buChar char="-"/>
            </a:pPr>
            <a:r>
              <a:rPr lang="en-GB" dirty="0"/>
              <a:t>Using the primary HBEC dataset for method development as this dataset does not contain any novel analyses.</a:t>
            </a:r>
          </a:p>
          <a:p>
            <a:pPr marL="171450" indent="-171450">
              <a:buFontTx/>
              <a:buChar char="-"/>
            </a:pPr>
            <a:r>
              <a:rPr lang="en-GB" dirty="0"/>
              <a:t>Aiming to identify pathways associated with inflammatory and immune signalling as well as integrity of the airway epithelial barrier.</a:t>
            </a:r>
          </a:p>
          <a:p>
            <a:endParaRPr lang="en-GB" dirty="0"/>
          </a:p>
          <a:p>
            <a:r>
              <a:rPr lang="en-GB" dirty="0"/>
              <a:t>Aim 2:</a:t>
            </a:r>
          </a:p>
          <a:p>
            <a:r>
              <a:rPr lang="en-GB" dirty="0"/>
              <a:t>- The workflow is going to consist of entirely open-access software to establish whether the laboratory could use the workflow for future iterations of this work and avoid expensive outsourcing and software.</a:t>
            </a:r>
          </a:p>
          <a:p>
            <a:endParaRPr lang="en-GB" dirty="0"/>
          </a:p>
          <a:p>
            <a:r>
              <a:rPr lang="en-GB" dirty="0"/>
              <a:t>Aim 3:</a:t>
            </a:r>
          </a:p>
          <a:p>
            <a:r>
              <a:rPr lang="en-GB" dirty="0"/>
              <a:t>- The Calu-3 dataset will then be analysed using the workflow to determine what pathways were affected by exposure to house dust mite and dog allergens.</a:t>
            </a:r>
          </a:p>
          <a:p>
            <a:endParaRPr lang="en-GB" dirty="0"/>
          </a:p>
          <a:p>
            <a:endParaRPr lang="en-GB" dirty="0"/>
          </a:p>
          <a:p>
            <a:r>
              <a:rPr lang="en-GB" dirty="0"/>
              <a:t>[creating the workflow using primary HBEC requires observing biologically plausible results]</a:t>
            </a:r>
          </a:p>
        </p:txBody>
      </p:sp>
      <p:sp>
        <p:nvSpPr>
          <p:cNvPr id="4" name="Slide Number Placeholder 3"/>
          <p:cNvSpPr>
            <a:spLocks noGrp="1"/>
          </p:cNvSpPr>
          <p:nvPr>
            <p:ph type="sldNum" sz="quarter" idx="5"/>
          </p:nvPr>
        </p:nvSpPr>
        <p:spPr/>
        <p:txBody>
          <a:bodyPr/>
          <a:lstStyle/>
          <a:p>
            <a:fld id="{241E7E17-40CA-274F-8297-5DBF26091FCD}" type="slidenum">
              <a:rPr lang="en-GB" smtClean="0"/>
              <a:t>5</a:t>
            </a:fld>
            <a:endParaRPr lang="en-GB"/>
          </a:p>
        </p:txBody>
      </p:sp>
    </p:spTree>
    <p:extLst>
      <p:ext uri="{BB962C8B-B14F-4D97-AF65-F5344CB8AC3E}">
        <p14:creationId xmlns:p14="http://schemas.microsoft.com/office/powerpoint/2010/main" val="306979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3F940-5AC7-C269-1643-DF88951D6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BAA39-A70B-2F5D-5C17-F09C999F4D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B72022-91BB-A65B-F56F-87033CABB36A}"/>
              </a:ext>
            </a:extLst>
          </p:cNvPr>
          <p:cNvSpPr>
            <a:spLocks noGrp="1"/>
          </p:cNvSpPr>
          <p:nvPr>
            <p:ph type="body" idx="1"/>
          </p:nvPr>
        </p:nvSpPr>
        <p:spPr/>
        <p:txBody>
          <a:bodyPr/>
          <a:lstStyle/>
          <a:p>
            <a:r>
              <a:rPr lang="en-GB" dirty="0"/>
              <a:t>Intro:</a:t>
            </a:r>
          </a:p>
          <a:p>
            <a:r>
              <a:rPr lang="en-GB" dirty="0"/>
              <a:t>- Now to look at the transcriptomic workflow in more detail, this slide shows the main steps of the analysis pipeline.</a:t>
            </a:r>
          </a:p>
          <a:p>
            <a:endParaRPr lang="en-GB" dirty="0"/>
          </a:p>
          <a:p>
            <a:r>
              <a:rPr lang="en-GB" dirty="0"/>
              <a:t>Trimming:</a:t>
            </a:r>
          </a:p>
          <a:p>
            <a:r>
              <a:rPr lang="en-GB" dirty="0"/>
              <a:t>- Firstly, trimming was performed on the raw RNA sequencing data to retain only high-quality data where there was less than a 1 in 1000 chance the data contains an erroneous nucleotide and trims the data down to the estimated size of a miRNA molecule which is between 18-30 nucleotides.</a:t>
            </a:r>
          </a:p>
          <a:p>
            <a:endParaRPr lang="en-GB" dirty="0"/>
          </a:p>
          <a:p>
            <a:r>
              <a:rPr lang="en-GB" dirty="0"/>
              <a:t>Quality control:</a:t>
            </a:r>
          </a:p>
          <a:p>
            <a:pPr marL="171450" indent="-171450">
              <a:buFontTx/>
              <a:buChar char="-"/>
            </a:pPr>
            <a:r>
              <a:rPr lang="en-GB" dirty="0"/>
              <a:t>The second stage was quality control which was used to confirm the effectiveness of trimming, along with useful information about the sequencing data and to observe the RNA composition of the samples to estimate how much miRNA each sample actually contained. </a:t>
            </a:r>
          </a:p>
          <a:p>
            <a:pPr marL="171450" indent="-171450">
              <a:buFontTx/>
              <a:buChar char="-"/>
            </a:pPr>
            <a:endParaRPr lang="en-GB" dirty="0"/>
          </a:p>
          <a:p>
            <a:r>
              <a:rPr lang="en-GB" dirty="0"/>
              <a:t>miRNA mapping:</a:t>
            </a:r>
          </a:p>
          <a:p>
            <a:pPr marL="171450" indent="-171450">
              <a:buFontTx/>
              <a:buChar char="-"/>
            </a:pPr>
            <a:r>
              <a:rPr lang="en-GB" dirty="0"/>
              <a:t>The next step was to map the trimmed reads to known human miRNA sequences to determine what different types of miRNAs are being expressed in the extracellular vesicles and in what quantity.</a:t>
            </a:r>
          </a:p>
          <a:p>
            <a:pPr marL="171450" indent="-171450">
              <a:buFontTx/>
              <a:buChar char="-"/>
            </a:pPr>
            <a:endParaRPr lang="en-GB" dirty="0"/>
          </a:p>
          <a:p>
            <a:r>
              <a:rPr lang="en-GB" dirty="0"/>
              <a:t>Differential expression:</a:t>
            </a:r>
          </a:p>
          <a:p>
            <a:r>
              <a:rPr lang="en-GB" dirty="0"/>
              <a:t>- Now you have the quantification data, you can perform differential expression analysis to determine whether the miRNAs expressed by cells exposed to allergens were statistically different to those expressed in untreated cells.</a:t>
            </a:r>
          </a:p>
          <a:p>
            <a:endParaRPr lang="en-GB" dirty="0"/>
          </a:p>
          <a:p>
            <a:r>
              <a:rPr lang="en-GB" dirty="0"/>
              <a:t>Pathway enrichment:</a:t>
            </a:r>
          </a:p>
          <a:p>
            <a:pPr marL="171450" indent="-171450">
              <a:buFontTx/>
              <a:buChar char="-"/>
            </a:pPr>
            <a:r>
              <a:rPr lang="en-GB" dirty="0"/>
              <a:t>Then you can perform pathway analysis on the differentially expressed miRNAs to hypothesise which pathways they are associated with.</a:t>
            </a:r>
          </a:p>
          <a:p>
            <a:pPr marL="171450" indent="-171450">
              <a:buFontTx/>
              <a:buChar char="-"/>
            </a:pPr>
            <a:r>
              <a:rPr lang="en-GB" dirty="0"/>
              <a:t>However, there are many ways of performing pathway analysis and it can be complex.</a:t>
            </a:r>
          </a:p>
          <a:p>
            <a:endParaRPr lang="en-GB" dirty="0"/>
          </a:p>
          <a:p>
            <a:r>
              <a:rPr lang="en-GB" dirty="0"/>
              <a:t>Method development:</a:t>
            </a:r>
          </a:p>
          <a:p>
            <a:pPr marL="171450" indent="-171450">
              <a:buFontTx/>
              <a:buChar char="-"/>
            </a:pPr>
            <a:r>
              <a:rPr lang="en-GB" dirty="0"/>
              <a:t>Therefore, the primary HBEC dataset was used to test two prominent methods. </a:t>
            </a:r>
          </a:p>
          <a:p>
            <a:pPr marL="171450" indent="-171450">
              <a:buFontTx/>
              <a:buChar char="-"/>
            </a:pPr>
            <a:r>
              <a:rPr lang="en-GB" dirty="0"/>
              <a:t>The first method identifies miRNA target genes then observes which pathways these genes are involved in.</a:t>
            </a:r>
          </a:p>
          <a:p>
            <a:pPr marL="171450" indent="-171450">
              <a:buFontTx/>
              <a:buChar char="-"/>
            </a:pPr>
            <a:r>
              <a:rPr lang="en-GB" dirty="0"/>
              <a:t>The second method looks directly at the miRNAs to establish which pathways the miRNAs have been indicated in.</a:t>
            </a:r>
          </a:p>
          <a:p>
            <a:endParaRPr lang="en-GB" dirty="0"/>
          </a:p>
          <a:p>
            <a:r>
              <a:rPr lang="en-GB" dirty="0"/>
              <a:t>Literature search:</a:t>
            </a:r>
          </a:p>
          <a:p>
            <a:pPr marL="171450" indent="-171450">
              <a:buFontTx/>
              <a:buChar char="-"/>
            </a:pPr>
            <a:r>
              <a:rPr lang="en-GB" dirty="0"/>
              <a:t>For reasons I will discuss later, both of these methods were deemed inappropriate for use on the Calu-3 dataset.</a:t>
            </a:r>
          </a:p>
          <a:p>
            <a:pPr marL="171450" indent="-171450">
              <a:buFontTx/>
              <a:buChar char="-"/>
            </a:pPr>
            <a:r>
              <a:rPr lang="en-GB" dirty="0"/>
              <a:t>Therefore, a targeted literature search was performed using the NCBI database with relevant keywords used as the search term to identify whether the DE miRNAs had been previously indicated airway biology.</a:t>
            </a:r>
          </a:p>
          <a:p>
            <a:endParaRPr lang="en-GB" dirty="0"/>
          </a:p>
          <a:p>
            <a:r>
              <a:rPr lang="en-GB" dirty="0"/>
              <a:t>Segway:</a:t>
            </a:r>
          </a:p>
          <a:p>
            <a:r>
              <a:rPr lang="en-GB" dirty="0"/>
              <a:t>- I am now going to discuss the results generated from the workflow.</a:t>
            </a:r>
          </a:p>
          <a:p>
            <a:endParaRPr lang="en-GB" dirty="0"/>
          </a:p>
          <a:p>
            <a:endParaRPr lang="en-GB" dirty="0"/>
          </a:p>
          <a:p>
            <a:endParaRPr lang="en-GB" dirty="0"/>
          </a:p>
          <a:p>
            <a:r>
              <a:rPr lang="en-GB" dirty="0"/>
              <a:t>[finish by signposting I'm going to go through the results]</a:t>
            </a:r>
          </a:p>
          <a:p>
            <a:r>
              <a:rPr lang="en-GB" dirty="0"/>
              <a:t>[due to limitations in the calu-3 dataset which will be discussed later, biological function of DE miRNAs was investigated using published literature]</a:t>
            </a:r>
          </a:p>
        </p:txBody>
      </p:sp>
      <p:sp>
        <p:nvSpPr>
          <p:cNvPr id="4" name="Slide Number Placeholder 3">
            <a:extLst>
              <a:ext uri="{FF2B5EF4-FFF2-40B4-BE49-F238E27FC236}">
                <a16:creationId xmlns:a16="http://schemas.microsoft.com/office/drawing/2014/main" id="{5C21A46C-44E4-C87A-B072-9D1C318FD6A8}"/>
              </a:ext>
            </a:extLst>
          </p:cNvPr>
          <p:cNvSpPr>
            <a:spLocks noGrp="1"/>
          </p:cNvSpPr>
          <p:nvPr>
            <p:ph type="sldNum" sz="quarter" idx="5"/>
          </p:nvPr>
        </p:nvSpPr>
        <p:spPr/>
        <p:txBody>
          <a:bodyPr/>
          <a:lstStyle/>
          <a:p>
            <a:fld id="{241E7E17-40CA-274F-8297-5DBF26091FCD}" type="slidenum">
              <a:rPr lang="en-GB" smtClean="0"/>
              <a:t>6</a:t>
            </a:fld>
            <a:endParaRPr lang="en-GB"/>
          </a:p>
        </p:txBody>
      </p:sp>
    </p:spTree>
    <p:extLst>
      <p:ext uri="{BB962C8B-B14F-4D97-AF65-F5344CB8AC3E}">
        <p14:creationId xmlns:p14="http://schemas.microsoft.com/office/powerpoint/2010/main" val="3353247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63455-A1F2-F757-EA00-27866BFB0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14011-03DA-95B6-D275-2CEE42A86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818DE0-7B6E-84C1-10F1-E06277181B97}"/>
              </a:ext>
            </a:extLst>
          </p:cNvPr>
          <p:cNvSpPr>
            <a:spLocks noGrp="1"/>
          </p:cNvSpPr>
          <p:nvPr>
            <p:ph type="body" idx="1"/>
          </p:nvPr>
        </p:nvSpPr>
        <p:spPr/>
        <p:txBody>
          <a:bodyPr/>
          <a:lstStyle/>
          <a:p>
            <a:r>
              <a:rPr lang="en-GB" dirty="0"/>
              <a:t>Intro:</a:t>
            </a:r>
          </a:p>
          <a:p>
            <a:pPr marL="171450" indent="-171450">
              <a:buFontTx/>
              <a:buChar char="-"/>
            </a:pPr>
            <a:r>
              <a:rPr lang="en-GB" dirty="0"/>
              <a:t>Now I’m going to discuss the results obtained from the study.</a:t>
            </a:r>
          </a:p>
          <a:p>
            <a:pPr marL="171450" indent="-171450">
              <a:buFontTx/>
              <a:buChar char="-"/>
            </a:pPr>
            <a:r>
              <a:rPr lang="en-GB" dirty="0"/>
              <a:t>These charts show the results of the RNA composition analysis </a:t>
            </a:r>
          </a:p>
          <a:p>
            <a:pPr marL="171450" indent="-171450">
              <a:buFontTx/>
              <a:buChar char="-"/>
            </a:pPr>
            <a:r>
              <a:rPr lang="en-GB" dirty="0"/>
              <a:t>Where each entry on the y-axis represents an individual sample, and the name is the allergen exposure condition, and the replicate number is shown in brackets.</a:t>
            </a:r>
          </a:p>
          <a:p>
            <a:pPr marL="171450" indent="-171450">
              <a:buFontTx/>
              <a:buChar char="-"/>
            </a:pPr>
            <a:r>
              <a:rPr lang="en-GB" dirty="0"/>
              <a:t>The chart itself shows the proportion of each sequencing library that was assigned to either micro-RNA, ribosomal RNA or transfer RNA. The software could not detect other RNA species.</a:t>
            </a:r>
          </a:p>
          <a:p>
            <a:endParaRPr lang="en-GB" dirty="0"/>
          </a:p>
          <a:p>
            <a:r>
              <a:rPr lang="en-GB" dirty="0"/>
              <a:t>miRNA:</a:t>
            </a:r>
          </a:p>
          <a:p>
            <a:pPr marL="171450" indent="-171450">
              <a:buFontTx/>
              <a:buChar char="-"/>
            </a:pPr>
            <a:r>
              <a:rPr lang="en-GB" dirty="0"/>
              <a:t>miRNA is shown in blue and accounts for only a small proportion of the sequencing libraries in both cell types.</a:t>
            </a:r>
          </a:p>
          <a:p>
            <a:pPr marL="171450" indent="-171450">
              <a:buFontTx/>
              <a:buChar char="-"/>
            </a:pPr>
            <a:r>
              <a:rPr lang="en-GB" dirty="0"/>
              <a:t>However, the levels of miRNA was markedly lower in Calu-3 cells where only 2,500 reads were assigned to miRNA compared to 44,000 in the primary HBEC dataset.</a:t>
            </a:r>
          </a:p>
          <a:p>
            <a:pPr marL="171450" indent="-171450">
              <a:buFontTx/>
              <a:buChar char="-"/>
            </a:pPr>
            <a:r>
              <a:rPr lang="en-GB" dirty="0"/>
              <a:t>This was the first indication that the Calu-3 dataset may be underpowered for differential expression analysis.</a:t>
            </a:r>
          </a:p>
          <a:p>
            <a:pPr marL="171450" indent="-171450">
              <a:buFontTx/>
              <a:buChar char="-"/>
            </a:pPr>
            <a:endParaRPr lang="en-GB" dirty="0"/>
          </a:p>
          <a:p>
            <a:pPr marL="0" indent="0">
              <a:buFontTx/>
              <a:buNone/>
            </a:pPr>
            <a:r>
              <a:rPr lang="en-GB" dirty="0"/>
              <a:t>Dose 24:</a:t>
            </a:r>
          </a:p>
          <a:p>
            <a:pPr marL="171450" indent="-171450">
              <a:buFontTx/>
              <a:buChar char="-"/>
            </a:pPr>
            <a:r>
              <a:rPr lang="en-GB" dirty="0"/>
              <a:t>Another interesting finding was that the levels of ribosomal RNA and transfer RNA were discernibly greater in the dose 24 primary HBEC samples.</a:t>
            </a:r>
          </a:p>
          <a:p>
            <a:pPr marL="171450" indent="-171450">
              <a:buFontTx/>
              <a:buChar char="-"/>
            </a:pPr>
            <a:r>
              <a:rPr lang="en-GB" dirty="0"/>
              <a:t>This suggests that other forms of RNA may be affected by protease allergen exposure, and this may be most notable in the ribosomal RNA, however further research is required to confirm this.</a:t>
            </a:r>
          </a:p>
          <a:p>
            <a:pPr marL="171450" indent="-171450">
              <a:buFontTx/>
              <a:buChar char="-"/>
            </a:pPr>
            <a:endParaRPr lang="en-GB" dirty="0"/>
          </a:p>
          <a:p>
            <a:pPr marL="0" indent="0">
              <a:buFontTx/>
              <a:buNone/>
            </a:pPr>
            <a:r>
              <a:rPr lang="en-GB" dirty="0"/>
              <a:t>Summary:</a:t>
            </a:r>
          </a:p>
          <a:p>
            <a:pPr marL="171450" indent="-171450">
              <a:buFontTx/>
              <a:buChar char="-"/>
            </a:pPr>
            <a:r>
              <a:rPr lang="en-GB" dirty="0"/>
              <a:t>Very low levels of miRNA were detected in the Calu-3 samples.</a:t>
            </a:r>
          </a:p>
          <a:p>
            <a:pPr marL="171450" indent="-171450">
              <a:buFontTx/>
              <a:buChar char="-"/>
            </a:pPr>
            <a:r>
              <a:rPr lang="en-GB" dirty="0"/>
              <a:t>And primary HBECs exposed to 24 micrograms of protease allergens showed distinct ribosomal RNA and transfer RNA profiles.</a:t>
            </a:r>
          </a:p>
          <a:p>
            <a:pPr marL="171450" indent="-171450">
              <a:buFontTx/>
              <a:buChar char="-"/>
            </a:pPr>
            <a:endParaRPr lang="en-GB" dirty="0"/>
          </a:p>
          <a:p>
            <a:pPr marL="0" indent="0">
              <a:buFontTx/>
              <a:buNone/>
            </a:pPr>
            <a:r>
              <a:rPr lang="en-GB" dirty="0"/>
              <a:t>[can talk about the large quantity of miRNA in dose 0.005 (3) if there’s spare time that needs filling]</a:t>
            </a:r>
          </a:p>
          <a:p>
            <a:endParaRPr lang="en-GB" dirty="0"/>
          </a:p>
          <a:p>
            <a:endParaRPr lang="en-GB" dirty="0"/>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2658F23D-F4D3-8320-5FAC-B479E12A3649}"/>
              </a:ext>
            </a:extLst>
          </p:cNvPr>
          <p:cNvSpPr>
            <a:spLocks noGrp="1"/>
          </p:cNvSpPr>
          <p:nvPr>
            <p:ph type="sldNum" sz="quarter" idx="5"/>
          </p:nvPr>
        </p:nvSpPr>
        <p:spPr/>
        <p:txBody>
          <a:bodyPr/>
          <a:lstStyle/>
          <a:p>
            <a:fld id="{241E7E17-40CA-274F-8297-5DBF26091FCD}" type="slidenum">
              <a:rPr lang="en-GB" smtClean="0"/>
              <a:t>7</a:t>
            </a:fld>
            <a:endParaRPr lang="en-GB"/>
          </a:p>
        </p:txBody>
      </p:sp>
    </p:spTree>
    <p:extLst>
      <p:ext uri="{BB962C8B-B14F-4D97-AF65-F5344CB8AC3E}">
        <p14:creationId xmlns:p14="http://schemas.microsoft.com/office/powerpoint/2010/main" val="1961314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40097-17D6-9D33-BE6D-2FA5F0FA1E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0C3AF7-FA98-1864-AB55-9126202A3D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8A24A0-F6A6-95FF-A5FF-D0B79A46188C}"/>
              </a:ext>
            </a:extLst>
          </p:cNvPr>
          <p:cNvSpPr>
            <a:spLocks noGrp="1"/>
          </p:cNvSpPr>
          <p:nvPr>
            <p:ph type="body" idx="1"/>
          </p:nvPr>
        </p:nvSpPr>
        <p:spPr/>
        <p:txBody>
          <a:bodyPr/>
          <a:lstStyle/>
          <a:p>
            <a:r>
              <a:rPr lang="en-GB" dirty="0"/>
              <a:t>Intro:</a:t>
            </a:r>
          </a:p>
          <a:p>
            <a:pPr marL="171450" indent="-171450">
              <a:buFontTx/>
              <a:buChar char="-"/>
            </a:pPr>
            <a:r>
              <a:rPr lang="en-GB" dirty="0"/>
              <a:t>These next set of results are from the differential expression analysis.</a:t>
            </a:r>
          </a:p>
          <a:p>
            <a:pPr marL="171450" indent="-171450">
              <a:buFontTx/>
              <a:buChar char="-"/>
            </a:pPr>
            <a:r>
              <a:rPr lang="en-GB" dirty="0"/>
              <a:t>The chart shows the number of differentially expressed miRNAs detected in cells exposed to allergens compared to untreated cells.</a:t>
            </a:r>
          </a:p>
          <a:p>
            <a:pPr marL="171450" indent="-171450">
              <a:buFontTx/>
              <a:buChar char="-"/>
            </a:pPr>
            <a:r>
              <a:rPr lang="en-GB" dirty="0"/>
              <a:t>Where the number of DE miRNAs are shown on the y-axis and exposure condition is on the x-axis.</a:t>
            </a:r>
          </a:p>
          <a:p>
            <a:pPr marL="171450" indent="-171450">
              <a:buFontTx/>
              <a:buChar char="-"/>
            </a:pPr>
            <a:r>
              <a:rPr lang="en-GB" dirty="0"/>
              <a:t>miRNAs were considered significantly differentially expressed if they had a false-discovery rate of &lt; 0.05.</a:t>
            </a:r>
          </a:p>
          <a:p>
            <a:endParaRPr lang="en-GB" dirty="0"/>
          </a:p>
          <a:p>
            <a:r>
              <a:rPr lang="en-GB" dirty="0"/>
              <a:t>Primary HBECs:</a:t>
            </a:r>
          </a:p>
          <a:p>
            <a:pPr marL="171450" indent="-171450">
              <a:buFontTx/>
              <a:buChar char="-"/>
            </a:pPr>
            <a:r>
              <a:rPr lang="en-GB" dirty="0"/>
              <a:t>Minimal differential expression was detected in primary HBECs at lower protease doses meaning that the allergen had not caused much significant change in the miRNA content of EVs.</a:t>
            </a:r>
          </a:p>
          <a:p>
            <a:pPr marL="171450" indent="-171450">
              <a:buFontTx/>
              <a:buChar char="-"/>
            </a:pPr>
            <a:r>
              <a:rPr lang="en-GB" dirty="0"/>
              <a:t>However, at dose 24, there were 27 DE miRNAs at an almost even split of upregulated and downregulated.</a:t>
            </a:r>
          </a:p>
          <a:p>
            <a:pPr marL="171450" indent="-171450">
              <a:buFontTx/>
              <a:buChar char="-"/>
            </a:pPr>
            <a:endParaRPr lang="en-GB" dirty="0"/>
          </a:p>
          <a:p>
            <a:r>
              <a:rPr lang="en-GB" dirty="0"/>
              <a:t>Calu-3:</a:t>
            </a:r>
          </a:p>
          <a:p>
            <a:pPr marL="171450" indent="-171450">
              <a:buFontTx/>
              <a:buChar char="-"/>
            </a:pPr>
            <a:r>
              <a:rPr lang="en-GB" dirty="0"/>
              <a:t>In contrast, very little differential expression was observed across any condition in the Calu-3 dataset.</a:t>
            </a:r>
          </a:p>
          <a:p>
            <a:pPr marL="171450" indent="-171450">
              <a:buFontTx/>
              <a:buChar char="-"/>
            </a:pPr>
            <a:r>
              <a:rPr lang="en-GB" dirty="0"/>
              <a:t>Two DE miRNAs were detected following exposure to dog allergens, which was the Can f 1 group.</a:t>
            </a:r>
          </a:p>
          <a:p>
            <a:pPr marL="171450" indent="-171450">
              <a:buFontTx/>
              <a:buChar char="-"/>
            </a:pPr>
            <a:r>
              <a:rPr lang="en-GB" dirty="0"/>
              <a:t>In an attempt to observe more differential expression, an exploratory significance threshold of FDR &lt; 0.2 was applied.</a:t>
            </a:r>
          </a:p>
          <a:p>
            <a:pPr marL="171450" indent="-171450">
              <a:buFontTx/>
              <a:buChar char="-"/>
            </a:pPr>
            <a:r>
              <a:rPr lang="en-GB" dirty="0"/>
              <a:t>However, this only detected one more differentially expressed miRNA which was in the inactive house dust mite group.</a:t>
            </a:r>
          </a:p>
          <a:p>
            <a:pPr marL="171450" indent="-171450">
              <a:buFontTx/>
              <a:buChar char="-"/>
            </a:pPr>
            <a:r>
              <a:rPr lang="en-GB" dirty="0"/>
              <a:t>To observe next to no DE miRNAs at this higher FDR threshold suggests either there was biologically no change between treated and untreated or that the analysis was statistically restricted due to the available data.</a:t>
            </a:r>
          </a:p>
          <a:p>
            <a:pPr marL="171450" indent="-171450">
              <a:buFontTx/>
              <a:buChar char="-"/>
            </a:pPr>
            <a:endParaRPr lang="en-GB" dirty="0"/>
          </a:p>
          <a:p>
            <a:r>
              <a:rPr lang="en-GB" dirty="0"/>
              <a:t>- Summary</a:t>
            </a:r>
          </a:p>
          <a:p>
            <a:endParaRPr lang="en-GB" dirty="0"/>
          </a:p>
          <a:p>
            <a:r>
              <a:rPr lang="en-GB" dirty="0"/>
              <a:t>[essentially 50% split of upregulated and downregulated </a:t>
            </a:r>
            <a:r>
              <a:rPr lang="en-GB" dirty="0" err="1"/>
              <a:t>mirnas</a:t>
            </a:r>
            <a:r>
              <a:rPr lang="en-GB" dirty="0"/>
              <a:t> in dose 24]</a:t>
            </a:r>
          </a:p>
          <a:p>
            <a:r>
              <a:rPr lang="en-GB" dirty="0"/>
              <a:t>[even at exploratory FDR threshold, barely any more </a:t>
            </a:r>
            <a:r>
              <a:rPr lang="en-GB" dirty="0" err="1"/>
              <a:t>mirnas</a:t>
            </a:r>
            <a:r>
              <a:rPr lang="en-GB" dirty="0"/>
              <a:t> were identified as differentially expressed]</a:t>
            </a:r>
          </a:p>
        </p:txBody>
      </p:sp>
      <p:sp>
        <p:nvSpPr>
          <p:cNvPr id="4" name="Slide Number Placeholder 3">
            <a:extLst>
              <a:ext uri="{FF2B5EF4-FFF2-40B4-BE49-F238E27FC236}">
                <a16:creationId xmlns:a16="http://schemas.microsoft.com/office/drawing/2014/main" id="{1ABC5D5D-0A49-A3DE-141B-65234D24B032}"/>
              </a:ext>
            </a:extLst>
          </p:cNvPr>
          <p:cNvSpPr>
            <a:spLocks noGrp="1"/>
          </p:cNvSpPr>
          <p:nvPr>
            <p:ph type="sldNum" sz="quarter" idx="5"/>
          </p:nvPr>
        </p:nvSpPr>
        <p:spPr/>
        <p:txBody>
          <a:bodyPr/>
          <a:lstStyle/>
          <a:p>
            <a:fld id="{241E7E17-40CA-274F-8297-5DBF26091FCD}" type="slidenum">
              <a:rPr lang="en-GB" smtClean="0"/>
              <a:t>8</a:t>
            </a:fld>
            <a:endParaRPr lang="en-GB"/>
          </a:p>
        </p:txBody>
      </p:sp>
    </p:spTree>
    <p:extLst>
      <p:ext uri="{BB962C8B-B14F-4D97-AF65-F5344CB8AC3E}">
        <p14:creationId xmlns:p14="http://schemas.microsoft.com/office/powerpoint/2010/main" val="1509838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5EE28-81FC-E9AE-3DA5-BEFF2CA288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E1913-DE8D-FC8C-96FF-EAAEDF0B10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12159D-597D-5DD3-6E34-EEB12C7586B2}"/>
              </a:ext>
            </a:extLst>
          </p:cNvPr>
          <p:cNvSpPr>
            <a:spLocks noGrp="1"/>
          </p:cNvSpPr>
          <p:nvPr>
            <p:ph type="body" idx="1"/>
          </p:nvPr>
        </p:nvSpPr>
        <p:spPr/>
        <p:txBody>
          <a:bodyPr/>
          <a:lstStyle/>
          <a:p>
            <a:r>
              <a:rPr lang="en-GB" dirty="0"/>
              <a:t>Intro: </a:t>
            </a:r>
          </a:p>
          <a:p>
            <a:pPr marL="171450" indent="-171450">
              <a:buFontTx/>
              <a:buChar char="-"/>
            </a:pPr>
            <a:r>
              <a:rPr lang="en-GB" dirty="0"/>
              <a:t>The next stage of the study was to use the primary HBEC dataset to develop the optimal method for pathway enrichment analysis.</a:t>
            </a:r>
          </a:p>
          <a:p>
            <a:pPr marL="171450" indent="-171450">
              <a:buFontTx/>
              <a:buChar char="-"/>
            </a:pPr>
            <a:endParaRPr lang="en-GB" dirty="0"/>
          </a:p>
          <a:p>
            <a:r>
              <a:rPr lang="en-GB" dirty="0"/>
              <a:t>Introduction (target gene):</a:t>
            </a:r>
          </a:p>
          <a:p>
            <a:pPr marL="171450" indent="-171450">
              <a:buFontTx/>
              <a:buChar char="-"/>
            </a:pPr>
            <a:r>
              <a:rPr lang="en-GB" dirty="0"/>
              <a:t>The first method tested was target gene-level enrichment which used over-representation analysis.</a:t>
            </a:r>
          </a:p>
          <a:p>
            <a:pPr marL="171450" indent="-171450">
              <a:buFontTx/>
              <a:buChar char="-"/>
            </a:pPr>
            <a:r>
              <a:rPr lang="en-GB" dirty="0"/>
              <a:t>This first established experimentally validated gene targets for each significantly differentially expressed miRNA. The list of genes was then passed through the </a:t>
            </a:r>
            <a:r>
              <a:rPr lang="en-GB" dirty="0" err="1"/>
              <a:t>Reactome</a:t>
            </a:r>
            <a:r>
              <a:rPr lang="en-GB" dirty="0"/>
              <a:t> database to identify pathways that contained those genes.</a:t>
            </a:r>
          </a:p>
          <a:p>
            <a:pPr marL="171450" indent="-171450">
              <a:buFontTx/>
              <a:buChar char="-"/>
            </a:pPr>
            <a:r>
              <a:rPr lang="en-GB" dirty="0"/>
              <a:t>Pathways were considered enriched if a greater number of genes were found to be involved in that pathway compared to a random gene set of the same size.</a:t>
            </a:r>
          </a:p>
          <a:p>
            <a:pPr marL="171450" indent="-171450">
              <a:buFontTx/>
              <a:buChar char="-"/>
            </a:pPr>
            <a:r>
              <a:rPr lang="en-GB" dirty="0"/>
              <a:t>Target gene pathways were considered significant at adjusted P value &lt; 0.02.</a:t>
            </a:r>
          </a:p>
          <a:p>
            <a:pPr marL="171450" indent="-171450">
              <a:buFontTx/>
              <a:buChar char="-"/>
            </a:pPr>
            <a:endParaRPr lang="en-GB" dirty="0"/>
          </a:p>
          <a:p>
            <a:pPr marL="0" indent="0">
              <a:buFontTx/>
              <a:buNone/>
            </a:pPr>
            <a:r>
              <a:rPr lang="en-GB" dirty="0"/>
              <a:t>Target gene-level Results:</a:t>
            </a:r>
          </a:p>
          <a:p>
            <a:pPr marL="171450" indent="-171450">
              <a:buFontTx/>
              <a:buChar char="-"/>
            </a:pPr>
            <a:r>
              <a:rPr lang="en-GB" dirty="0"/>
              <a:t>Greater number of pathways detected for the downregulated miRNAs compared to upregulated.</a:t>
            </a:r>
          </a:p>
          <a:p>
            <a:pPr marL="171450" indent="-171450">
              <a:buFontTx/>
              <a:buChar char="-"/>
            </a:pPr>
            <a:r>
              <a:rPr lang="en-GB" dirty="0"/>
              <a:t>Although broadly similar immune and inflammatory pathways existed in both the up- and downregulated sets, with interleukin signalling and toll-like receptor signalling.</a:t>
            </a:r>
          </a:p>
          <a:p>
            <a:pPr marL="171450" indent="-171450">
              <a:buFontTx/>
              <a:buChar char="-"/>
            </a:pPr>
            <a:r>
              <a:rPr lang="en-GB" dirty="0"/>
              <a:t>Epithelial barrier regulation pathways was common between the up- and downregulated set although the specific pathways were different, with upregulated miRNAs associated with WNT and NOTCH pathways and the downregulated with RHO GTPase activity.</a:t>
            </a:r>
          </a:p>
          <a:p>
            <a:pPr marL="171450" indent="-171450">
              <a:buFontTx/>
              <a:buChar char="-"/>
            </a:pPr>
            <a:endParaRPr lang="en-GB" dirty="0"/>
          </a:p>
          <a:p>
            <a:r>
              <a:rPr lang="en-GB" dirty="0"/>
              <a:t>Introduction (miRNA-level):</a:t>
            </a:r>
          </a:p>
          <a:p>
            <a:pPr marL="171450" indent="-171450">
              <a:buFontTx/>
              <a:buChar char="-"/>
            </a:pPr>
            <a:r>
              <a:rPr lang="en-GB" dirty="0"/>
              <a:t>Target gene pathways were considered significant at adjusted P value &lt; 0.05.</a:t>
            </a:r>
          </a:p>
          <a:p>
            <a:pPr marL="171450" indent="-171450">
              <a:buFontTx/>
              <a:buChar char="-"/>
            </a:pPr>
            <a:r>
              <a:rPr lang="en-GB" dirty="0"/>
              <a:t>Two techniques were tested at this level.</a:t>
            </a:r>
          </a:p>
          <a:p>
            <a:pPr marL="171450" indent="-171450">
              <a:buFontTx/>
              <a:buChar char="-"/>
            </a:pPr>
            <a:r>
              <a:rPr lang="en-GB" dirty="0"/>
              <a:t>The first was over-representation analysis which works in the same fashion as for target-gene level enrichment.</a:t>
            </a:r>
          </a:p>
          <a:p>
            <a:pPr marL="171450" indent="-171450">
              <a:buFontTx/>
              <a:buChar char="-"/>
            </a:pPr>
            <a:r>
              <a:rPr lang="en-GB" dirty="0"/>
              <a:t>The second was miRNA-set expression analysis. Instead of using only the differentially expressed miRNAs, it uses all the miRNAs detected in the experiment and I ranked them according to expression level.</a:t>
            </a:r>
          </a:p>
          <a:p>
            <a:pPr marL="171450" indent="-171450">
              <a:buFontTx/>
              <a:buChar char="-"/>
            </a:pPr>
            <a:r>
              <a:rPr lang="en-GB" dirty="0"/>
              <a:t>This technique is good to detect smaller changes from miRNAs that don’t meet the significance threshold but exert a cooperative effect.</a:t>
            </a:r>
          </a:p>
          <a:p>
            <a:pPr marL="171450" indent="-171450">
              <a:buFontTx/>
              <a:buChar char="-"/>
            </a:pPr>
            <a:endParaRPr lang="en-GB" dirty="0"/>
          </a:p>
          <a:p>
            <a:pPr marL="0" indent="0">
              <a:buFontTx/>
              <a:buNone/>
            </a:pPr>
            <a:r>
              <a:rPr lang="en-GB" dirty="0"/>
              <a:t>miRNA-level Results:</a:t>
            </a:r>
          </a:p>
          <a:p>
            <a:pPr marL="171450" indent="-171450">
              <a:buFontTx/>
              <a:buChar char="-"/>
            </a:pPr>
            <a:r>
              <a:rPr lang="en-GB" dirty="0"/>
              <a:t>Only two significant pathways were detected at the miRNA level across both over-representation analysis and miRNA-set enrichment analysis.</a:t>
            </a:r>
          </a:p>
          <a:p>
            <a:pPr marL="171450" indent="-171450">
              <a:buFontTx/>
              <a:buChar char="-"/>
            </a:pPr>
            <a:r>
              <a:rPr lang="en-GB" dirty="0"/>
              <a:t>The two significant pathways were detected in the upregulated gene set but did not particularly correspond to airway inflammation.</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Summary</a:t>
            </a:r>
          </a:p>
          <a:p>
            <a:endParaRPr lang="en-GB" dirty="0"/>
          </a:p>
          <a:p>
            <a:endParaRPr lang="en-GB" dirty="0"/>
          </a:p>
          <a:p>
            <a:r>
              <a:rPr lang="en-GB" dirty="0"/>
              <a:t>[emphasise this was performed on primary HBEC samples exposed to dose 24 protease]</a:t>
            </a:r>
          </a:p>
          <a:p>
            <a:r>
              <a:rPr lang="en-GB" dirty="0"/>
              <a:t>[discuss the number of sig pathways from target-gene level versus miRNA-level]</a:t>
            </a:r>
          </a:p>
          <a:p>
            <a:r>
              <a:rPr lang="en-GB" dirty="0"/>
              <a:t>[0 significant pathways in downregulated miRNA ORA and both up- and down-regulated miRNA-SEA</a:t>
            </a:r>
          </a:p>
        </p:txBody>
      </p:sp>
      <p:sp>
        <p:nvSpPr>
          <p:cNvPr id="4" name="Slide Number Placeholder 3">
            <a:extLst>
              <a:ext uri="{FF2B5EF4-FFF2-40B4-BE49-F238E27FC236}">
                <a16:creationId xmlns:a16="http://schemas.microsoft.com/office/drawing/2014/main" id="{F947C8A9-4C3B-9B28-231A-D95545982636}"/>
              </a:ext>
            </a:extLst>
          </p:cNvPr>
          <p:cNvSpPr>
            <a:spLocks noGrp="1"/>
          </p:cNvSpPr>
          <p:nvPr>
            <p:ph type="sldNum" sz="quarter" idx="5"/>
          </p:nvPr>
        </p:nvSpPr>
        <p:spPr/>
        <p:txBody>
          <a:bodyPr/>
          <a:lstStyle/>
          <a:p>
            <a:fld id="{241E7E17-40CA-274F-8297-5DBF26091FCD}" type="slidenum">
              <a:rPr lang="en-GB" smtClean="0"/>
              <a:t>9</a:t>
            </a:fld>
            <a:endParaRPr lang="en-GB"/>
          </a:p>
        </p:txBody>
      </p:sp>
    </p:spTree>
    <p:extLst>
      <p:ext uri="{BB962C8B-B14F-4D97-AF65-F5344CB8AC3E}">
        <p14:creationId xmlns:p14="http://schemas.microsoft.com/office/powerpoint/2010/main" val="729506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a:t>
            </a:r>
          </a:p>
          <a:p>
            <a:pPr marL="171450" indent="-171450">
              <a:buFontTx/>
              <a:buChar char="-"/>
            </a:pPr>
            <a:r>
              <a:rPr lang="en-GB" dirty="0"/>
              <a:t>Now for the final stage of the study which was to perform pathway analysis on the Calu-3 dataset.</a:t>
            </a:r>
          </a:p>
          <a:p>
            <a:pPr marL="171450" indent="-171450">
              <a:buFontTx/>
              <a:buChar char="-"/>
            </a:pPr>
            <a:r>
              <a:rPr lang="en-GB" dirty="0"/>
              <a:t>However, as only two significant miRNAs were detected, the pathway enrichment methods previously tested would not have been appropriate as these methods require larger amounts of differential expression to be statistically robust.</a:t>
            </a:r>
          </a:p>
          <a:p>
            <a:pPr marL="171450" indent="-171450">
              <a:buFontTx/>
              <a:buChar char="-"/>
            </a:pPr>
            <a:r>
              <a:rPr lang="en-GB" dirty="0"/>
              <a:t>Instead, a literature search was conducted using the National Centre for Biotechnology Information database using the miRNA symbol as well as the key terms shown around these pie charts.</a:t>
            </a:r>
          </a:p>
          <a:p>
            <a:pPr marL="171450" indent="-171450">
              <a:buFontTx/>
              <a:buChar char="-"/>
            </a:pPr>
            <a:r>
              <a:rPr lang="en-GB" dirty="0"/>
              <a:t>On the charts, the number of publications associated with each keyword are shown in brackets next to the term.</a:t>
            </a:r>
          </a:p>
          <a:p>
            <a:endParaRPr lang="en-GB" dirty="0"/>
          </a:p>
          <a:p>
            <a:pPr marL="0" indent="0">
              <a:buFontTx/>
              <a:buNone/>
            </a:pPr>
            <a:r>
              <a:rPr lang="en-GB" dirty="0"/>
              <a:t>Results:</a:t>
            </a:r>
          </a:p>
          <a:p>
            <a:pPr marL="171450" indent="-171450">
              <a:buFontTx/>
              <a:buChar char="-"/>
            </a:pPr>
            <a:r>
              <a:rPr lang="en-GB" dirty="0"/>
              <a:t>Almost 5x more publications were detected for 125b compared to 574.</a:t>
            </a:r>
          </a:p>
          <a:p>
            <a:pPr marL="171450" indent="-171450">
              <a:buFontTx/>
              <a:buChar char="-"/>
            </a:pPr>
            <a:r>
              <a:rPr lang="en-GB" dirty="0"/>
              <a:t>Both miRNAs had a large proportion of publications associated with immune and inflammatory processes.</a:t>
            </a:r>
          </a:p>
          <a:p>
            <a:pPr marL="171450" indent="-171450">
              <a:buFontTx/>
              <a:buChar char="-"/>
            </a:pPr>
            <a:r>
              <a:rPr lang="en-GB" dirty="0"/>
              <a:t>There was also lots of research that had identified both miRNAs with extracellular vesicles suggesting a potential role in cell-to-cell signalling.</a:t>
            </a:r>
          </a:p>
          <a:p>
            <a:pPr marL="171450" indent="-171450">
              <a:buFontTx/>
              <a:buChar char="-"/>
            </a:pPr>
            <a:r>
              <a:rPr lang="en-GB" dirty="0"/>
              <a:t>Moreover, a moderate number of publications were associated with the ‘epithelial’ key term suggesting these miRNAs may be involved with epithelial cells, either being derived from or as the recipient of signalling.</a:t>
            </a:r>
          </a:p>
          <a:p>
            <a:pPr marL="171450" indent="-171450">
              <a:buFontTx/>
              <a:buChar char="-"/>
            </a:pPr>
            <a:r>
              <a:rPr lang="en-GB" dirty="0"/>
              <a:t>However, little evidence was found linking these miRNAs to airway biology or in allergic conditions.</a:t>
            </a:r>
          </a:p>
          <a:p>
            <a:pPr marL="171450" indent="-171450">
              <a:buFontTx/>
              <a:buChar char="-"/>
            </a:pPr>
            <a:endParaRPr lang="en-GB" dirty="0"/>
          </a:p>
          <a:p>
            <a:pPr marL="0" indent="0">
              <a:buFontTx/>
              <a:buNone/>
            </a:pPr>
            <a:r>
              <a:rPr lang="en-GB" dirty="0"/>
              <a:t>miR-125b-5p:</a:t>
            </a:r>
          </a:p>
          <a:p>
            <a:pPr marL="171450" indent="-171450">
              <a:buFontTx/>
              <a:buChar char="-"/>
            </a:pPr>
            <a:r>
              <a:rPr lang="en-GB" dirty="0"/>
              <a:t>Interestingly, 125b was also found to be differentially expressed in primary HBECs exposed to the highest concentration of protease which was 24ug.</a:t>
            </a:r>
          </a:p>
          <a:p>
            <a:pPr marL="171450" indent="-171450">
              <a:buFontTx/>
              <a:buChar char="-"/>
            </a:pPr>
            <a:r>
              <a:rPr lang="en-GB" dirty="0"/>
              <a:t>Because the primary HBEC and Calu-3 experiments were performed in broadly independent studies, this may suggest that 125b is influenced by multiple allergens and may represent a common allergen response miRNA, however further research is required to validate this result.</a:t>
            </a:r>
          </a:p>
          <a:p>
            <a:pPr marL="171450" indent="-171450">
              <a:buFontTx/>
              <a:buChar char="-"/>
            </a:pPr>
            <a:endParaRPr lang="en-GB" dirty="0"/>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Summary</a:t>
            </a:r>
          </a:p>
          <a:p>
            <a:endParaRPr lang="en-GB" dirty="0"/>
          </a:p>
          <a:p>
            <a:r>
              <a:rPr lang="en-GB" dirty="0"/>
              <a:t>[segway from last slide is because there were too few de miRNAs, had to use a literature search instead]</a:t>
            </a:r>
          </a:p>
          <a:p>
            <a:r>
              <a:rPr lang="en-GB" dirty="0"/>
              <a:t>[then introduce the categories as categories relevant to airway inflammation, signalling and the airway epithelial barrier]</a:t>
            </a:r>
          </a:p>
          <a:p>
            <a:r>
              <a:rPr lang="en-GB" dirty="0"/>
              <a:t>[references to specific papers might be good e.g., respiratory diseases]</a:t>
            </a:r>
          </a:p>
          <a:p>
            <a:r>
              <a:rPr lang="en-GB" dirty="0"/>
              <a:t>[miR-125b-5p also appeared in the dose 24 protease samples]</a:t>
            </a:r>
          </a:p>
        </p:txBody>
      </p:sp>
      <p:sp>
        <p:nvSpPr>
          <p:cNvPr id="4" name="Slide Number Placeholder 3"/>
          <p:cNvSpPr>
            <a:spLocks noGrp="1"/>
          </p:cNvSpPr>
          <p:nvPr>
            <p:ph type="sldNum" sz="quarter" idx="5"/>
          </p:nvPr>
        </p:nvSpPr>
        <p:spPr/>
        <p:txBody>
          <a:bodyPr/>
          <a:lstStyle/>
          <a:p>
            <a:fld id="{241E7E17-40CA-274F-8297-5DBF26091FCD}" type="slidenum">
              <a:rPr lang="en-GB" smtClean="0"/>
              <a:t>10</a:t>
            </a:fld>
            <a:endParaRPr lang="en-GB"/>
          </a:p>
        </p:txBody>
      </p:sp>
    </p:spTree>
    <p:extLst>
      <p:ext uri="{BB962C8B-B14F-4D97-AF65-F5344CB8AC3E}">
        <p14:creationId xmlns:p14="http://schemas.microsoft.com/office/powerpoint/2010/main" val="2693658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F192C-A176-9DB4-6073-3708085CF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2F97D1-83E4-6ADE-AAB5-1D16CF62A5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9C8E0F-4211-381A-5BAD-9B74D605F6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Intro:</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Now I’m going to interpret the main findings of this study in the context of the study aims.</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Aim 1:</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 first aim of the study was to create a transcriptomic workflow using the primary HBEC dataset.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For this, target gene-level enrichment was found to be the optimum method as it identified biologically plausible pathways associated with allergen responses in airway epithelial cells and in maintaining the airway epithelial barrier.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However, the analysis returned almost half of the entire </a:t>
            </a:r>
            <a:r>
              <a:rPr lang="en-GB" sz="1200" kern="1200" dirty="0" err="1">
                <a:solidFill>
                  <a:schemeClr val="tx1"/>
                </a:solidFill>
                <a:effectLst/>
                <a:latin typeface="+mn-lt"/>
                <a:ea typeface="+mn-ea"/>
                <a:cs typeface="+mn-cs"/>
              </a:rPr>
              <a:t>Reactome</a:t>
            </a:r>
            <a:r>
              <a:rPr lang="en-GB" sz="1200" kern="1200" dirty="0">
                <a:solidFill>
                  <a:schemeClr val="tx1"/>
                </a:solidFill>
                <a:effectLst/>
                <a:latin typeface="+mn-lt"/>
                <a:ea typeface="+mn-ea"/>
                <a:cs typeface="+mn-cs"/>
              </a:rPr>
              <a:t> pathway database as significantly enriched therefore it is possible these pathways appeared by chance rather than by biology.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Aim 2:</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 second aim way to apply the workflow to the Calu-3 dataset.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However, this was not possible due to the low amount of differential expression which was likely caused by the extremely low quantity of miRNA within the samples.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Despite this, miRNA 125b was identified as a potential candidate for further research although because the differential expression was underpowered, it is likely this miRNA may have appeared due to chance.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Aim 3:</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 final finding was not associated with an aim and this was that the levels of ribosomal and transfer RNA were greater in dose 24 primary HBEC samples.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However, this should be tested on more samples and with other RNA types to confirm the result.</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Aim 2:</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Differential expression analysis of the Calu-3 dataset was not possible and nor was pathway enrichment analysis meaning a literature search was required instead.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 quality control aspect of the workflow was able to identify the cause of the underpowered nature of this dataset, which was the low levels of miRNA detected in all Calu-3 samples.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Therefore, all results were interpreted extremely cautiously and were considered exploratory.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I was then able to review the experimental design of the Calu-3 experiment to identify areas to improve further analysis – and these will be discussed later.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However, the results that were obtained showed that miRNA 125 was more comprehensively researched and was the most promising candidate miRNA for further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Additional aim:</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One unintended finding of this analysis was that other RNA species appeared to be distinctly altered in primary HBECs when they were exposed to the highest dose of protease.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Although the scope of this study was miRNAs, this may indicate that there are broader RNA effects occurring and may need to be considered to determine how all these changes interact.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Because this composition analysis was constrained to just the 3 types of RNA, it’s not possible to say whether any other forms of RNA are affected but this could be investigated in the future by incorporating databases with RNA sequences for additional RNA types.</a:t>
            </a: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[Limited miRNA abundance constrained analysis  = pathway enrichment analysis was precluded due to the low miRNA abundance which was likely due to experimental design where EV preparations were split to accommodate multiple forms of analyses </a:t>
            </a:r>
            <a:r>
              <a:rPr lang="en-GB" sz="1200" kern="1200" dirty="0">
                <a:solidFill>
                  <a:schemeClr val="tx1"/>
                </a:solidFill>
                <a:effectLst/>
                <a:latin typeface="+mn-lt"/>
                <a:ea typeface="+mn-ea"/>
                <a:cs typeface="+mn-cs"/>
                <a:sym typeface="Wingdings" pitchFamily="2" charset="2"/>
              </a:rPr>
              <a:t> interpret cautiously</a:t>
            </a:r>
            <a:r>
              <a:rPr lang="en-GB" sz="1200" kern="1200" dirty="0">
                <a:solidFill>
                  <a:schemeClr val="tx1"/>
                </a:solidFill>
                <a:effectLst/>
                <a:latin typeface="+mn-lt"/>
                <a:ea typeface="+mn-ea"/>
                <a:cs typeface="+mn-cs"/>
              </a:rPr>
              <a:t>]</a:t>
            </a:r>
          </a:p>
          <a:p>
            <a:endParaRPr lang="en-GB" dirty="0"/>
          </a:p>
        </p:txBody>
      </p:sp>
      <p:sp>
        <p:nvSpPr>
          <p:cNvPr id="4" name="Slide Number Placeholder 3">
            <a:extLst>
              <a:ext uri="{FF2B5EF4-FFF2-40B4-BE49-F238E27FC236}">
                <a16:creationId xmlns:a16="http://schemas.microsoft.com/office/drawing/2014/main" id="{399F4E4B-2A09-085E-8DA1-BF11A1813D1B}"/>
              </a:ext>
            </a:extLst>
          </p:cNvPr>
          <p:cNvSpPr>
            <a:spLocks noGrp="1"/>
          </p:cNvSpPr>
          <p:nvPr>
            <p:ph type="sldNum" sz="quarter" idx="5"/>
          </p:nvPr>
        </p:nvSpPr>
        <p:spPr/>
        <p:txBody>
          <a:bodyPr/>
          <a:lstStyle/>
          <a:p>
            <a:fld id="{241E7E17-40CA-274F-8297-5DBF26091FCD}" type="slidenum">
              <a:rPr lang="en-GB" smtClean="0"/>
              <a:t>11</a:t>
            </a:fld>
            <a:endParaRPr lang="en-GB"/>
          </a:p>
        </p:txBody>
      </p:sp>
    </p:spTree>
    <p:extLst>
      <p:ext uri="{BB962C8B-B14F-4D97-AF65-F5344CB8AC3E}">
        <p14:creationId xmlns:p14="http://schemas.microsoft.com/office/powerpoint/2010/main" val="3680092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a:t>
            </a:r>
          </a:p>
          <a:p>
            <a:r>
              <a:rPr lang="en-GB" dirty="0"/>
              <a:t>- Several limitations constrained this analysis and should be considered when interpreting the results and if the workflow were to be developed further.</a:t>
            </a:r>
          </a:p>
          <a:p>
            <a:endParaRPr lang="en-GB" dirty="0"/>
          </a:p>
          <a:p>
            <a:r>
              <a:rPr lang="en-GB" dirty="0"/>
              <a:t>Limitation 1:</a:t>
            </a:r>
          </a:p>
          <a:p>
            <a:pPr marL="171450" indent="-171450">
              <a:buFontTx/>
              <a:buChar char="-"/>
            </a:pPr>
            <a:r>
              <a:rPr lang="en-GB" dirty="0"/>
              <a:t>The workflow could not be applied to the Calu-3 dataset, likely due to insufficient miRNA abundance.</a:t>
            </a:r>
          </a:p>
          <a:p>
            <a:pPr marL="171450" indent="-171450">
              <a:buFontTx/>
              <a:buChar char="-"/>
            </a:pPr>
            <a:r>
              <a:rPr lang="en-GB" dirty="0"/>
              <a:t>Upon inspection of the study that generated this dataset, I found that the experimental preparation had split the number of extracellular vesicles across multiple types of analysis and this likely caused an excessive dilution of the samples leaving too little for transcriptomics.</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Limitation 2:</a:t>
            </a:r>
          </a:p>
          <a:p>
            <a:pPr marL="171450" indent="-171450">
              <a:buFontTx/>
              <a:buChar char="-"/>
            </a:pPr>
            <a:r>
              <a:rPr lang="en-GB" dirty="0"/>
              <a:t>The next limitation was that because only three replicates were used per condition, potential outlier samples that were detected were not removed as this would have left too few samples for differential expression analysis. </a:t>
            </a:r>
          </a:p>
          <a:p>
            <a:pPr marL="171450" indent="-171450">
              <a:buFontTx/>
              <a:buChar char="-"/>
            </a:pPr>
            <a:endParaRPr lang="en-GB" dirty="0"/>
          </a:p>
          <a:p>
            <a:r>
              <a:rPr lang="en-GB" dirty="0"/>
              <a:t>Limitation 3:</a:t>
            </a:r>
          </a:p>
          <a:p>
            <a:pPr marL="171450" indent="-171450">
              <a:buFontTx/>
              <a:buChar char="-"/>
            </a:pPr>
            <a:r>
              <a:rPr lang="en-GB" dirty="0"/>
              <a:t>The next limitation was the major problem with target gene-level enrichment.</a:t>
            </a:r>
          </a:p>
          <a:p>
            <a:pPr marL="171450" indent="-171450">
              <a:buFontTx/>
              <a:buChar char="-"/>
            </a:pPr>
            <a:r>
              <a:rPr lang="en-GB" dirty="0"/>
              <a:t>Because no context-specific filtering was performed, all target genes of each miRNA were included in the analysis, including ones that would not have been relevant to the biological model.</a:t>
            </a:r>
          </a:p>
          <a:p>
            <a:pPr marL="171450" indent="-171450">
              <a:buFontTx/>
              <a:buChar char="-"/>
            </a:pPr>
            <a:r>
              <a:rPr lang="en-GB" dirty="0"/>
              <a:t>This therefore increases noise and false positives in the results.</a:t>
            </a:r>
          </a:p>
          <a:p>
            <a:endParaRPr lang="en-GB" dirty="0"/>
          </a:p>
          <a:p>
            <a:r>
              <a:rPr lang="en-GB" dirty="0"/>
              <a:t>Limitation 4:</a:t>
            </a:r>
          </a:p>
          <a:p>
            <a:pPr marL="171450" indent="-171450">
              <a:buFontTx/>
              <a:buChar char="-"/>
            </a:pPr>
            <a:r>
              <a:rPr lang="en-GB" dirty="0"/>
              <a:t>One alternative to context-specific filtering would have been using a network-based enrichment approach to identify target genes that are highly connected within the miRNA set and are therefore likely to play a more important role.</a:t>
            </a:r>
          </a:p>
          <a:p>
            <a:pPr marL="171450" indent="-171450">
              <a:buFontTx/>
              <a:buChar char="-"/>
            </a:pPr>
            <a:r>
              <a:rPr lang="en-GB" dirty="0"/>
              <a:t>This could help reduce the noise within the target gene set and therefore increase the specificity of target gene-level pathway enrichment.</a:t>
            </a:r>
          </a:p>
          <a:p>
            <a:pPr marL="171450" indent="-171450">
              <a:buFontTx/>
              <a:buChar char="-"/>
            </a:pPr>
            <a:r>
              <a:rPr lang="en-GB" dirty="0"/>
              <a:t>However, this approach was not integrated into the workflow due to time constraints.</a:t>
            </a:r>
          </a:p>
          <a:p>
            <a:endParaRPr lang="en-GB" dirty="0"/>
          </a:p>
          <a:p>
            <a:r>
              <a:rPr lang="en-GB" dirty="0"/>
              <a:t>Archive:</a:t>
            </a:r>
          </a:p>
          <a:p>
            <a:r>
              <a:rPr lang="en-GB" dirty="0"/>
              <a:t>Limitation 2:</a:t>
            </a:r>
          </a:p>
          <a:p>
            <a:pPr marL="171450" indent="-171450">
              <a:buFontTx/>
              <a:buChar char="-"/>
            </a:pPr>
            <a:r>
              <a:rPr lang="en-GB" dirty="0"/>
              <a:t>The workflow identified replicates within conditions that were distant according to PCA as well as inconsistent miRNA expression between control samples.</a:t>
            </a:r>
          </a:p>
          <a:p>
            <a:pPr marL="171450" indent="-171450">
              <a:buFontTx/>
              <a:buChar char="-"/>
            </a:pPr>
            <a:r>
              <a:rPr lang="en-GB" dirty="0"/>
              <a:t>However, as only 3 biological replicates were performed per experimental condition, potential outlier samples were not excluded from the analysis as reducing the number of replicates would have limited the statistical power of differential expression analysis.</a:t>
            </a:r>
          </a:p>
          <a:p>
            <a:pPr marL="171450" indent="-171450">
              <a:buFontTx/>
              <a:buChar char="-"/>
            </a:pPr>
            <a:endParaRPr lang="en-GB"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Limitation 3:</a:t>
            </a:r>
          </a:p>
          <a:p>
            <a:pPr marL="171450" indent="-171450">
              <a:buFontTx/>
              <a:buChar char="-"/>
            </a:pPr>
            <a:r>
              <a:rPr lang="en-GB" dirty="0"/>
              <a:t>One of the major problems encountered with pathway enrichment analysis at the target gene level was that it lacked specificity.</a:t>
            </a:r>
          </a:p>
          <a:p>
            <a:pPr marL="171450" indent="-171450">
              <a:buFontTx/>
              <a:buChar char="-"/>
            </a:pPr>
            <a:r>
              <a:rPr lang="en-GB" dirty="0"/>
              <a:t>As miRNAs have such a broad range of gene targets you can end up with a gene list that constitute the majority of the proteome.</a:t>
            </a:r>
          </a:p>
          <a:p>
            <a:pPr marL="171450" indent="-171450">
              <a:buFontTx/>
              <a:buChar char="-"/>
            </a:pPr>
            <a:r>
              <a:rPr lang="en-GB" dirty="0"/>
              <a:t>Commercial platforms provide extensive filtering options to reduce the target gene list according to cell type or disease states.</a:t>
            </a:r>
          </a:p>
          <a:p>
            <a:pPr marL="171450" indent="-171450">
              <a:buFontTx/>
              <a:buChar char="-"/>
            </a:pPr>
            <a:r>
              <a:rPr lang="en-GB" dirty="0"/>
              <a:t>However, it was difficult to isolate and acquire the correct context gene set for this experiment and therefore this was omitted.</a:t>
            </a:r>
          </a:p>
          <a:p>
            <a:pPr marL="171450" indent="-171450">
              <a:buFontTx/>
              <a:buChar char="-"/>
            </a:pPr>
            <a:r>
              <a:rPr lang="en-GB" dirty="0"/>
              <a:t>This meant that a proportion of the genes included in pathway enrichment analysis would not have been relevant to airway biology and therefore could not have been targeted by the miRNAs within this biological model. </a:t>
            </a:r>
          </a:p>
          <a:p>
            <a:pPr marL="171450" indent="-171450">
              <a:buFontTx/>
              <a:buChar char="-"/>
            </a:pPr>
            <a:r>
              <a:rPr lang="en-GB" dirty="0"/>
              <a:t>This will have resulted in a lot of noise and false positive pathways.</a:t>
            </a:r>
          </a:p>
          <a:p>
            <a:endParaRPr lang="en-GB" dirty="0"/>
          </a:p>
          <a:p>
            <a:r>
              <a:rPr lang="en-GB" dirty="0"/>
              <a:t>[low abundance reduces confidence in de results and therefore any downstream biological function </a:t>
            </a:r>
            <a:r>
              <a:rPr lang="en-GB" sz="1200" kern="1200" dirty="0">
                <a:solidFill>
                  <a:schemeClr val="tx1"/>
                </a:solidFill>
                <a:effectLst/>
                <a:latin typeface="+mn-lt"/>
                <a:ea typeface="+mn-ea"/>
                <a:cs typeface="+mn-cs"/>
              </a:rPr>
              <a:t>which was likely due to experimental design where EV preparations were split to accommodate multiple forms of analyses </a:t>
            </a:r>
            <a:r>
              <a:rPr lang="en-GB" dirty="0"/>
              <a:t>– repeat analysis using appropriate experimental design is required to validate these results]</a:t>
            </a:r>
          </a:p>
        </p:txBody>
      </p:sp>
      <p:sp>
        <p:nvSpPr>
          <p:cNvPr id="4" name="Slide Number Placeholder 3"/>
          <p:cNvSpPr>
            <a:spLocks noGrp="1"/>
          </p:cNvSpPr>
          <p:nvPr>
            <p:ph type="sldNum" sz="quarter" idx="5"/>
          </p:nvPr>
        </p:nvSpPr>
        <p:spPr/>
        <p:txBody>
          <a:bodyPr/>
          <a:lstStyle/>
          <a:p>
            <a:fld id="{241E7E17-40CA-274F-8297-5DBF26091FCD}" type="slidenum">
              <a:rPr lang="en-GB" smtClean="0"/>
              <a:t>12</a:t>
            </a:fld>
            <a:endParaRPr lang="en-GB"/>
          </a:p>
        </p:txBody>
      </p:sp>
    </p:spTree>
    <p:extLst>
      <p:ext uri="{BB962C8B-B14F-4D97-AF65-F5344CB8AC3E}">
        <p14:creationId xmlns:p14="http://schemas.microsoft.com/office/powerpoint/2010/main" val="2827434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a:t>
            </a:r>
          </a:p>
          <a:p>
            <a:pPr marL="171450" indent="-171450">
              <a:buFontTx/>
              <a:buChar char="-"/>
            </a:pPr>
            <a:r>
              <a:rPr lang="en-GB" dirty="0"/>
              <a:t>Now I’m going to discuss the experimental design optimisations for the Calu-3 study to improve transcriptomic analysis.</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1. Sample size:</a:t>
            </a:r>
          </a:p>
          <a:p>
            <a:pPr marL="171450" indent="-171450">
              <a:buFontTx/>
              <a:buChar char="-"/>
            </a:pPr>
            <a:r>
              <a:rPr lang="en-GB" dirty="0"/>
              <a:t>Firstly, increase sample size to allow the removal of outlier samples and this would increase the reliability of differential expression analysis.</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2. EV quantity:</a:t>
            </a:r>
          </a:p>
          <a:p>
            <a:pPr marL="171450" indent="-171450">
              <a:buFontTx/>
              <a:buChar char="-"/>
            </a:pPr>
            <a:r>
              <a:rPr lang="en-GB" dirty="0"/>
              <a:t>Secondly, it is vital to increase the number of extracellular vesicles made available for transcriptomic analysis so there is sufficient miRNA to complete the analysis.</a:t>
            </a:r>
          </a:p>
          <a:p>
            <a:pPr marL="171450" indent="-171450">
              <a:buFontTx/>
              <a:buChar char="-"/>
            </a:pPr>
            <a:r>
              <a:rPr lang="en-GB" dirty="0"/>
              <a:t>This is the core improvement which needs to be addressed for any future Calu-3 experiments.</a:t>
            </a:r>
          </a:p>
          <a:p>
            <a:endParaRPr lang="en-GB" dirty="0"/>
          </a:p>
          <a:p>
            <a:r>
              <a:rPr lang="en-GB" dirty="0"/>
              <a:t>3. Matched miRNA-mRNA:</a:t>
            </a:r>
          </a:p>
          <a:p>
            <a:pPr marL="171450" indent="-171450">
              <a:buFontTx/>
              <a:buChar char="-"/>
            </a:pPr>
            <a:r>
              <a:rPr lang="en-GB" dirty="0"/>
              <a:t>Finally, they should consider integrating matched miRNA-mRNA data.</a:t>
            </a:r>
          </a:p>
          <a:p>
            <a:pPr marL="171450" indent="-171450">
              <a:buFontTx/>
              <a:buChar char="-"/>
            </a:pPr>
            <a:r>
              <a:rPr lang="en-GB" dirty="0"/>
              <a:t>This is the gold-standard approach used to filter target gene lists and is even more effective than context-specific filtering.</a:t>
            </a:r>
          </a:p>
          <a:p>
            <a:pPr marL="171450" indent="-171450">
              <a:buFontTx/>
              <a:buChar char="-"/>
            </a:pPr>
            <a:endParaRPr lang="en-GB" dirty="0"/>
          </a:p>
          <a:p>
            <a:endParaRPr lang="en-GB" dirty="0"/>
          </a:p>
          <a:p>
            <a:r>
              <a:rPr lang="en-GB" dirty="0"/>
              <a:t>[segway from: as well as workflow limitations, appropriate experimental design must be considered]</a:t>
            </a:r>
          </a:p>
          <a:p>
            <a:r>
              <a:rPr lang="en-GB" dirty="0"/>
              <a:t>[during the course of this analysis, the following experimental design considerations were recommended to increase the robustness of </a:t>
            </a:r>
            <a:r>
              <a:rPr lang="en-GB" dirty="0" err="1"/>
              <a:t>transcriptmics</a:t>
            </a:r>
            <a:r>
              <a:rPr lang="en-GB" dirty="0"/>
              <a:t> for future studies]</a:t>
            </a:r>
          </a:p>
          <a:p>
            <a:r>
              <a:rPr lang="en-GB" dirty="0"/>
              <a:t>[sample size because replicates lacking concordance were identified and potential outlier samples were identified but these weren’t removed to retain 3 biological replicates]</a:t>
            </a:r>
          </a:p>
          <a:p>
            <a:r>
              <a:rPr lang="en-GB" dirty="0"/>
              <a:t>[increase EV size to increase miRNA abundance. This will increase the statistical power of diff expression analysis and may increase the number of miRNAs retained after filtering lowly expressed miRNAs]</a:t>
            </a:r>
          </a:p>
          <a:p>
            <a:r>
              <a:rPr lang="en-GB" dirty="0"/>
              <a:t>[integrate mRNA data to avoid context-dependent filtering problems – look for anticorrelated miRNA-mRNA relationships as miRNAs suppress mRNAs]</a:t>
            </a:r>
          </a:p>
        </p:txBody>
      </p:sp>
      <p:sp>
        <p:nvSpPr>
          <p:cNvPr id="4" name="Slide Number Placeholder 3"/>
          <p:cNvSpPr>
            <a:spLocks noGrp="1"/>
          </p:cNvSpPr>
          <p:nvPr>
            <p:ph type="sldNum" sz="quarter" idx="5"/>
          </p:nvPr>
        </p:nvSpPr>
        <p:spPr/>
        <p:txBody>
          <a:bodyPr/>
          <a:lstStyle/>
          <a:p>
            <a:fld id="{241E7E17-40CA-274F-8297-5DBF26091FCD}" type="slidenum">
              <a:rPr lang="en-GB" smtClean="0"/>
              <a:t>13</a:t>
            </a:fld>
            <a:endParaRPr lang="en-GB"/>
          </a:p>
        </p:txBody>
      </p:sp>
    </p:spTree>
    <p:extLst>
      <p:ext uri="{BB962C8B-B14F-4D97-AF65-F5344CB8AC3E}">
        <p14:creationId xmlns:p14="http://schemas.microsoft.com/office/powerpoint/2010/main" val="10975894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a:t>
            </a:r>
          </a:p>
          <a:p>
            <a:pPr marL="171450" indent="-171450">
              <a:buFontTx/>
              <a:buChar char="-"/>
            </a:pPr>
            <a:r>
              <a:rPr lang="en-GB" dirty="0"/>
              <a:t>Now I am going to discuss what I consider the main contributions of this study to be.</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Significance 1:</a:t>
            </a:r>
          </a:p>
          <a:p>
            <a:pPr marL="171450" indent="-171450">
              <a:buFontTx/>
              <a:buChar char="-"/>
            </a:pPr>
            <a:r>
              <a:rPr lang="en-GB" dirty="0"/>
              <a:t>The first is that it identified that the Calu-3 dataset was severely underpowered and that the results should be interpreted extremely cautiously.</a:t>
            </a:r>
          </a:p>
          <a:p>
            <a:pPr marL="171450" indent="-171450">
              <a:buFontTx/>
              <a:buChar char="-"/>
            </a:pPr>
            <a:r>
              <a:rPr lang="en-GB" dirty="0"/>
              <a:t>This is important for the original study that is not yet published as it contextualises their results.</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Significance 2:</a:t>
            </a:r>
          </a:p>
          <a:p>
            <a:pPr marL="171450" indent="-171450">
              <a:buFontTx/>
              <a:buChar char="-"/>
            </a:pPr>
            <a:r>
              <a:rPr lang="en-GB" dirty="0"/>
              <a:t>The second significance is that it provided realistic experimental design recommendations to ensure that future iterations of the Calu-3 study can produce data suitable for robust transcriptomic analysis.</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Significance 3:</a:t>
            </a:r>
          </a:p>
          <a:p>
            <a:pPr marL="171450" indent="-171450">
              <a:buFontTx/>
              <a:buChar char="-"/>
            </a:pPr>
            <a:r>
              <a:rPr lang="en-GB" dirty="0"/>
              <a:t>And finally, this study provided the basis for the lab to create their own transcriptomic workflow, so they don’t have to keep outsourcing this type of analysis.</a:t>
            </a:r>
          </a:p>
          <a:p>
            <a:pPr marL="171450" indent="-171450">
              <a:buFontTx/>
              <a:buChar char="-"/>
            </a:pPr>
            <a:endParaRPr lang="en-GB" dirty="0"/>
          </a:p>
        </p:txBody>
      </p:sp>
      <p:sp>
        <p:nvSpPr>
          <p:cNvPr id="4" name="Slide Number Placeholder 3"/>
          <p:cNvSpPr>
            <a:spLocks noGrp="1"/>
          </p:cNvSpPr>
          <p:nvPr>
            <p:ph type="sldNum" sz="quarter" idx="5"/>
          </p:nvPr>
        </p:nvSpPr>
        <p:spPr/>
        <p:txBody>
          <a:bodyPr/>
          <a:lstStyle/>
          <a:p>
            <a:fld id="{241E7E17-40CA-274F-8297-5DBF26091FCD}" type="slidenum">
              <a:rPr lang="en-GB" smtClean="0"/>
              <a:t>14</a:t>
            </a:fld>
            <a:endParaRPr lang="en-GB"/>
          </a:p>
        </p:txBody>
      </p:sp>
    </p:spTree>
    <p:extLst>
      <p:ext uri="{BB962C8B-B14F-4D97-AF65-F5344CB8AC3E}">
        <p14:creationId xmlns:p14="http://schemas.microsoft.com/office/powerpoint/2010/main" val="4129959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F59C7-BEEF-8660-EA09-F58CE790F5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FA84B-44B7-8D03-FB21-7947970C8B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4721B7-5C94-97B3-94FC-8DBFBE5238EB}"/>
              </a:ext>
            </a:extLst>
          </p:cNvPr>
          <p:cNvSpPr>
            <a:spLocks noGrp="1"/>
          </p:cNvSpPr>
          <p:nvPr>
            <p:ph type="body" idx="1"/>
          </p:nvPr>
        </p:nvSpPr>
        <p:spPr/>
        <p:txBody>
          <a:bodyPr/>
          <a:lstStyle/>
          <a:p>
            <a:r>
              <a:rPr lang="en-GB" dirty="0"/>
              <a:t>Intro:</a:t>
            </a:r>
          </a:p>
          <a:p>
            <a:pPr marL="171450" indent="-171450">
              <a:buFontTx/>
              <a:buChar char="-"/>
            </a:pPr>
            <a:r>
              <a:rPr lang="en-GB" dirty="0"/>
              <a:t>Now to discuss the originality of the study which was split into two parts.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Originality 1:</a:t>
            </a:r>
          </a:p>
          <a:p>
            <a:pPr marL="171450" indent="-171450">
              <a:buFontTx/>
              <a:buChar char="-"/>
            </a:pPr>
            <a:r>
              <a:rPr lang="en-GB" dirty="0"/>
              <a:t>The first part is the experiments which produced the study data as these experiments used a nebuliser to deliver the allergens in aerosol form, which more closely reflect biology than traditional submersion methods and therefore challenge previous allergen study results.</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Originality 2:</a:t>
            </a:r>
          </a:p>
          <a:p>
            <a:pPr marL="171450" indent="-171450">
              <a:buFontTx/>
              <a:buChar char="-"/>
            </a:pPr>
            <a:r>
              <a:rPr lang="en-GB" dirty="0"/>
              <a:t>The second category of originality is the transcriptomic workflow. This is the first instance of using a systematic approach to investigate the differentially expressed miRNAs in the Calu-3 dataset.</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Originality 3:</a:t>
            </a:r>
          </a:p>
          <a:p>
            <a:pPr marL="171450" indent="-171450">
              <a:buFontTx/>
              <a:buChar char="-"/>
            </a:pPr>
            <a:r>
              <a:rPr lang="en-GB" dirty="0"/>
              <a:t>Finally, unlike other transcriptomic workflows that use commercial software, this workflow uses exclusively open-access software…</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Originality 3:</a:t>
            </a:r>
          </a:p>
          <a:p>
            <a:pPr marL="171450" indent="-171450">
              <a:buFontTx/>
              <a:buChar char="-"/>
            </a:pPr>
            <a:r>
              <a:rPr lang="en-GB" dirty="0"/>
              <a:t>Commercial platforms are commonly used for pathway enrichment analysis, including previously on the primary HBEC dataset.</a:t>
            </a:r>
          </a:p>
          <a:p>
            <a:pPr marL="171450" indent="-171450">
              <a:buFontTx/>
              <a:buChar char="-"/>
            </a:pPr>
            <a:r>
              <a:rPr lang="en-GB" dirty="0"/>
              <a:t>These platforms can be very good, easy to use and provide lots of tutorials.</a:t>
            </a:r>
          </a:p>
          <a:p>
            <a:pPr marL="171450" indent="-171450">
              <a:buFontTx/>
              <a:buChar char="-"/>
            </a:pPr>
            <a:r>
              <a:rPr lang="en-GB" dirty="0"/>
              <a:t>However, they also eliminate the need for labs to perform their own bioinformatics analysis which extends the gap between wet labs and bioinformatics, making it more inaccessible.</a:t>
            </a:r>
          </a:p>
          <a:p>
            <a:pPr marL="171450" indent="-171450">
              <a:buFontTx/>
              <a:buChar char="-"/>
            </a:pPr>
            <a:r>
              <a:rPr lang="en-GB" dirty="0"/>
              <a:t>This study aimed to exemplify that bioinformatics analysis can be performed using open-access software, within a relatively short time frame and without reliance on experts. And also, to generate a workflow that can be easily applied to similar datasets so that future studies don’t have to incur the cost of repeatedly outsourcing the same analyses.</a:t>
            </a:r>
          </a:p>
          <a:p>
            <a:endParaRPr lang="en-GB" dirty="0"/>
          </a:p>
          <a:p>
            <a:r>
              <a:rPr lang="en-GB" dirty="0"/>
              <a:t>[open-access workflow is to bridge the gap between non-bioinformaticians and transcriptomics, as well as eliminate the need to outsource a bioinformatics company to do more costly analysis on repeats of the same type of data]</a:t>
            </a:r>
          </a:p>
        </p:txBody>
      </p:sp>
      <p:sp>
        <p:nvSpPr>
          <p:cNvPr id="4" name="Slide Number Placeholder 3">
            <a:extLst>
              <a:ext uri="{FF2B5EF4-FFF2-40B4-BE49-F238E27FC236}">
                <a16:creationId xmlns:a16="http://schemas.microsoft.com/office/drawing/2014/main" id="{B9AEBF02-78FE-25A4-167A-767A5F9D0FAF}"/>
              </a:ext>
            </a:extLst>
          </p:cNvPr>
          <p:cNvSpPr>
            <a:spLocks noGrp="1"/>
          </p:cNvSpPr>
          <p:nvPr>
            <p:ph type="sldNum" sz="quarter" idx="5"/>
          </p:nvPr>
        </p:nvSpPr>
        <p:spPr/>
        <p:txBody>
          <a:bodyPr/>
          <a:lstStyle/>
          <a:p>
            <a:fld id="{241E7E17-40CA-274F-8297-5DBF26091FCD}" type="slidenum">
              <a:rPr lang="en-GB" smtClean="0"/>
              <a:t>15</a:t>
            </a:fld>
            <a:endParaRPr lang="en-GB"/>
          </a:p>
        </p:txBody>
      </p:sp>
    </p:spTree>
    <p:extLst>
      <p:ext uri="{BB962C8B-B14F-4D97-AF65-F5344CB8AC3E}">
        <p14:creationId xmlns:p14="http://schemas.microsoft.com/office/powerpoint/2010/main" val="11147440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B809-64DF-7FB5-51DD-815D8681A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66905-FB0A-9777-CF09-7CD98A9123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0A9E9-7E71-7AF2-AB00-FD155B77E95C}"/>
              </a:ext>
            </a:extLst>
          </p:cNvPr>
          <p:cNvSpPr>
            <a:spLocks noGrp="1"/>
          </p:cNvSpPr>
          <p:nvPr>
            <p:ph type="body" idx="1"/>
          </p:nvPr>
        </p:nvSpPr>
        <p:spPr/>
        <p:txBody>
          <a:bodyPr/>
          <a:lstStyle/>
          <a:p>
            <a:r>
              <a:rPr lang="en-GB" dirty="0"/>
              <a:t>Intro:</a:t>
            </a:r>
          </a:p>
          <a:p>
            <a:pPr marL="171450" indent="-171450">
              <a:buFontTx/>
              <a:buChar char="-"/>
            </a:pPr>
            <a:r>
              <a:rPr lang="en-GB" dirty="0"/>
              <a:t>Now I’m going to talk about some potential future directions of this study.</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Experimental 1:</a:t>
            </a:r>
          </a:p>
          <a:p>
            <a:pPr marL="171450" indent="-171450">
              <a:buFontTx/>
              <a:buChar char="-"/>
            </a:pPr>
            <a:r>
              <a:rPr lang="en-GB" dirty="0"/>
              <a:t>The very first thing to do experimentally is to repeat the experiment whilst applying all the recommendations that have been suggested to ensure robust data for transcriptomics.</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Experimental 2:</a:t>
            </a:r>
          </a:p>
          <a:p>
            <a:pPr marL="171450" indent="-171450">
              <a:buFontTx/>
              <a:buChar char="-"/>
            </a:pPr>
            <a:r>
              <a:rPr lang="en-GB" dirty="0"/>
              <a:t>Then, once you have identified candidate miRNAs, the expression of these should be validated using another experimental method such as PCR.</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Experimental 3:</a:t>
            </a:r>
          </a:p>
          <a:p>
            <a:pPr marL="171450" indent="-171450">
              <a:buFontTx/>
              <a:buChar char="-"/>
            </a:pPr>
            <a:r>
              <a:rPr lang="en-GB" dirty="0"/>
              <a:t>Finally, once the expression has been verified, you can then start performing functional studies such as using mimics and inhibitors of the miRNAs to observe their specific function in the biological mode.</a:t>
            </a:r>
          </a:p>
          <a:p>
            <a:pPr marL="171450" indent="-171450">
              <a:buFontTx/>
              <a:buChar char="-"/>
            </a:pPr>
            <a:endParaRPr lang="en-GB" dirty="0"/>
          </a:p>
          <a:p>
            <a:pPr marL="0" indent="0">
              <a:buFontTx/>
              <a:buNone/>
            </a:pPr>
            <a:r>
              <a:rPr lang="en-GB" dirty="0"/>
              <a:t>Workflow 1:</a:t>
            </a:r>
          </a:p>
          <a:p>
            <a:pPr marL="171450" indent="-171450">
              <a:buFontTx/>
              <a:buChar char="-"/>
            </a:pPr>
            <a:r>
              <a:rPr lang="en-GB" dirty="0"/>
              <a:t>The first improvement that could be made to the workflow used in this study is that it could be made to handle spike in controls which would allow absolute quantification of miRNA expression, which is particularly useful for low expression miRNAs.</a:t>
            </a:r>
          </a:p>
          <a:p>
            <a:pPr marL="171450" indent="-171450">
              <a:buFontTx/>
              <a:buChar char="-"/>
            </a:pPr>
            <a:endParaRPr lang="en-GB" dirty="0"/>
          </a:p>
          <a:p>
            <a:pPr marL="0" indent="0">
              <a:buFontTx/>
              <a:buNone/>
            </a:pPr>
            <a:r>
              <a:rPr lang="en-GB" dirty="0"/>
              <a:t>Workflow 2:</a:t>
            </a:r>
          </a:p>
          <a:p>
            <a:pPr marL="171450" indent="-171450">
              <a:buFontTx/>
              <a:buChar char="-"/>
            </a:pPr>
            <a:r>
              <a:rPr lang="en-GB" dirty="0"/>
              <a:t>Secondly, the workflow should be validated, and this can be done by benchmarking it against similar transcriptomic pipelines and comparing these results to the two previous studies where transcriptomic analysis had been performed.</a:t>
            </a:r>
          </a:p>
          <a:p>
            <a:pPr marL="171450" indent="-171450">
              <a:buFontTx/>
              <a:buChar char="-"/>
            </a:pPr>
            <a:endParaRPr lang="en-GB" dirty="0"/>
          </a:p>
          <a:p>
            <a:pPr marL="0" indent="0">
              <a:buFontTx/>
              <a:buNone/>
            </a:pPr>
            <a:r>
              <a:rPr lang="en-GB" dirty="0"/>
              <a:t>Workflow 3:</a:t>
            </a:r>
          </a:p>
          <a:p>
            <a:pPr marL="171450" indent="-171450">
              <a:buFontTx/>
              <a:buChar char="-"/>
            </a:pPr>
            <a:r>
              <a:rPr lang="en-GB" dirty="0"/>
              <a:t>There are many alterations that could be made to the workflow to make it user-friendly for the lab to use in-house as non-bioinformaticians.</a:t>
            </a:r>
          </a:p>
          <a:p>
            <a:pPr marL="171450" indent="-171450">
              <a:buFontTx/>
              <a:buChar char="-"/>
            </a:pPr>
            <a:endParaRPr lang="en-GB" dirty="0"/>
          </a:p>
        </p:txBody>
      </p:sp>
      <p:sp>
        <p:nvSpPr>
          <p:cNvPr id="4" name="Slide Number Placeholder 3">
            <a:extLst>
              <a:ext uri="{FF2B5EF4-FFF2-40B4-BE49-F238E27FC236}">
                <a16:creationId xmlns:a16="http://schemas.microsoft.com/office/drawing/2014/main" id="{585DFB93-3C0B-F95A-301F-F84ADFDD3040}"/>
              </a:ext>
            </a:extLst>
          </p:cNvPr>
          <p:cNvSpPr>
            <a:spLocks noGrp="1"/>
          </p:cNvSpPr>
          <p:nvPr>
            <p:ph type="sldNum" sz="quarter" idx="5"/>
          </p:nvPr>
        </p:nvSpPr>
        <p:spPr/>
        <p:txBody>
          <a:bodyPr/>
          <a:lstStyle/>
          <a:p>
            <a:fld id="{241E7E17-40CA-274F-8297-5DBF26091FCD}" type="slidenum">
              <a:rPr lang="en-GB" smtClean="0"/>
              <a:t>16</a:t>
            </a:fld>
            <a:endParaRPr lang="en-GB"/>
          </a:p>
        </p:txBody>
      </p:sp>
    </p:spTree>
    <p:extLst>
      <p:ext uri="{BB962C8B-B14F-4D97-AF65-F5344CB8AC3E}">
        <p14:creationId xmlns:p14="http://schemas.microsoft.com/office/powerpoint/2010/main" val="3881506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tx1">
                    <a:lumMod val="85000"/>
                    <a:lumOff val="15000"/>
                  </a:schemeClr>
                </a:solidFill>
              </a:rPr>
              <a:t>Context-specific filtering would improve target gene-level enrichment for future applications of this workflow</a:t>
            </a:r>
          </a:p>
          <a:p>
            <a:endParaRPr lang="en-GB" dirty="0"/>
          </a:p>
        </p:txBody>
      </p:sp>
      <p:sp>
        <p:nvSpPr>
          <p:cNvPr id="4" name="Slide Number Placeholder 3"/>
          <p:cNvSpPr>
            <a:spLocks noGrp="1"/>
          </p:cNvSpPr>
          <p:nvPr>
            <p:ph type="sldNum" sz="quarter" idx="5"/>
          </p:nvPr>
        </p:nvSpPr>
        <p:spPr/>
        <p:txBody>
          <a:bodyPr/>
          <a:lstStyle/>
          <a:p>
            <a:fld id="{241E7E17-40CA-274F-8297-5DBF26091FCD}" type="slidenum">
              <a:rPr lang="en-GB" smtClean="0"/>
              <a:t>17</a:t>
            </a:fld>
            <a:endParaRPr lang="en-GB"/>
          </a:p>
        </p:txBody>
      </p:sp>
    </p:spTree>
    <p:extLst>
      <p:ext uri="{BB962C8B-B14F-4D97-AF65-F5344CB8AC3E}">
        <p14:creationId xmlns:p14="http://schemas.microsoft.com/office/powerpoint/2010/main" val="18974522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4EEBB-5FA6-FD5B-1A7C-A0BB8F18A45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B7AF08B5-8E64-0051-9D54-83D6783597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040BA714-CAF2-697B-D374-EC6EB083A62A}"/>
              </a:ext>
            </a:extLst>
          </p:cNvPr>
          <p:cNvSpPr>
            <a:spLocks noGrp="1"/>
          </p:cNvSpPr>
          <p:nvPr>
            <p:ph type="dt" sz="half" idx="10"/>
          </p:nvPr>
        </p:nvSpPr>
        <p:spPr/>
        <p:txBody>
          <a:bodyPr/>
          <a:lstStyle/>
          <a:p>
            <a:fld id="{E8368E65-EB0D-9F46-A8DE-972F6C7F86B0}" type="datetime1">
              <a:rPr lang="en-GB" smtClean="0"/>
              <a:t>04/09/2026</a:t>
            </a:fld>
            <a:endParaRPr lang="en-GB"/>
          </a:p>
        </p:txBody>
      </p:sp>
      <p:sp>
        <p:nvSpPr>
          <p:cNvPr id="5" name="Footer Placeholder 4">
            <a:extLst>
              <a:ext uri="{FF2B5EF4-FFF2-40B4-BE49-F238E27FC236}">
                <a16:creationId xmlns:a16="http://schemas.microsoft.com/office/drawing/2014/main" id="{598A45EA-E969-3B8D-E043-84F5FC213EB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DFCA8A-E0DF-73B2-4A78-53FF840F3A48}"/>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3180082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D3AC8-233A-E279-38B4-3BD0A3407D9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374DE64-9F71-E9CE-84D7-C6B5668FD26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B37EDA9-A344-DE37-CE81-92C23EE10BA4}"/>
              </a:ext>
            </a:extLst>
          </p:cNvPr>
          <p:cNvSpPr>
            <a:spLocks noGrp="1"/>
          </p:cNvSpPr>
          <p:nvPr>
            <p:ph type="dt" sz="half" idx="10"/>
          </p:nvPr>
        </p:nvSpPr>
        <p:spPr/>
        <p:txBody>
          <a:bodyPr/>
          <a:lstStyle/>
          <a:p>
            <a:fld id="{0A2B763D-EE83-7145-BEE3-1B82982B4A81}" type="datetime1">
              <a:rPr lang="en-GB" smtClean="0"/>
              <a:t>04/09/2026</a:t>
            </a:fld>
            <a:endParaRPr lang="en-GB"/>
          </a:p>
        </p:txBody>
      </p:sp>
      <p:sp>
        <p:nvSpPr>
          <p:cNvPr id="5" name="Footer Placeholder 4">
            <a:extLst>
              <a:ext uri="{FF2B5EF4-FFF2-40B4-BE49-F238E27FC236}">
                <a16:creationId xmlns:a16="http://schemas.microsoft.com/office/drawing/2014/main" id="{1545817D-36C4-5EC8-D361-6D55DC3BED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D2E905B-F375-7567-00D1-48A2E59B99A3}"/>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1067243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62639-87E7-7B82-EE93-BDE3F8D60E3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F8854515-8183-3DFD-77FB-F58CC07553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400EC03-F221-DC2D-F3BD-4B2697F80BB4}"/>
              </a:ext>
            </a:extLst>
          </p:cNvPr>
          <p:cNvSpPr>
            <a:spLocks noGrp="1"/>
          </p:cNvSpPr>
          <p:nvPr>
            <p:ph type="dt" sz="half" idx="10"/>
          </p:nvPr>
        </p:nvSpPr>
        <p:spPr/>
        <p:txBody>
          <a:bodyPr/>
          <a:lstStyle/>
          <a:p>
            <a:fld id="{F27937BD-F332-A846-B640-81485BF0B610}" type="datetime1">
              <a:rPr lang="en-GB" smtClean="0"/>
              <a:t>04/09/2026</a:t>
            </a:fld>
            <a:endParaRPr lang="en-GB"/>
          </a:p>
        </p:txBody>
      </p:sp>
      <p:sp>
        <p:nvSpPr>
          <p:cNvPr id="5" name="Footer Placeholder 4">
            <a:extLst>
              <a:ext uri="{FF2B5EF4-FFF2-40B4-BE49-F238E27FC236}">
                <a16:creationId xmlns:a16="http://schemas.microsoft.com/office/drawing/2014/main" id="{EC03EF58-8DB0-CC21-2CEF-7831F26490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7BFAB4A-908F-4627-FCAC-DAE3819A2E9E}"/>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1466816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8C6A0-34F7-8DD9-0339-798CB40F15E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2D9D8979-6E68-DDEC-AFCB-88A4FA22F79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F9FB517-0D8D-4F58-DE36-17566F5F73B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1C9C1F0-DAFB-7308-355E-43514EF33D19}"/>
              </a:ext>
            </a:extLst>
          </p:cNvPr>
          <p:cNvSpPr>
            <a:spLocks noGrp="1"/>
          </p:cNvSpPr>
          <p:nvPr>
            <p:ph type="dt" sz="half" idx="10"/>
          </p:nvPr>
        </p:nvSpPr>
        <p:spPr/>
        <p:txBody>
          <a:bodyPr/>
          <a:lstStyle/>
          <a:p>
            <a:fld id="{901F9334-536B-E246-83D7-DB178014E1B3}" type="datetime1">
              <a:rPr lang="en-GB" smtClean="0"/>
              <a:t>04/09/2026</a:t>
            </a:fld>
            <a:endParaRPr lang="en-GB"/>
          </a:p>
        </p:txBody>
      </p:sp>
      <p:sp>
        <p:nvSpPr>
          <p:cNvPr id="6" name="Footer Placeholder 5">
            <a:extLst>
              <a:ext uri="{FF2B5EF4-FFF2-40B4-BE49-F238E27FC236}">
                <a16:creationId xmlns:a16="http://schemas.microsoft.com/office/drawing/2014/main" id="{E3EDF178-D4EA-4315-7F85-235055F38B8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0B06BFB-30ED-C22D-1D68-11B9C58BA1F4}"/>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1454551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52713-AE3E-E7C7-5C47-3DF42737E26A}"/>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3DA72BE8-786F-C013-DF8E-667BB398F4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F65BA19-42B8-1B68-A79F-1F6ED0BB901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CC99AD99-22C6-1024-7C40-A788A78E71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FDC7F92-75C3-53BD-BC20-D7EAF2F320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A2D9F70C-3F0C-562E-A9FC-0A1C5113DAF4}"/>
              </a:ext>
            </a:extLst>
          </p:cNvPr>
          <p:cNvSpPr>
            <a:spLocks noGrp="1"/>
          </p:cNvSpPr>
          <p:nvPr>
            <p:ph type="dt" sz="half" idx="10"/>
          </p:nvPr>
        </p:nvSpPr>
        <p:spPr/>
        <p:txBody>
          <a:bodyPr/>
          <a:lstStyle/>
          <a:p>
            <a:fld id="{3B607DD5-23EC-2E42-BA65-2710F83688AB}" type="datetime1">
              <a:rPr lang="en-GB" smtClean="0"/>
              <a:t>04/09/2026</a:t>
            </a:fld>
            <a:endParaRPr lang="en-GB"/>
          </a:p>
        </p:txBody>
      </p:sp>
      <p:sp>
        <p:nvSpPr>
          <p:cNvPr id="8" name="Footer Placeholder 7">
            <a:extLst>
              <a:ext uri="{FF2B5EF4-FFF2-40B4-BE49-F238E27FC236}">
                <a16:creationId xmlns:a16="http://schemas.microsoft.com/office/drawing/2014/main" id="{4617E965-82F6-F91F-00A9-207318A524F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2639181-2072-519C-27F5-2C1D92236FA4}"/>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4232615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574C7-3FB1-2C47-68BA-A3C2A3F44439}"/>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F1157A85-133E-95B9-4A50-A1BBAC921595}"/>
              </a:ext>
            </a:extLst>
          </p:cNvPr>
          <p:cNvSpPr>
            <a:spLocks noGrp="1"/>
          </p:cNvSpPr>
          <p:nvPr>
            <p:ph type="dt" sz="half" idx="10"/>
          </p:nvPr>
        </p:nvSpPr>
        <p:spPr/>
        <p:txBody>
          <a:bodyPr/>
          <a:lstStyle/>
          <a:p>
            <a:fld id="{6AB5A0CC-9C4E-CA43-9CC6-C2CC4B65D5F8}" type="datetime1">
              <a:rPr lang="en-GB" smtClean="0"/>
              <a:t>04/09/2026</a:t>
            </a:fld>
            <a:endParaRPr lang="en-GB"/>
          </a:p>
        </p:txBody>
      </p:sp>
      <p:sp>
        <p:nvSpPr>
          <p:cNvPr id="4" name="Footer Placeholder 3">
            <a:extLst>
              <a:ext uri="{FF2B5EF4-FFF2-40B4-BE49-F238E27FC236}">
                <a16:creationId xmlns:a16="http://schemas.microsoft.com/office/drawing/2014/main" id="{A2A1287B-3885-13F2-DBAD-50AFEF49289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FB6876E-7911-53A2-E5FC-44E633F13E92}"/>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2273911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DCBCE5-9AA6-09FE-186E-1484C3CAE389}"/>
              </a:ext>
            </a:extLst>
          </p:cNvPr>
          <p:cNvSpPr>
            <a:spLocks noGrp="1"/>
          </p:cNvSpPr>
          <p:nvPr>
            <p:ph type="dt" sz="half" idx="10"/>
          </p:nvPr>
        </p:nvSpPr>
        <p:spPr/>
        <p:txBody>
          <a:bodyPr/>
          <a:lstStyle/>
          <a:p>
            <a:fld id="{54A042CE-82ED-9943-8D6E-F78402236C1E}" type="datetime1">
              <a:rPr lang="en-GB" smtClean="0"/>
              <a:t>04/09/2026</a:t>
            </a:fld>
            <a:endParaRPr lang="en-GB"/>
          </a:p>
        </p:txBody>
      </p:sp>
      <p:sp>
        <p:nvSpPr>
          <p:cNvPr id="3" name="Footer Placeholder 2">
            <a:extLst>
              <a:ext uri="{FF2B5EF4-FFF2-40B4-BE49-F238E27FC236}">
                <a16:creationId xmlns:a16="http://schemas.microsoft.com/office/drawing/2014/main" id="{EF05A7D5-D834-33E7-4155-514F8D17B6C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B3B60A3-E890-AC88-389B-323C242C8FC4}"/>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2036318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74F55-774D-E0C1-CEB0-AAB70F6FED3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1F4F8108-87B9-86CB-2533-C689E4645A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094FB6FD-BB76-911D-7858-0E250EACEB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F138AC1-88DC-15F2-9EF1-BDC34FE16E7F}"/>
              </a:ext>
            </a:extLst>
          </p:cNvPr>
          <p:cNvSpPr>
            <a:spLocks noGrp="1"/>
          </p:cNvSpPr>
          <p:nvPr>
            <p:ph type="dt" sz="half" idx="10"/>
          </p:nvPr>
        </p:nvSpPr>
        <p:spPr/>
        <p:txBody>
          <a:bodyPr/>
          <a:lstStyle/>
          <a:p>
            <a:fld id="{9DAC8A1D-F5F7-D24A-B1B3-B3FED269CEFD}" type="datetime1">
              <a:rPr lang="en-GB" smtClean="0"/>
              <a:t>04/09/2026</a:t>
            </a:fld>
            <a:endParaRPr lang="en-GB"/>
          </a:p>
        </p:txBody>
      </p:sp>
      <p:sp>
        <p:nvSpPr>
          <p:cNvPr id="6" name="Footer Placeholder 5">
            <a:extLst>
              <a:ext uri="{FF2B5EF4-FFF2-40B4-BE49-F238E27FC236}">
                <a16:creationId xmlns:a16="http://schemas.microsoft.com/office/drawing/2014/main" id="{F23DEFF8-EC0F-3018-A120-5C899354C8E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9387783-0D77-6077-2722-CF160482E8BE}"/>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3381607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1B396-D153-2886-7F7C-8C6B07B3467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CD1FF8C9-01CA-DB9F-E9A4-4330814C6F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85E1FAE-ACD4-71AA-6378-63CDB8B4F9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1DD35BF-DBBC-C4C6-DAB4-FF285CD94766}"/>
              </a:ext>
            </a:extLst>
          </p:cNvPr>
          <p:cNvSpPr>
            <a:spLocks noGrp="1"/>
          </p:cNvSpPr>
          <p:nvPr>
            <p:ph type="dt" sz="half" idx="10"/>
          </p:nvPr>
        </p:nvSpPr>
        <p:spPr/>
        <p:txBody>
          <a:bodyPr/>
          <a:lstStyle/>
          <a:p>
            <a:fld id="{235C2970-785D-0440-857B-7EB282A87ED5}" type="datetime1">
              <a:rPr lang="en-GB" smtClean="0"/>
              <a:t>04/09/2026</a:t>
            </a:fld>
            <a:endParaRPr lang="en-GB"/>
          </a:p>
        </p:txBody>
      </p:sp>
      <p:sp>
        <p:nvSpPr>
          <p:cNvPr id="6" name="Footer Placeholder 5">
            <a:extLst>
              <a:ext uri="{FF2B5EF4-FFF2-40B4-BE49-F238E27FC236}">
                <a16:creationId xmlns:a16="http://schemas.microsoft.com/office/drawing/2014/main" id="{A16C80E0-6E1F-26D1-5F5E-5D96F7CC586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23E5226-7AC7-7893-C995-E03F1A6845DE}"/>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205258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69BF9-8314-4BB4-6863-6BF0B3C2230A}"/>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431E6C4-EA2F-B228-49C6-C54B85FC509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CA0AAFE-9B03-D708-816F-93C8500D9F6E}"/>
              </a:ext>
            </a:extLst>
          </p:cNvPr>
          <p:cNvSpPr>
            <a:spLocks noGrp="1"/>
          </p:cNvSpPr>
          <p:nvPr>
            <p:ph type="dt" sz="half" idx="10"/>
          </p:nvPr>
        </p:nvSpPr>
        <p:spPr/>
        <p:txBody>
          <a:bodyPr/>
          <a:lstStyle/>
          <a:p>
            <a:fld id="{A44D8644-6074-044A-9118-D3E50004655B}" type="datetime1">
              <a:rPr lang="en-GB" smtClean="0"/>
              <a:t>04/09/2026</a:t>
            </a:fld>
            <a:endParaRPr lang="en-GB"/>
          </a:p>
        </p:txBody>
      </p:sp>
      <p:sp>
        <p:nvSpPr>
          <p:cNvPr id="5" name="Footer Placeholder 4">
            <a:extLst>
              <a:ext uri="{FF2B5EF4-FFF2-40B4-BE49-F238E27FC236}">
                <a16:creationId xmlns:a16="http://schemas.microsoft.com/office/drawing/2014/main" id="{BB7DCEA6-7ED8-A716-6BD8-C58A7CB9ED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B730B2F-CAB7-F9FE-E089-B225E2B40773}"/>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3152116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CB63E7-2D80-6E63-A21A-74B5AC6B502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872C04C7-2EB7-8810-3B95-92F7DD6AC9F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5F6EC41-829F-5002-C952-239CBC6A782E}"/>
              </a:ext>
            </a:extLst>
          </p:cNvPr>
          <p:cNvSpPr>
            <a:spLocks noGrp="1"/>
          </p:cNvSpPr>
          <p:nvPr>
            <p:ph type="dt" sz="half" idx="10"/>
          </p:nvPr>
        </p:nvSpPr>
        <p:spPr/>
        <p:txBody>
          <a:bodyPr/>
          <a:lstStyle/>
          <a:p>
            <a:fld id="{FBC4A83B-33B0-6E4B-B0D3-CE9C08FAA490}" type="datetime1">
              <a:rPr lang="en-GB" smtClean="0"/>
              <a:t>04/09/2026</a:t>
            </a:fld>
            <a:endParaRPr lang="en-GB"/>
          </a:p>
        </p:txBody>
      </p:sp>
      <p:sp>
        <p:nvSpPr>
          <p:cNvPr id="5" name="Footer Placeholder 4">
            <a:extLst>
              <a:ext uri="{FF2B5EF4-FFF2-40B4-BE49-F238E27FC236}">
                <a16:creationId xmlns:a16="http://schemas.microsoft.com/office/drawing/2014/main" id="{20181911-9EA8-4CFE-4CF1-13BC9FC2E9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D5534B-5CCE-9251-1308-D3AEBD65822D}"/>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568953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3EE2C7-9E18-BFD5-7A11-E3A347F41F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B6832A12-5364-CA10-56DA-FF98402BE1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F098582-13D8-AB6B-DDA9-941CEF4419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B058BC-68FF-7C46-AB44-F8F07A051B2D}" type="datetime1">
              <a:rPr lang="en-GB" smtClean="0"/>
              <a:t>04/09/2026</a:t>
            </a:fld>
            <a:endParaRPr lang="en-GB"/>
          </a:p>
        </p:txBody>
      </p:sp>
      <p:sp>
        <p:nvSpPr>
          <p:cNvPr id="5" name="Footer Placeholder 4">
            <a:extLst>
              <a:ext uri="{FF2B5EF4-FFF2-40B4-BE49-F238E27FC236}">
                <a16:creationId xmlns:a16="http://schemas.microsoft.com/office/drawing/2014/main" id="{5E446C69-8155-818A-EED5-629F43F5FF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F35085AF-B349-0AA8-90F8-4A4B9BC499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B2C436-2398-F34B-A706-69BC3409080B}" type="slidenum">
              <a:rPr lang="en-GB" smtClean="0"/>
              <a:t>‹#›</a:t>
            </a:fld>
            <a:endParaRPr lang="en-GB"/>
          </a:p>
        </p:txBody>
      </p:sp>
    </p:spTree>
    <p:extLst>
      <p:ext uri="{BB962C8B-B14F-4D97-AF65-F5344CB8AC3E}">
        <p14:creationId xmlns:p14="http://schemas.microsoft.com/office/powerpoint/2010/main" val="38372675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7.emf"/><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28.png"/><Relationship Id="rId3" Type="http://schemas.openxmlformats.org/officeDocument/2006/relationships/image" Target="../media/image24.png"/><Relationship Id="rId7" Type="http://schemas.microsoft.com/office/2007/relationships/hdphoto" Target="../media/hdphoto3.wdp"/><Relationship Id="rId12" Type="http://schemas.microsoft.com/office/2007/relationships/hdphoto" Target="../media/hdphoto6.wdp"/><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27.png"/><Relationship Id="rId5" Type="http://schemas.openxmlformats.org/officeDocument/2006/relationships/image" Target="../media/image25.png"/><Relationship Id="rId10" Type="http://schemas.microsoft.com/office/2007/relationships/hdphoto" Target="../media/hdphoto5.wdp"/><Relationship Id="rId4" Type="http://schemas.microsoft.com/office/2007/relationships/hdphoto" Target="../media/hdphoto1.wdp"/><Relationship Id="rId9" Type="http://schemas.openxmlformats.org/officeDocument/2006/relationships/image" Target="../media/image26.png"/><Relationship Id="rId14" Type="http://schemas.microsoft.com/office/2007/relationships/hdphoto" Target="../media/hdphoto7.wdp"/></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13795-BDB8-A8AE-9CCF-7D1FEEB4A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D1701-76B0-F084-A8F6-45B8B8BDB7FF}"/>
              </a:ext>
            </a:extLst>
          </p:cNvPr>
          <p:cNvSpPr>
            <a:spLocks noGrp="1"/>
          </p:cNvSpPr>
          <p:nvPr>
            <p:ph type="ctrTitle"/>
          </p:nvPr>
        </p:nvSpPr>
        <p:spPr>
          <a:xfrm>
            <a:off x="600372" y="1163161"/>
            <a:ext cx="10991256" cy="2031055"/>
          </a:xfrm>
        </p:spPr>
        <p:txBody>
          <a:bodyPr>
            <a:noAutofit/>
          </a:bodyPr>
          <a:lstStyle/>
          <a:p>
            <a:r>
              <a:rPr lang="en-GB" sz="2800" b="1" dirty="0">
                <a:solidFill>
                  <a:schemeClr val="accent1">
                    <a:lumMod val="50000"/>
                  </a:schemeClr>
                </a:solidFill>
              </a:rPr>
              <a:t>Transcriptomic analysis of extracellular vesicle miRNA cargo derived</a:t>
            </a:r>
            <a:br>
              <a:rPr lang="en-GB" sz="2800" dirty="0">
                <a:solidFill>
                  <a:schemeClr val="accent1">
                    <a:lumMod val="50000"/>
                  </a:schemeClr>
                </a:solidFill>
              </a:rPr>
            </a:br>
            <a:r>
              <a:rPr lang="en-GB" sz="2800" b="1" dirty="0">
                <a:solidFill>
                  <a:schemeClr val="accent1">
                    <a:lumMod val="50000"/>
                  </a:schemeClr>
                </a:solidFill>
              </a:rPr>
              <a:t>from allergen-exposed airway epithelial cells using</a:t>
            </a:r>
            <a:br>
              <a:rPr lang="en-GB" sz="2800" dirty="0">
                <a:solidFill>
                  <a:schemeClr val="accent1">
                    <a:lumMod val="50000"/>
                  </a:schemeClr>
                </a:solidFill>
              </a:rPr>
            </a:br>
            <a:r>
              <a:rPr lang="en-GB" sz="2800" b="1" dirty="0">
                <a:solidFill>
                  <a:schemeClr val="accent1">
                    <a:lumMod val="50000"/>
                  </a:schemeClr>
                </a:solidFill>
              </a:rPr>
              <a:t>open-access software</a:t>
            </a:r>
            <a:endParaRPr lang="en-GB" sz="2800" dirty="0">
              <a:solidFill>
                <a:schemeClr val="accent1">
                  <a:lumMod val="50000"/>
                </a:schemeClr>
              </a:solidFill>
            </a:endParaRPr>
          </a:p>
        </p:txBody>
      </p:sp>
      <p:sp>
        <p:nvSpPr>
          <p:cNvPr id="3" name="Subtitle 2">
            <a:extLst>
              <a:ext uri="{FF2B5EF4-FFF2-40B4-BE49-F238E27FC236}">
                <a16:creationId xmlns:a16="http://schemas.microsoft.com/office/drawing/2014/main" id="{2C46BBCD-7543-D2C9-E580-B4095680A713}"/>
              </a:ext>
            </a:extLst>
          </p:cNvPr>
          <p:cNvSpPr>
            <a:spLocks noGrp="1"/>
          </p:cNvSpPr>
          <p:nvPr>
            <p:ph type="subTitle" idx="1"/>
          </p:nvPr>
        </p:nvSpPr>
        <p:spPr>
          <a:xfrm>
            <a:off x="3045368" y="4160126"/>
            <a:ext cx="6105194" cy="682079"/>
          </a:xfrm>
        </p:spPr>
        <p:txBody>
          <a:bodyPr>
            <a:normAutofit lnSpcReduction="10000"/>
          </a:bodyPr>
          <a:lstStyle/>
          <a:p>
            <a:r>
              <a:rPr lang="en-GB" sz="1800" dirty="0">
                <a:solidFill>
                  <a:schemeClr val="tx2"/>
                </a:solidFill>
              </a:rPr>
              <a:t>Student ID: 	50805916</a:t>
            </a:r>
          </a:p>
          <a:p>
            <a:r>
              <a:rPr lang="en-GB" sz="1800" dirty="0">
                <a:solidFill>
                  <a:schemeClr val="tx2"/>
                </a:solidFill>
              </a:rPr>
              <a:t>   Name:	 Christopher Janschke</a:t>
            </a:r>
          </a:p>
        </p:txBody>
      </p:sp>
      <p:sp>
        <p:nvSpPr>
          <p:cNvPr id="4" name="Rectangle 3">
            <a:extLst>
              <a:ext uri="{FF2B5EF4-FFF2-40B4-BE49-F238E27FC236}">
                <a16:creationId xmlns:a16="http://schemas.microsoft.com/office/drawing/2014/main" id="{67A2EC9B-6594-58D3-3A5F-66ECCBBC301B}"/>
              </a:ext>
            </a:extLst>
          </p:cNvPr>
          <p:cNvSpPr/>
          <p:nvPr/>
        </p:nvSpPr>
        <p:spPr>
          <a:xfrm>
            <a:off x="2828693" y="3531426"/>
            <a:ext cx="6534614" cy="45719"/>
          </a:xfrm>
          <a:prstGeom prst="rect">
            <a:avLst/>
          </a:prstGeom>
          <a:solidFill>
            <a:schemeClr val="tx1">
              <a:lumMod val="65000"/>
              <a:lumOff val="3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5" name="Slide Number Placeholder 4">
            <a:extLst>
              <a:ext uri="{FF2B5EF4-FFF2-40B4-BE49-F238E27FC236}">
                <a16:creationId xmlns:a16="http://schemas.microsoft.com/office/drawing/2014/main" id="{48D1D78E-FE27-C740-CCA1-20367BD1BE4D}"/>
              </a:ext>
            </a:extLst>
          </p:cNvPr>
          <p:cNvSpPr>
            <a:spLocks noGrp="1"/>
          </p:cNvSpPr>
          <p:nvPr>
            <p:ph type="sldNum" sz="quarter" idx="12"/>
          </p:nvPr>
        </p:nvSpPr>
        <p:spPr/>
        <p:txBody>
          <a:bodyPr/>
          <a:lstStyle/>
          <a:p>
            <a:fld id="{AAB2C436-2398-F34B-A706-69BC3409080B}" type="slidenum">
              <a:rPr lang="en-GB" smtClean="0"/>
              <a:t>1</a:t>
            </a:fld>
            <a:endParaRPr lang="en-GB"/>
          </a:p>
        </p:txBody>
      </p:sp>
    </p:spTree>
    <p:extLst>
      <p:ext uri="{BB962C8B-B14F-4D97-AF65-F5344CB8AC3E}">
        <p14:creationId xmlns:p14="http://schemas.microsoft.com/office/powerpoint/2010/main" val="3917954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5C3B0-6D3F-13FE-50F3-FA4D217552D1}"/>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FCFE42D-8593-0816-ABE6-231188E4E1FE}"/>
              </a:ext>
            </a:extLst>
          </p:cNvPr>
          <p:cNvGraphicFramePr>
            <a:graphicFrameLocks noGrp="1"/>
          </p:cNvGraphicFramePr>
          <p:nvPr>
            <p:extLst>
              <p:ext uri="{D42A27DB-BD31-4B8C-83A1-F6EECF244321}">
                <p14:modId xmlns:p14="http://schemas.microsoft.com/office/powerpoint/2010/main" val="1757629908"/>
              </p:ext>
            </p:extLst>
          </p:nvPr>
        </p:nvGraphicFramePr>
        <p:xfrm>
          <a:off x="1153160" y="1268306"/>
          <a:ext cx="9336164" cy="4781976"/>
        </p:xfrm>
        <a:graphic>
          <a:graphicData uri="http://schemas.openxmlformats.org/drawingml/2006/table">
            <a:tbl>
              <a:tblPr firstRow="1" bandRow="1">
                <a:tableStyleId>{0505E3EF-67EA-436B-97B2-0124C06EBD24}</a:tableStyleId>
              </a:tblPr>
              <a:tblGrid>
                <a:gridCol w="1955608">
                  <a:extLst>
                    <a:ext uri="{9D8B030D-6E8A-4147-A177-3AD203B41FA5}">
                      <a16:colId xmlns:a16="http://schemas.microsoft.com/office/drawing/2014/main" val="2734460248"/>
                    </a:ext>
                  </a:extLst>
                </a:gridCol>
                <a:gridCol w="7380556">
                  <a:extLst>
                    <a:ext uri="{9D8B030D-6E8A-4147-A177-3AD203B41FA5}">
                      <a16:colId xmlns:a16="http://schemas.microsoft.com/office/drawing/2014/main" val="3048280910"/>
                    </a:ext>
                  </a:extLst>
                </a:gridCol>
              </a:tblGrid>
              <a:tr h="1195494">
                <a:tc>
                  <a:txBody>
                    <a:bodyPr/>
                    <a:lstStyle/>
                    <a:p>
                      <a:pPr algn="ctr"/>
                      <a:r>
                        <a:rPr lang="en-GB" sz="2400" b="1" dirty="0"/>
                        <a:t>Aims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dk1"/>
                          </a:solidFill>
                          <a:effectLst/>
                          <a:latin typeface="+mn-lt"/>
                          <a:ea typeface="+mn-ea"/>
                          <a:cs typeface="+mn-cs"/>
                        </a:rPr>
                        <a:t>Investigate miRNA expression in allergen-exposed airway epithelial cells</a:t>
                      </a:r>
                    </a:p>
                  </a:txBody>
                  <a:tcPr anchor="ctr"/>
                </a:tc>
                <a:extLst>
                  <a:ext uri="{0D108BD9-81ED-4DB2-BD59-A6C34878D82A}">
                    <a16:rowId xmlns:a16="http://schemas.microsoft.com/office/drawing/2014/main" val="501550636"/>
                  </a:ext>
                </a:extLst>
              </a:tr>
              <a:tr h="1195494">
                <a:tc>
                  <a:txBody>
                    <a:bodyPr/>
                    <a:lstStyle/>
                    <a:p>
                      <a:pPr algn="ctr"/>
                      <a:r>
                        <a:rPr lang="en-GB" sz="2400" b="1" dirty="0"/>
                        <a:t>Methods</a:t>
                      </a:r>
                    </a:p>
                  </a:txBody>
                  <a:tcPr anchor="ctr"/>
                </a:tc>
                <a:tc>
                  <a:txBody>
                    <a:bodyPr/>
                    <a:lstStyle/>
                    <a:p>
                      <a:pPr algn="l"/>
                      <a:r>
                        <a:rPr lang="en-GB" dirty="0"/>
                        <a:t>Method</a:t>
                      </a:r>
                      <a:r>
                        <a:rPr lang="en-GB" dirty="0">
                          <a:sym typeface="Wingdings" pitchFamily="2" charset="2"/>
                        </a:rPr>
                        <a:t> D</a:t>
                      </a:r>
                      <a:r>
                        <a:rPr lang="en-GB" dirty="0"/>
                        <a:t>evelopment </a:t>
                      </a:r>
                      <a:r>
                        <a:rPr lang="en-GB" dirty="0">
                          <a:sym typeface="Wingdings" pitchFamily="2" charset="2"/>
                        </a:rPr>
                        <a:t> Differential Expression  Pathway Analysis</a:t>
                      </a:r>
                      <a:endParaRPr lang="en-GB" dirty="0"/>
                    </a:p>
                  </a:txBody>
                  <a:tcPr anchor="ctr"/>
                </a:tc>
                <a:extLst>
                  <a:ext uri="{0D108BD9-81ED-4DB2-BD59-A6C34878D82A}">
                    <a16:rowId xmlns:a16="http://schemas.microsoft.com/office/drawing/2014/main" val="3839114698"/>
                  </a:ext>
                </a:extLst>
              </a:tr>
              <a:tr h="1195494">
                <a:tc>
                  <a:txBody>
                    <a:bodyPr/>
                    <a:lstStyle/>
                    <a:p>
                      <a:pPr algn="ctr"/>
                      <a:r>
                        <a:rPr lang="en-GB" sz="2400" b="1" dirty="0"/>
                        <a:t>Findings</a:t>
                      </a:r>
                    </a:p>
                  </a:txBody>
                  <a:tcPr anchor="ctr"/>
                </a:tc>
                <a:tc>
                  <a:txBody>
                    <a:bodyPr/>
                    <a:lstStyle/>
                    <a:p>
                      <a:pPr algn="l"/>
                      <a:r>
                        <a:rPr lang="en-GB" dirty="0"/>
                        <a:t>Biologically plausible results are obtainable provided suitable experimental design</a:t>
                      </a:r>
                    </a:p>
                  </a:txBody>
                  <a:tcPr anchor="ctr"/>
                </a:tc>
                <a:extLst>
                  <a:ext uri="{0D108BD9-81ED-4DB2-BD59-A6C34878D82A}">
                    <a16:rowId xmlns:a16="http://schemas.microsoft.com/office/drawing/2014/main" val="2974479082"/>
                  </a:ext>
                </a:extLst>
              </a:tr>
              <a:tr h="1195494">
                <a:tc>
                  <a:txBody>
                    <a:bodyPr/>
                    <a:lstStyle/>
                    <a:p>
                      <a:pPr algn="ctr"/>
                      <a:r>
                        <a:rPr lang="en-GB" sz="2400" b="1" dirty="0"/>
                        <a:t>Significance</a:t>
                      </a:r>
                    </a:p>
                  </a:txBody>
                  <a:tcPr anchor="ctr"/>
                </a:tc>
                <a:tc>
                  <a:txBody>
                    <a:bodyPr/>
                    <a:lstStyle/>
                    <a:p>
                      <a:pPr algn="l"/>
                      <a:r>
                        <a:rPr lang="en-GB" dirty="0"/>
                        <a:t>Informs experimental design for future experiments</a:t>
                      </a:r>
                    </a:p>
                  </a:txBody>
                  <a:tcPr anchor="ctr"/>
                </a:tc>
                <a:extLst>
                  <a:ext uri="{0D108BD9-81ED-4DB2-BD59-A6C34878D82A}">
                    <a16:rowId xmlns:a16="http://schemas.microsoft.com/office/drawing/2014/main" val="3923689316"/>
                  </a:ext>
                </a:extLst>
              </a:tr>
            </a:tbl>
          </a:graphicData>
        </a:graphic>
      </p:graphicFrame>
      <p:sp>
        <p:nvSpPr>
          <p:cNvPr id="6" name="TextBox 5">
            <a:extLst>
              <a:ext uri="{FF2B5EF4-FFF2-40B4-BE49-F238E27FC236}">
                <a16:creationId xmlns:a16="http://schemas.microsoft.com/office/drawing/2014/main" id="{444370CE-5CFE-689D-1E76-E5A88A4D520F}"/>
              </a:ext>
            </a:extLst>
          </p:cNvPr>
          <p:cNvSpPr txBox="1"/>
          <p:nvPr/>
        </p:nvSpPr>
        <p:spPr>
          <a:xfrm>
            <a:off x="304800" y="228600"/>
            <a:ext cx="2910840" cy="461665"/>
          </a:xfrm>
          <a:prstGeom prst="rect">
            <a:avLst/>
          </a:prstGeom>
          <a:noFill/>
        </p:spPr>
        <p:txBody>
          <a:bodyPr wrap="square" rtlCol="0">
            <a:spAutoFit/>
          </a:bodyPr>
          <a:lstStyle/>
          <a:p>
            <a:r>
              <a:rPr lang="en-GB" sz="2400" b="1" dirty="0"/>
              <a:t>Project Overview</a:t>
            </a:r>
          </a:p>
        </p:txBody>
      </p:sp>
      <p:sp>
        <p:nvSpPr>
          <p:cNvPr id="2" name="Slide Number Placeholder 1">
            <a:extLst>
              <a:ext uri="{FF2B5EF4-FFF2-40B4-BE49-F238E27FC236}">
                <a16:creationId xmlns:a16="http://schemas.microsoft.com/office/drawing/2014/main" id="{4687B57A-86A8-823F-8D5F-B8CBEC22F113}"/>
              </a:ext>
            </a:extLst>
          </p:cNvPr>
          <p:cNvSpPr>
            <a:spLocks noGrp="1"/>
          </p:cNvSpPr>
          <p:nvPr>
            <p:ph type="sldNum" sz="quarter" idx="12"/>
          </p:nvPr>
        </p:nvSpPr>
        <p:spPr/>
        <p:txBody>
          <a:bodyPr/>
          <a:lstStyle/>
          <a:p>
            <a:fld id="{AAB2C436-2398-F34B-A706-69BC3409080B}" type="slidenum">
              <a:rPr lang="en-GB" smtClean="0"/>
              <a:t>2</a:t>
            </a:fld>
            <a:endParaRPr lang="en-GB"/>
          </a:p>
        </p:txBody>
      </p:sp>
      <p:sp>
        <p:nvSpPr>
          <p:cNvPr id="3" name="TextBox 2">
            <a:extLst>
              <a:ext uri="{FF2B5EF4-FFF2-40B4-BE49-F238E27FC236}">
                <a16:creationId xmlns:a16="http://schemas.microsoft.com/office/drawing/2014/main" id="{5F12DE16-6860-C793-1FF7-6407624BF127}"/>
              </a:ext>
            </a:extLst>
          </p:cNvPr>
          <p:cNvSpPr txBox="1"/>
          <p:nvPr/>
        </p:nvSpPr>
        <p:spPr>
          <a:xfrm>
            <a:off x="3583767" y="2418855"/>
            <a:ext cx="2050043" cy="369332"/>
          </a:xfrm>
          <a:prstGeom prst="rect">
            <a:avLst/>
          </a:prstGeom>
          <a:noFill/>
        </p:spPr>
        <p:txBody>
          <a:bodyPr wrap="square" rtlCol="0">
            <a:spAutoFit/>
          </a:bodyPr>
          <a:lstStyle/>
          <a:p>
            <a:r>
              <a:rPr lang="en-GB" b="1" dirty="0"/>
              <a:t>Dataset 1</a:t>
            </a:r>
          </a:p>
        </p:txBody>
      </p:sp>
      <p:sp>
        <p:nvSpPr>
          <p:cNvPr id="9" name="Right Brace 8">
            <a:extLst>
              <a:ext uri="{FF2B5EF4-FFF2-40B4-BE49-F238E27FC236}">
                <a16:creationId xmlns:a16="http://schemas.microsoft.com/office/drawing/2014/main" id="{76009989-525B-40BF-1AB0-CDAF891D0108}"/>
              </a:ext>
            </a:extLst>
          </p:cNvPr>
          <p:cNvSpPr/>
          <p:nvPr/>
        </p:nvSpPr>
        <p:spPr>
          <a:xfrm rot="16200000">
            <a:off x="4017083" y="2321868"/>
            <a:ext cx="195173" cy="1061805"/>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GB"/>
          </a:p>
        </p:txBody>
      </p:sp>
      <p:sp>
        <p:nvSpPr>
          <p:cNvPr id="12" name="TextBox 11">
            <a:extLst>
              <a:ext uri="{FF2B5EF4-FFF2-40B4-BE49-F238E27FC236}">
                <a16:creationId xmlns:a16="http://schemas.microsoft.com/office/drawing/2014/main" id="{4F904160-DE1A-BC93-AD61-8C874BDA9A56}"/>
              </a:ext>
            </a:extLst>
          </p:cNvPr>
          <p:cNvSpPr txBox="1"/>
          <p:nvPr/>
        </p:nvSpPr>
        <p:spPr>
          <a:xfrm>
            <a:off x="7181633" y="2417482"/>
            <a:ext cx="2050043" cy="369332"/>
          </a:xfrm>
          <a:prstGeom prst="rect">
            <a:avLst/>
          </a:prstGeom>
          <a:noFill/>
        </p:spPr>
        <p:txBody>
          <a:bodyPr wrap="square" rtlCol="0">
            <a:spAutoFit/>
          </a:bodyPr>
          <a:lstStyle/>
          <a:p>
            <a:r>
              <a:rPr lang="en-GB" b="1" dirty="0"/>
              <a:t>Dataset 2</a:t>
            </a:r>
          </a:p>
        </p:txBody>
      </p:sp>
      <p:sp>
        <p:nvSpPr>
          <p:cNvPr id="13" name="Right Brace 12">
            <a:extLst>
              <a:ext uri="{FF2B5EF4-FFF2-40B4-BE49-F238E27FC236}">
                <a16:creationId xmlns:a16="http://schemas.microsoft.com/office/drawing/2014/main" id="{A0122E9B-FA19-4CF4-B1A4-EE33979D3AE9}"/>
              </a:ext>
            </a:extLst>
          </p:cNvPr>
          <p:cNvSpPr/>
          <p:nvPr/>
        </p:nvSpPr>
        <p:spPr>
          <a:xfrm rot="16200000">
            <a:off x="7617139" y="771854"/>
            <a:ext cx="195174" cy="4161831"/>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608670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286E5-FB24-01A1-7F7A-D3357D5FD9F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6114825-89D4-D613-87F8-2E0B13383465}"/>
              </a:ext>
            </a:extLst>
          </p:cNvPr>
          <p:cNvPicPr>
            <a:picLocks noChangeAspect="1"/>
          </p:cNvPicPr>
          <p:nvPr/>
        </p:nvPicPr>
        <p:blipFill>
          <a:blip r:embed="rId3"/>
          <a:srcRect l="980" r="387"/>
          <a:stretch>
            <a:fillRect/>
          </a:stretch>
        </p:blipFill>
        <p:spPr>
          <a:xfrm>
            <a:off x="691256" y="1142360"/>
            <a:ext cx="10767319" cy="5324475"/>
          </a:xfrm>
          <a:prstGeom prst="rect">
            <a:avLst/>
          </a:prstGeom>
        </p:spPr>
      </p:pic>
      <p:sp>
        <p:nvSpPr>
          <p:cNvPr id="6" name="Oval 5">
            <a:extLst>
              <a:ext uri="{FF2B5EF4-FFF2-40B4-BE49-F238E27FC236}">
                <a16:creationId xmlns:a16="http://schemas.microsoft.com/office/drawing/2014/main" id="{CE7D51B8-CC1E-CBE7-B0B3-11930DEACBBA}"/>
              </a:ext>
            </a:extLst>
          </p:cNvPr>
          <p:cNvSpPr/>
          <p:nvPr/>
        </p:nvSpPr>
        <p:spPr>
          <a:xfrm>
            <a:off x="774526" y="963280"/>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7" name="Oval 6">
            <a:extLst>
              <a:ext uri="{FF2B5EF4-FFF2-40B4-BE49-F238E27FC236}">
                <a16:creationId xmlns:a16="http://schemas.microsoft.com/office/drawing/2014/main" id="{333CF72E-4AFC-8015-1CE2-DDCF11FD9E13}"/>
              </a:ext>
            </a:extLst>
          </p:cNvPr>
          <p:cNvSpPr/>
          <p:nvPr/>
        </p:nvSpPr>
        <p:spPr>
          <a:xfrm>
            <a:off x="3842451" y="963280"/>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8" name="Oval 7">
            <a:extLst>
              <a:ext uri="{FF2B5EF4-FFF2-40B4-BE49-F238E27FC236}">
                <a16:creationId xmlns:a16="http://schemas.microsoft.com/office/drawing/2014/main" id="{B5EAFEB1-07D8-B05F-5CE0-44B99D3F3C6E}"/>
              </a:ext>
            </a:extLst>
          </p:cNvPr>
          <p:cNvSpPr/>
          <p:nvPr/>
        </p:nvSpPr>
        <p:spPr>
          <a:xfrm>
            <a:off x="5892296" y="804032"/>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9" name="Oval 8">
            <a:extLst>
              <a:ext uri="{FF2B5EF4-FFF2-40B4-BE49-F238E27FC236}">
                <a16:creationId xmlns:a16="http://schemas.microsoft.com/office/drawing/2014/main" id="{C690B2A6-9AD2-62B3-17EE-9F884C085D3D}"/>
              </a:ext>
            </a:extLst>
          </p:cNvPr>
          <p:cNvSpPr/>
          <p:nvPr/>
        </p:nvSpPr>
        <p:spPr>
          <a:xfrm>
            <a:off x="8805581" y="804032"/>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4</a:t>
            </a:r>
          </a:p>
        </p:txBody>
      </p:sp>
      <p:pic>
        <p:nvPicPr>
          <p:cNvPr id="10" name="Graphic 9" descr="Close outline">
            <a:extLst>
              <a:ext uri="{FF2B5EF4-FFF2-40B4-BE49-F238E27FC236}">
                <a16:creationId xmlns:a16="http://schemas.microsoft.com/office/drawing/2014/main" id="{EABFA430-8485-59AC-4A08-72B44C739E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0236" y="2976274"/>
            <a:ext cx="905452" cy="905452"/>
          </a:xfrm>
          <a:prstGeom prst="rect">
            <a:avLst/>
          </a:prstGeom>
        </p:spPr>
      </p:pic>
      <p:pic>
        <p:nvPicPr>
          <p:cNvPr id="11" name="Graphic 10" descr="Close outline">
            <a:extLst>
              <a:ext uri="{FF2B5EF4-FFF2-40B4-BE49-F238E27FC236}">
                <a16:creationId xmlns:a16="http://schemas.microsoft.com/office/drawing/2014/main" id="{B75575C8-1B0A-6BC1-DB3E-AD04F1252B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0236" y="1624295"/>
            <a:ext cx="905452" cy="905452"/>
          </a:xfrm>
          <a:prstGeom prst="rect">
            <a:avLst/>
          </a:prstGeom>
        </p:spPr>
      </p:pic>
      <p:pic>
        <p:nvPicPr>
          <p:cNvPr id="12" name="Graphic 11" descr="Close with solid fill">
            <a:extLst>
              <a:ext uri="{FF2B5EF4-FFF2-40B4-BE49-F238E27FC236}">
                <a16:creationId xmlns:a16="http://schemas.microsoft.com/office/drawing/2014/main" id="{D1397304-EE8E-02CD-FAD8-492E1B07E85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55831" y="2571426"/>
            <a:ext cx="354031" cy="354031"/>
          </a:xfrm>
          <a:prstGeom prst="rect">
            <a:avLst/>
          </a:prstGeom>
        </p:spPr>
      </p:pic>
      <p:pic>
        <p:nvPicPr>
          <p:cNvPr id="13" name="Graphic 12" descr="Close with solid fill">
            <a:extLst>
              <a:ext uri="{FF2B5EF4-FFF2-40B4-BE49-F238E27FC236}">
                <a16:creationId xmlns:a16="http://schemas.microsoft.com/office/drawing/2014/main" id="{D7C48334-BAB4-8F07-A05B-A7A2D5D4D93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20787" y="3018294"/>
            <a:ext cx="354031" cy="354031"/>
          </a:xfrm>
          <a:prstGeom prst="rect">
            <a:avLst/>
          </a:prstGeom>
        </p:spPr>
      </p:pic>
      <p:pic>
        <p:nvPicPr>
          <p:cNvPr id="14" name="Graphic 13" descr="Close with solid fill">
            <a:extLst>
              <a:ext uri="{FF2B5EF4-FFF2-40B4-BE49-F238E27FC236}">
                <a16:creationId xmlns:a16="http://schemas.microsoft.com/office/drawing/2014/main" id="{E9771703-FAE2-71EC-663D-5C270B4285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990308" y="2748441"/>
            <a:ext cx="354031" cy="354031"/>
          </a:xfrm>
          <a:prstGeom prst="rect">
            <a:avLst/>
          </a:prstGeom>
        </p:spPr>
      </p:pic>
      <p:sp>
        <p:nvSpPr>
          <p:cNvPr id="15" name="TextBox 14">
            <a:extLst>
              <a:ext uri="{FF2B5EF4-FFF2-40B4-BE49-F238E27FC236}">
                <a16:creationId xmlns:a16="http://schemas.microsoft.com/office/drawing/2014/main" id="{9B8A9FF6-2828-98EB-8489-19A3F691A183}"/>
              </a:ext>
            </a:extLst>
          </p:cNvPr>
          <p:cNvSpPr txBox="1"/>
          <p:nvPr/>
        </p:nvSpPr>
        <p:spPr>
          <a:xfrm>
            <a:off x="1183087" y="982895"/>
            <a:ext cx="2089488" cy="369332"/>
          </a:xfrm>
          <a:prstGeom prst="rect">
            <a:avLst/>
          </a:prstGeom>
          <a:noFill/>
        </p:spPr>
        <p:txBody>
          <a:bodyPr wrap="square" rtlCol="0">
            <a:spAutoFit/>
          </a:bodyPr>
          <a:lstStyle/>
          <a:p>
            <a:r>
              <a:rPr lang="en-GB" dirty="0"/>
              <a:t>Allergen exposure</a:t>
            </a:r>
          </a:p>
        </p:txBody>
      </p:sp>
      <p:sp>
        <p:nvSpPr>
          <p:cNvPr id="16" name="TextBox 15">
            <a:extLst>
              <a:ext uri="{FF2B5EF4-FFF2-40B4-BE49-F238E27FC236}">
                <a16:creationId xmlns:a16="http://schemas.microsoft.com/office/drawing/2014/main" id="{ED432AA1-D1A3-67BE-D7DE-26FE96D16317}"/>
              </a:ext>
            </a:extLst>
          </p:cNvPr>
          <p:cNvSpPr txBox="1"/>
          <p:nvPr/>
        </p:nvSpPr>
        <p:spPr>
          <a:xfrm>
            <a:off x="4283796" y="982895"/>
            <a:ext cx="1090303" cy="369332"/>
          </a:xfrm>
          <a:prstGeom prst="rect">
            <a:avLst/>
          </a:prstGeom>
          <a:noFill/>
        </p:spPr>
        <p:txBody>
          <a:bodyPr wrap="square" rtlCol="0">
            <a:spAutoFit/>
          </a:bodyPr>
          <a:lstStyle/>
          <a:p>
            <a:r>
              <a:rPr lang="en-GB" dirty="0"/>
              <a:t>EV cargo</a:t>
            </a:r>
          </a:p>
        </p:txBody>
      </p:sp>
      <p:sp>
        <p:nvSpPr>
          <p:cNvPr id="17" name="TextBox 16">
            <a:extLst>
              <a:ext uri="{FF2B5EF4-FFF2-40B4-BE49-F238E27FC236}">
                <a16:creationId xmlns:a16="http://schemas.microsoft.com/office/drawing/2014/main" id="{3C9BEDDE-B30D-3633-7513-82D8C15B55BC}"/>
              </a:ext>
            </a:extLst>
          </p:cNvPr>
          <p:cNvSpPr txBox="1"/>
          <p:nvPr/>
        </p:nvSpPr>
        <p:spPr>
          <a:xfrm>
            <a:off x="6299705" y="823647"/>
            <a:ext cx="2076034" cy="369332"/>
          </a:xfrm>
          <a:prstGeom prst="rect">
            <a:avLst/>
          </a:prstGeom>
          <a:noFill/>
        </p:spPr>
        <p:txBody>
          <a:bodyPr wrap="square" rtlCol="0">
            <a:spAutoFit/>
          </a:bodyPr>
          <a:lstStyle/>
          <a:p>
            <a:r>
              <a:rPr lang="en-GB" dirty="0"/>
              <a:t>Gene suppression</a:t>
            </a:r>
          </a:p>
        </p:txBody>
      </p:sp>
      <p:sp>
        <p:nvSpPr>
          <p:cNvPr id="18" name="TextBox 17">
            <a:extLst>
              <a:ext uri="{FF2B5EF4-FFF2-40B4-BE49-F238E27FC236}">
                <a16:creationId xmlns:a16="http://schemas.microsoft.com/office/drawing/2014/main" id="{9C7D6C48-5D77-45B3-83F8-F9B4A4DDD758}"/>
              </a:ext>
            </a:extLst>
          </p:cNvPr>
          <p:cNvSpPr txBox="1"/>
          <p:nvPr/>
        </p:nvSpPr>
        <p:spPr>
          <a:xfrm>
            <a:off x="9226594" y="823647"/>
            <a:ext cx="2274150" cy="369332"/>
          </a:xfrm>
          <a:prstGeom prst="rect">
            <a:avLst/>
          </a:prstGeom>
          <a:noFill/>
        </p:spPr>
        <p:txBody>
          <a:bodyPr wrap="square" rtlCol="0">
            <a:spAutoFit/>
          </a:bodyPr>
          <a:lstStyle/>
          <a:p>
            <a:r>
              <a:rPr lang="en-GB" dirty="0"/>
              <a:t>Pathway disruption</a:t>
            </a:r>
          </a:p>
        </p:txBody>
      </p:sp>
      <p:sp>
        <p:nvSpPr>
          <p:cNvPr id="19" name="TextBox 18">
            <a:extLst>
              <a:ext uri="{FF2B5EF4-FFF2-40B4-BE49-F238E27FC236}">
                <a16:creationId xmlns:a16="http://schemas.microsoft.com/office/drawing/2014/main" id="{3E0F89B0-FF43-A3F8-3A2A-787C188AC797}"/>
              </a:ext>
            </a:extLst>
          </p:cNvPr>
          <p:cNvSpPr txBox="1"/>
          <p:nvPr/>
        </p:nvSpPr>
        <p:spPr>
          <a:xfrm>
            <a:off x="304800" y="228600"/>
            <a:ext cx="2910840" cy="461665"/>
          </a:xfrm>
          <a:prstGeom prst="rect">
            <a:avLst/>
          </a:prstGeom>
          <a:noFill/>
        </p:spPr>
        <p:txBody>
          <a:bodyPr wrap="square" rtlCol="0">
            <a:spAutoFit/>
          </a:bodyPr>
          <a:lstStyle/>
          <a:p>
            <a:r>
              <a:rPr lang="en-GB" sz="2400" b="1" dirty="0"/>
              <a:t>Background</a:t>
            </a:r>
          </a:p>
        </p:txBody>
      </p:sp>
      <p:sp>
        <p:nvSpPr>
          <p:cNvPr id="20" name="TextBox 19">
            <a:extLst>
              <a:ext uri="{FF2B5EF4-FFF2-40B4-BE49-F238E27FC236}">
                <a16:creationId xmlns:a16="http://schemas.microsoft.com/office/drawing/2014/main" id="{CA14A2CC-D092-7756-DE28-191D851704E1}"/>
              </a:ext>
            </a:extLst>
          </p:cNvPr>
          <p:cNvSpPr txBox="1"/>
          <p:nvPr/>
        </p:nvSpPr>
        <p:spPr>
          <a:xfrm>
            <a:off x="691256" y="6466835"/>
            <a:ext cx="6907279" cy="246221"/>
          </a:xfrm>
          <a:prstGeom prst="rect">
            <a:avLst/>
          </a:prstGeom>
          <a:noFill/>
        </p:spPr>
        <p:txBody>
          <a:bodyPr wrap="square" rtlCol="0">
            <a:spAutoFit/>
          </a:bodyPr>
          <a:lstStyle/>
          <a:p>
            <a:r>
              <a:rPr lang="en-GB" sz="1000" dirty="0"/>
              <a:t>Figure created in </a:t>
            </a:r>
            <a:r>
              <a:rPr lang="en-GB" sz="1000" dirty="0" err="1"/>
              <a:t>BioRender</a:t>
            </a:r>
            <a:r>
              <a:rPr lang="en-GB" sz="1000" dirty="0"/>
              <a:t>: https://</a:t>
            </a:r>
            <a:r>
              <a:rPr lang="en-GB" sz="1000" dirty="0" err="1"/>
              <a:t>BioRender.com</a:t>
            </a:r>
            <a:r>
              <a:rPr lang="en-GB" sz="1000" dirty="0">
                <a:effectLst/>
              </a:rPr>
              <a:t> </a:t>
            </a:r>
            <a:endParaRPr lang="en-GB" sz="1000" dirty="0"/>
          </a:p>
        </p:txBody>
      </p:sp>
      <p:sp>
        <p:nvSpPr>
          <p:cNvPr id="21" name="Rectangle 20">
            <a:extLst>
              <a:ext uri="{FF2B5EF4-FFF2-40B4-BE49-F238E27FC236}">
                <a16:creationId xmlns:a16="http://schemas.microsoft.com/office/drawing/2014/main" id="{AC0485BD-8C49-D99B-7E3A-AC68C7285CFB}"/>
              </a:ext>
            </a:extLst>
          </p:cNvPr>
          <p:cNvSpPr/>
          <p:nvPr/>
        </p:nvSpPr>
        <p:spPr>
          <a:xfrm>
            <a:off x="548640" y="4572000"/>
            <a:ext cx="10952104" cy="18948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Picture 21">
            <a:extLst>
              <a:ext uri="{FF2B5EF4-FFF2-40B4-BE49-F238E27FC236}">
                <a16:creationId xmlns:a16="http://schemas.microsoft.com/office/drawing/2014/main" id="{FB9B9E9D-29EE-A04A-FD04-75DFB646063D}"/>
              </a:ext>
            </a:extLst>
          </p:cNvPr>
          <p:cNvPicPr>
            <a:picLocks noChangeAspect="1"/>
          </p:cNvPicPr>
          <p:nvPr/>
        </p:nvPicPr>
        <p:blipFill>
          <a:blip r:embed="rId6"/>
          <a:srcRect l="11203" t="12139" r="4305" b="36156"/>
          <a:stretch>
            <a:fillRect/>
          </a:stretch>
        </p:blipFill>
        <p:spPr>
          <a:xfrm>
            <a:off x="649087" y="4506723"/>
            <a:ext cx="5446914" cy="1960112"/>
          </a:xfrm>
          <a:prstGeom prst="rect">
            <a:avLst/>
          </a:prstGeom>
        </p:spPr>
      </p:pic>
      <p:sp>
        <p:nvSpPr>
          <p:cNvPr id="2" name="Rectangle 1">
            <a:extLst>
              <a:ext uri="{FF2B5EF4-FFF2-40B4-BE49-F238E27FC236}">
                <a16:creationId xmlns:a16="http://schemas.microsoft.com/office/drawing/2014/main" id="{D02BC71E-02D8-E867-2B22-63DCBD262E73}"/>
              </a:ext>
            </a:extLst>
          </p:cNvPr>
          <p:cNvSpPr/>
          <p:nvPr/>
        </p:nvSpPr>
        <p:spPr>
          <a:xfrm>
            <a:off x="5892296" y="532015"/>
            <a:ext cx="5778773" cy="36742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0DA9B12B-333E-13C1-05C1-5EEB4215B27B}"/>
              </a:ext>
            </a:extLst>
          </p:cNvPr>
          <p:cNvPicPr>
            <a:picLocks noChangeAspect="1"/>
          </p:cNvPicPr>
          <p:nvPr/>
        </p:nvPicPr>
        <p:blipFill rotWithShape="1">
          <a:blip r:embed="rId7"/>
          <a:srcRect l="9785" t="2966" r="13489" b="6566"/>
          <a:stretch>
            <a:fillRect/>
          </a:stretch>
        </p:blipFill>
        <p:spPr>
          <a:xfrm>
            <a:off x="6180483" y="1531091"/>
            <a:ext cx="5963556" cy="3429640"/>
          </a:xfrm>
          <a:prstGeom prst="rect">
            <a:avLst/>
          </a:prstGeom>
        </p:spPr>
      </p:pic>
      <p:sp>
        <p:nvSpPr>
          <p:cNvPr id="23" name="Oval 22">
            <a:extLst>
              <a:ext uri="{FF2B5EF4-FFF2-40B4-BE49-F238E27FC236}">
                <a16:creationId xmlns:a16="http://schemas.microsoft.com/office/drawing/2014/main" id="{D5AA484B-3BAE-23EB-1029-EE3189AAD3E5}"/>
              </a:ext>
            </a:extLst>
          </p:cNvPr>
          <p:cNvSpPr/>
          <p:nvPr/>
        </p:nvSpPr>
        <p:spPr>
          <a:xfrm>
            <a:off x="6044696" y="963280"/>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24" name="Oval 23">
            <a:extLst>
              <a:ext uri="{FF2B5EF4-FFF2-40B4-BE49-F238E27FC236}">
                <a16:creationId xmlns:a16="http://schemas.microsoft.com/office/drawing/2014/main" id="{784A6F41-AF41-65B7-BDD0-C497E4DE14B0}"/>
              </a:ext>
            </a:extLst>
          </p:cNvPr>
          <p:cNvSpPr/>
          <p:nvPr/>
        </p:nvSpPr>
        <p:spPr>
          <a:xfrm>
            <a:off x="8957981" y="963280"/>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4</a:t>
            </a:r>
          </a:p>
        </p:txBody>
      </p:sp>
      <p:sp>
        <p:nvSpPr>
          <p:cNvPr id="25" name="TextBox 24">
            <a:extLst>
              <a:ext uri="{FF2B5EF4-FFF2-40B4-BE49-F238E27FC236}">
                <a16:creationId xmlns:a16="http://schemas.microsoft.com/office/drawing/2014/main" id="{B9423755-F455-8FF6-A1C8-6A3080688E1E}"/>
              </a:ext>
            </a:extLst>
          </p:cNvPr>
          <p:cNvSpPr txBox="1"/>
          <p:nvPr/>
        </p:nvSpPr>
        <p:spPr>
          <a:xfrm>
            <a:off x="6452105" y="982895"/>
            <a:ext cx="2076034" cy="369332"/>
          </a:xfrm>
          <a:prstGeom prst="rect">
            <a:avLst/>
          </a:prstGeom>
          <a:noFill/>
        </p:spPr>
        <p:txBody>
          <a:bodyPr wrap="square" rtlCol="0">
            <a:spAutoFit/>
          </a:bodyPr>
          <a:lstStyle/>
          <a:p>
            <a:r>
              <a:rPr lang="en-GB" dirty="0"/>
              <a:t>Gene suppression</a:t>
            </a:r>
          </a:p>
        </p:txBody>
      </p:sp>
      <p:sp>
        <p:nvSpPr>
          <p:cNvPr id="26" name="TextBox 25">
            <a:extLst>
              <a:ext uri="{FF2B5EF4-FFF2-40B4-BE49-F238E27FC236}">
                <a16:creationId xmlns:a16="http://schemas.microsoft.com/office/drawing/2014/main" id="{BC6F3FB3-2521-3221-E8D1-DCE5FF6A9611}"/>
              </a:ext>
            </a:extLst>
          </p:cNvPr>
          <p:cNvSpPr txBox="1"/>
          <p:nvPr/>
        </p:nvSpPr>
        <p:spPr>
          <a:xfrm>
            <a:off x="9378994" y="982895"/>
            <a:ext cx="2274150" cy="369332"/>
          </a:xfrm>
          <a:prstGeom prst="rect">
            <a:avLst/>
          </a:prstGeom>
          <a:noFill/>
        </p:spPr>
        <p:txBody>
          <a:bodyPr wrap="square" rtlCol="0">
            <a:spAutoFit/>
          </a:bodyPr>
          <a:lstStyle/>
          <a:p>
            <a:r>
              <a:rPr lang="en-GB" dirty="0"/>
              <a:t>Pathway disruption</a:t>
            </a:r>
          </a:p>
        </p:txBody>
      </p:sp>
      <p:pic>
        <p:nvPicPr>
          <p:cNvPr id="27" name="Graphic 26" descr="Close outline">
            <a:extLst>
              <a:ext uri="{FF2B5EF4-FFF2-40B4-BE49-F238E27FC236}">
                <a16:creationId xmlns:a16="http://schemas.microsoft.com/office/drawing/2014/main" id="{2B357205-17E6-3AAD-1E95-1C4C774E57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46483" y="2070822"/>
            <a:ext cx="905452" cy="905452"/>
          </a:xfrm>
          <a:prstGeom prst="rect">
            <a:avLst/>
          </a:prstGeom>
        </p:spPr>
      </p:pic>
      <p:pic>
        <p:nvPicPr>
          <p:cNvPr id="28" name="Graphic 27" descr="Close outline">
            <a:extLst>
              <a:ext uri="{FF2B5EF4-FFF2-40B4-BE49-F238E27FC236}">
                <a16:creationId xmlns:a16="http://schemas.microsoft.com/office/drawing/2014/main" id="{CCA0DBC9-E100-A5A5-5640-C4B564B8E4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46483" y="3678034"/>
            <a:ext cx="905452" cy="905452"/>
          </a:xfrm>
          <a:prstGeom prst="rect">
            <a:avLst/>
          </a:prstGeom>
        </p:spPr>
      </p:pic>
      <p:pic>
        <p:nvPicPr>
          <p:cNvPr id="29" name="Graphic 28" descr="Close with solid fill">
            <a:extLst>
              <a:ext uri="{FF2B5EF4-FFF2-40B4-BE49-F238E27FC236}">
                <a16:creationId xmlns:a16="http://schemas.microsoft.com/office/drawing/2014/main" id="{CCEAA365-9CA5-172C-5971-942E8B15B9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70327" y="3130866"/>
            <a:ext cx="354031" cy="354031"/>
          </a:xfrm>
          <a:prstGeom prst="rect">
            <a:avLst/>
          </a:prstGeom>
        </p:spPr>
      </p:pic>
      <p:pic>
        <p:nvPicPr>
          <p:cNvPr id="30" name="Graphic 29" descr="Close with solid fill">
            <a:extLst>
              <a:ext uri="{FF2B5EF4-FFF2-40B4-BE49-F238E27FC236}">
                <a16:creationId xmlns:a16="http://schemas.microsoft.com/office/drawing/2014/main" id="{0970A991-9714-FF57-0C54-AE9D489B83C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39053" y="3678034"/>
            <a:ext cx="354031" cy="354031"/>
          </a:xfrm>
          <a:prstGeom prst="rect">
            <a:avLst/>
          </a:prstGeom>
        </p:spPr>
      </p:pic>
      <p:pic>
        <p:nvPicPr>
          <p:cNvPr id="31" name="Graphic 30" descr="Close with solid fill">
            <a:extLst>
              <a:ext uri="{FF2B5EF4-FFF2-40B4-BE49-F238E27FC236}">
                <a16:creationId xmlns:a16="http://schemas.microsoft.com/office/drawing/2014/main" id="{6677D165-8101-7FA9-D917-5ACA443AA9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689304" y="3324003"/>
            <a:ext cx="354031" cy="354031"/>
          </a:xfrm>
          <a:prstGeom prst="rect">
            <a:avLst/>
          </a:prstGeom>
        </p:spPr>
      </p:pic>
      <p:sp>
        <p:nvSpPr>
          <p:cNvPr id="32" name="TextBox 31">
            <a:extLst>
              <a:ext uri="{FF2B5EF4-FFF2-40B4-BE49-F238E27FC236}">
                <a16:creationId xmlns:a16="http://schemas.microsoft.com/office/drawing/2014/main" id="{3B374FB4-3336-7B75-0170-22181B14FBEF}"/>
              </a:ext>
            </a:extLst>
          </p:cNvPr>
          <p:cNvSpPr txBox="1"/>
          <p:nvPr/>
        </p:nvSpPr>
        <p:spPr>
          <a:xfrm>
            <a:off x="5958922" y="5244673"/>
            <a:ext cx="1334672" cy="830997"/>
          </a:xfrm>
          <a:prstGeom prst="rect">
            <a:avLst/>
          </a:prstGeom>
          <a:noFill/>
        </p:spPr>
        <p:txBody>
          <a:bodyPr wrap="square" rtlCol="0">
            <a:spAutoFit/>
          </a:bodyPr>
          <a:lstStyle/>
          <a:p>
            <a:r>
              <a:rPr lang="en-GB" sz="1600" dirty="0"/>
              <a:t>Airway</a:t>
            </a:r>
          </a:p>
          <a:p>
            <a:r>
              <a:rPr lang="en-GB" sz="1600" dirty="0"/>
              <a:t>Epithelial Barrier</a:t>
            </a:r>
          </a:p>
        </p:txBody>
      </p:sp>
      <p:sp>
        <p:nvSpPr>
          <p:cNvPr id="33" name="TextBox 32">
            <a:extLst>
              <a:ext uri="{FF2B5EF4-FFF2-40B4-BE49-F238E27FC236}">
                <a16:creationId xmlns:a16="http://schemas.microsoft.com/office/drawing/2014/main" id="{1DC72CC7-192C-9D16-1039-0BF8B761DABA}"/>
              </a:ext>
            </a:extLst>
          </p:cNvPr>
          <p:cNvSpPr txBox="1"/>
          <p:nvPr/>
        </p:nvSpPr>
        <p:spPr>
          <a:xfrm>
            <a:off x="4141917" y="2102840"/>
            <a:ext cx="408561" cy="230832"/>
          </a:xfrm>
          <a:prstGeom prst="rect">
            <a:avLst/>
          </a:prstGeom>
          <a:noFill/>
        </p:spPr>
        <p:txBody>
          <a:bodyPr wrap="square" rtlCol="0">
            <a:spAutoFit/>
          </a:bodyPr>
          <a:lstStyle/>
          <a:p>
            <a:r>
              <a:rPr lang="en-GB" sz="900" dirty="0"/>
              <a:t>EV</a:t>
            </a:r>
          </a:p>
        </p:txBody>
      </p:sp>
      <p:pic>
        <p:nvPicPr>
          <p:cNvPr id="37" name="Picture 36">
            <a:extLst>
              <a:ext uri="{FF2B5EF4-FFF2-40B4-BE49-F238E27FC236}">
                <a16:creationId xmlns:a16="http://schemas.microsoft.com/office/drawing/2014/main" id="{90F1EB2E-FFDE-420D-58CA-F7A441E78321}"/>
              </a:ext>
            </a:extLst>
          </p:cNvPr>
          <p:cNvPicPr>
            <a:picLocks noChangeAspect="1"/>
          </p:cNvPicPr>
          <p:nvPr/>
        </p:nvPicPr>
        <p:blipFill>
          <a:blip r:embed="rId8"/>
          <a:stretch>
            <a:fillRect/>
          </a:stretch>
        </p:blipFill>
        <p:spPr>
          <a:xfrm>
            <a:off x="3818807" y="1650358"/>
            <a:ext cx="447868" cy="395014"/>
          </a:xfrm>
          <a:prstGeom prst="rect">
            <a:avLst/>
          </a:prstGeom>
        </p:spPr>
      </p:pic>
      <p:sp>
        <p:nvSpPr>
          <p:cNvPr id="38" name="TextBox 37">
            <a:extLst>
              <a:ext uri="{FF2B5EF4-FFF2-40B4-BE49-F238E27FC236}">
                <a16:creationId xmlns:a16="http://schemas.microsoft.com/office/drawing/2014/main" id="{A048A9BA-2A19-4BB9-29A7-AE309C1EAEC5}"/>
              </a:ext>
            </a:extLst>
          </p:cNvPr>
          <p:cNvSpPr txBox="1"/>
          <p:nvPr/>
        </p:nvSpPr>
        <p:spPr>
          <a:xfrm>
            <a:off x="4073406" y="1717987"/>
            <a:ext cx="599033" cy="230832"/>
          </a:xfrm>
          <a:prstGeom prst="rect">
            <a:avLst/>
          </a:prstGeom>
          <a:noFill/>
        </p:spPr>
        <p:txBody>
          <a:bodyPr wrap="square" rtlCol="0">
            <a:spAutoFit/>
          </a:bodyPr>
          <a:lstStyle/>
          <a:p>
            <a:r>
              <a:rPr lang="en-GB" sz="900" dirty="0"/>
              <a:t>miRNA</a:t>
            </a:r>
          </a:p>
        </p:txBody>
      </p:sp>
      <p:pic>
        <p:nvPicPr>
          <p:cNvPr id="39" name="Picture 38">
            <a:extLst>
              <a:ext uri="{FF2B5EF4-FFF2-40B4-BE49-F238E27FC236}">
                <a16:creationId xmlns:a16="http://schemas.microsoft.com/office/drawing/2014/main" id="{B3E008B1-06A8-A19C-E799-9FA010110416}"/>
              </a:ext>
            </a:extLst>
          </p:cNvPr>
          <p:cNvPicPr>
            <a:picLocks noChangeAspect="1"/>
          </p:cNvPicPr>
          <p:nvPr/>
        </p:nvPicPr>
        <p:blipFill>
          <a:blip r:embed="rId9"/>
          <a:stretch>
            <a:fillRect/>
          </a:stretch>
        </p:blipFill>
        <p:spPr>
          <a:xfrm>
            <a:off x="3789559" y="2023689"/>
            <a:ext cx="416529" cy="395014"/>
          </a:xfrm>
          <a:prstGeom prst="rect">
            <a:avLst/>
          </a:prstGeom>
        </p:spPr>
      </p:pic>
      <p:sp>
        <p:nvSpPr>
          <p:cNvPr id="5" name="Slide Number Placeholder 4">
            <a:extLst>
              <a:ext uri="{FF2B5EF4-FFF2-40B4-BE49-F238E27FC236}">
                <a16:creationId xmlns:a16="http://schemas.microsoft.com/office/drawing/2014/main" id="{61ECCC7C-AFBC-E578-96EF-6AE311A35CF6}"/>
              </a:ext>
            </a:extLst>
          </p:cNvPr>
          <p:cNvSpPr>
            <a:spLocks noGrp="1"/>
          </p:cNvSpPr>
          <p:nvPr>
            <p:ph type="sldNum" sz="quarter" idx="12"/>
          </p:nvPr>
        </p:nvSpPr>
        <p:spPr/>
        <p:txBody>
          <a:bodyPr/>
          <a:lstStyle/>
          <a:p>
            <a:fld id="{AAB2C436-2398-F34B-A706-69BC3409080B}" type="slidenum">
              <a:rPr lang="en-GB" smtClean="0"/>
              <a:t>3</a:t>
            </a:fld>
            <a:endParaRPr lang="en-GB"/>
          </a:p>
        </p:txBody>
      </p:sp>
    </p:spTree>
    <p:extLst>
      <p:ext uri="{BB962C8B-B14F-4D97-AF65-F5344CB8AC3E}">
        <p14:creationId xmlns:p14="http://schemas.microsoft.com/office/powerpoint/2010/main" val="3780529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488D2-229E-A853-CBAB-0B7999A9892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EC206A8-B28D-E92A-1AE6-0E18061AABCE}"/>
              </a:ext>
            </a:extLst>
          </p:cNvPr>
          <p:cNvPicPr>
            <a:picLocks noChangeAspect="1"/>
          </p:cNvPicPr>
          <p:nvPr/>
        </p:nvPicPr>
        <p:blipFill>
          <a:blip r:embed="rId3"/>
          <a:srcRect l="31503" t="11725" b="63132"/>
          <a:stretch>
            <a:fillRect/>
          </a:stretch>
        </p:blipFill>
        <p:spPr>
          <a:xfrm rot="5400000">
            <a:off x="5724685" y="4609844"/>
            <a:ext cx="2209574" cy="645026"/>
          </a:xfrm>
          <a:prstGeom prst="rect">
            <a:avLst/>
          </a:prstGeom>
        </p:spPr>
      </p:pic>
      <p:pic>
        <p:nvPicPr>
          <p:cNvPr id="5" name="Picture 4">
            <a:extLst>
              <a:ext uri="{FF2B5EF4-FFF2-40B4-BE49-F238E27FC236}">
                <a16:creationId xmlns:a16="http://schemas.microsoft.com/office/drawing/2014/main" id="{7F5DFBE1-12AD-B971-1951-03F7FFA0B356}"/>
              </a:ext>
            </a:extLst>
          </p:cNvPr>
          <p:cNvPicPr>
            <a:picLocks noChangeAspect="1"/>
          </p:cNvPicPr>
          <p:nvPr/>
        </p:nvPicPr>
        <p:blipFill>
          <a:blip r:embed="rId3"/>
          <a:srcRect l="31503" t="11725" b="63132"/>
          <a:stretch>
            <a:fillRect/>
          </a:stretch>
        </p:blipFill>
        <p:spPr>
          <a:xfrm rot="16200000">
            <a:off x="5544501" y="1501823"/>
            <a:ext cx="2209574" cy="645026"/>
          </a:xfrm>
          <a:prstGeom prst="rect">
            <a:avLst/>
          </a:prstGeom>
        </p:spPr>
      </p:pic>
      <p:pic>
        <p:nvPicPr>
          <p:cNvPr id="15" name="Picture 14">
            <a:extLst>
              <a:ext uri="{FF2B5EF4-FFF2-40B4-BE49-F238E27FC236}">
                <a16:creationId xmlns:a16="http://schemas.microsoft.com/office/drawing/2014/main" id="{DFCC2920-8374-5190-204D-DDAE5143CF7F}"/>
              </a:ext>
            </a:extLst>
          </p:cNvPr>
          <p:cNvPicPr>
            <a:picLocks noChangeAspect="1"/>
          </p:cNvPicPr>
          <p:nvPr/>
        </p:nvPicPr>
        <p:blipFill>
          <a:blip r:embed="rId4"/>
          <a:stretch>
            <a:fillRect/>
          </a:stretch>
        </p:blipFill>
        <p:spPr>
          <a:xfrm>
            <a:off x="5180837" y="2313589"/>
            <a:ext cx="3079405" cy="2052937"/>
          </a:xfrm>
          <a:prstGeom prst="rect">
            <a:avLst/>
          </a:prstGeom>
        </p:spPr>
      </p:pic>
      <p:pic>
        <p:nvPicPr>
          <p:cNvPr id="20" name="Picture 19">
            <a:extLst>
              <a:ext uri="{FF2B5EF4-FFF2-40B4-BE49-F238E27FC236}">
                <a16:creationId xmlns:a16="http://schemas.microsoft.com/office/drawing/2014/main" id="{9CF84626-5020-A713-5A8C-9B33BECEB9FD}"/>
              </a:ext>
            </a:extLst>
          </p:cNvPr>
          <p:cNvPicPr>
            <a:picLocks noChangeAspect="1"/>
          </p:cNvPicPr>
          <p:nvPr/>
        </p:nvPicPr>
        <p:blipFill>
          <a:blip r:embed="rId5"/>
          <a:srcRect l="5686" t="39488" r="50915" b="48718"/>
          <a:stretch>
            <a:fillRect/>
          </a:stretch>
        </p:blipFill>
        <p:spPr>
          <a:xfrm rot="752272">
            <a:off x="3935913" y="3168423"/>
            <a:ext cx="1945964" cy="347386"/>
          </a:xfrm>
          <a:prstGeom prst="rect">
            <a:avLst/>
          </a:prstGeom>
        </p:spPr>
      </p:pic>
      <p:sp>
        <p:nvSpPr>
          <p:cNvPr id="3" name="TextBox 2">
            <a:extLst>
              <a:ext uri="{FF2B5EF4-FFF2-40B4-BE49-F238E27FC236}">
                <a16:creationId xmlns:a16="http://schemas.microsoft.com/office/drawing/2014/main" id="{4FABFC3A-D01C-C3CB-F96F-15DDAC4FAEB9}"/>
              </a:ext>
            </a:extLst>
          </p:cNvPr>
          <p:cNvSpPr txBox="1"/>
          <p:nvPr/>
        </p:nvSpPr>
        <p:spPr>
          <a:xfrm>
            <a:off x="304800" y="228600"/>
            <a:ext cx="2910840" cy="461665"/>
          </a:xfrm>
          <a:prstGeom prst="rect">
            <a:avLst/>
          </a:prstGeom>
          <a:noFill/>
        </p:spPr>
        <p:txBody>
          <a:bodyPr wrap="square" rtlCol="0">
            <a:spAutoFit/>
          </a:bodyPr>
          <a:lstStyle/>
          <a:p>
            <a:r>
              <a:rPr lang="en-GB" sz="2400" b="1" dirty="0"/>
              <a:t>Study Data</a:t>
            </a:r>
          </a:p>
        </p:txBody>
      </p:sp>
      <p:pic>
        <p:nvPicPr>
          <p:cNvPr id="2" name="Picture 1">
            <a:extLst>
              <a:ext uri="{FF2B5EF4-FFF2-40B4-BE49-F238E27FC236}">
                <a16:creationId xmlns:a16="http://schemas.microsoft.com/office/drawing/2014/main" id="{2E040B64-355B-3DB7-0F82-792C5C2EC98A}"/>
              </a:ext>
            </a:extLst>
          </p:cNvPr>
          <p:cNvPicPr>
            <a:picLocks noChangeAspect="1"/>
          </p:cNvPicPr>
          <p:nvPr/>
        </p:nvPicPr>
        <p:blipFill>
          <a:blip r:embed="rId6"/>
          <a:srcRect l="19213" t="8505" r="23376" b="54213"/>
          <a:stretch>
            <a:fillRect/>
          </a:stretch>
        </p:blipFill>
        <p:spPr>
          <a:xfrm>
            <a:off x="304801" y="1946442"/>
            <a:ext cx="3710539" cy="1498600"/>
          </a:xfrm>
          <a:prstGeom prst="rect">
            <a:avLst/>
          </a:prstGeom>
        </p:spPr>
      </p:pic>
      <p:sp>
        <p:nvSpPr>
          <p:cNvPr id="18" name="TextBox 17">
            <a:extLst>
              <a:ext uri="{FF2B5EF4-FFF2-40B4-BE49-F238E27FC236}">
                <a16:creationId xmlns:a16="http://schemas.microsoft.com/office/drawing/2014/main" id="{72934883-8747-05AF-CFED-EBA43F730743}"/>
              </a:ext>
            </a:extLst>
          </p:cNvPr>
          <p:cNvSpPr txBox="1"/>
          <p:nvPr/>
        </p:nvSpPr>
        <p:spPr>
          <a:xfrm>
            <a:off x="532999" y="1579460"/>
            <a:ext cx="2454442" cy="369332"/>
          </a:xfrm>
          <a:prstGeom prst="rect">
            <a:avLst/>
          </a:prstGeom>
          <a:noFill/>
        </p:spPr>
        <p:txBody>
          <a:bodyPr wrap="square" rtlCol="0">
            <a:spAutoFit/>
          </a:bodyPr>
          <a:lstStyle/>
          <a:p>
            <a:r>
              <a:rPr lang="en-GB" dirty="0"/>
              <a:t>Primary HBEC</a:t>
            </a:r>
          </a:p>
        </p:txBody>
      </p:sp>
      <p:sp>
        <p:nvSpPr>
          <p:cNvPr id="19" name="TextBox 18">
            <a:extLst>
              <a:ext uri="{FF2B5EF4-FFF2-40B4-BE49-F238E27FC236}">
                <a16:creationId xmlns:a16="http://schemas.microsoft.com/office/drawing/2014/main" id="{159ED26F-929C-956B-C2AE-C10535A26A7C}"/>
              </a:ext>
            </a:extLst>
          </p:cNvPr>
          <p:cNvSpPr txBox="1"/>
          <p:nvPr/>
        </p:nvSpPr>
        <p:spPr>
          <a:xfrm>
            <a:off x="532998" y="3812024"/>
            <a:ext cx="2819801" cy="369332"/>
          </a:xfrm>
          <a:prstGeom prst="rect">
            <a:avLst/>
          </a:prstGeom>
          <a:noFill/>
        </p:spPr>
        <p:txBody>
          <a:bodyPr wrap="square" rtlCol="0">
            <a:spAutoFit/>
          </a:bodyPr>
          <a:lstStyle/>
          <a:p>
            <a:r>
              <a:rPr lang="en-GB" dirty="0"/>
              <a:t>Calu-3 adenocarcinoma</a:t>
            </a:r>
          </a:p>
        </p:txBody>
      </p:sp>
      <p:pic>
        <p:nvPicPr>
          <p:cNvPr id="21" name="Picture 20">
            <a:extLst>
              <a:ext uri="{FF2B5EF4-FFF2-40B4-BE49-F238E27FC236}">
                <a16:creationId xmlns:a16="http://schemas.microsoft.com/office/drawing/2014/main" id="{94613728-61D4-F10D-BA6A-1FB4E18DA34C}"/>
              </a:ext>
            </a:extLst>
          </p:cNvPr>
          <p:cNvPicPr>
            <a:picLocks noChangeAspect="1"/>
          </p:cNvPicPr>
          <p:nvPr/>
        </p:nvPicPr>
        <p:blipFill>
          <a:blip r:embed="rId5"/>
          <a:srcRect l="5686" t="39488" r="50915" b="48718"/>
          <a:stretch>
            <a:fillRect/>
          </a:stretch>
        </p:blipFill>
        <p:spPr>
          <a:xfrm rot="20400988">
            <a:off x="3945815" y="4017533"/>
            <a:ext cx="1945964" cy="347386"/>
          </a:xfrm>
          <a:prstGeom prst="rect">
            <a:avLst/>
          </a:prstGeom>
        </p:spPr>
      </p:pic>
      <p:pic>
        <p:nvPicPr>
          <p:cNvPr id="4" name="Picture 3">
            <a:extLst>
              <a:ext uri="{FF2B5EF4-FFF2-40B4-BE49-F238E27FC236}">
                <a16:creationId xmlns:a16="http://schemas.microsoft.com/office/drawing/2014/main" id="{1F0273CA-2931-2F83-9461-DDA26FC761A6}"/>
              </a:ext>
            </a:extLst>
          </p:cNvPr>
          <p:cNvPicPr>
            <a:picLocks noChangeAspect="1"/>
          </p:cNvPicPr>
          <p:nvPr/>
        </p:nvPicPr>
        <p:blipFill>
          <a:blip r:embed="rId6"/>
          <a:srcRect l="19213" t="71274" r="23376"/>
          <a:stretch>
            <a:fillRect/>
          </a:stretch>
        </p:blipFill>
        <p:spPr>
          <a:xfrm>
            <a:off x="304800" y="4123898"/>
            <a:ext cx="3710539" cy="1154642"/>
          </a:xfrm>
          <a:prstGeom prst="rect">
            <a:avLst/>
          </a:prstGeom>
        </p:spPr>
      </p:pic>
      <p:sp>
        <p:nvSpPr>
          <p:cNvPr id="22" name="Down Arrow 21">
            <a:extLst>
              <a:ext uri="{FF2B5EF4-FFF2-40B4-BE49-F238E27FC236}">
                <a16:creationId xmlns:a16="http://schemas.microsoft.com/office/drawing/2014/main" id="{3A3942CB-CA25-4B2C-0CC0-D1DC6A48C8E2}"/>
              </a:ext>
            </a:extLst>
          </p:cNvPr>
          <p:cNvSpPr/>
          <p:nvPr/>
        </p:nvSpPr>
        <p:spPr>
          <a:xfrm rot="16200000">
            <a:off x="8077422" y="2900716"/>
            <a:ext cx="656314" cy="1534995"/>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pic>
        <p:nvPicPr>
          <p:cNvPr id="23" name="Picture 22">
            <a:extLst>
              <a:ext uri="{FF2B5EF4-FFF2-40B4-BE49-F238E27FC236}">
                <a16:creationId xmlns:a16="http://schemas.microsoft.com/office/drawing/2014/main" id="{BB5AC0B3-DAC2-A974-283F-9E977E1146DF}"/>
              </a:ext>
            </a:extLst>
          </p:cNvPr>
          <p:cNvPicPr>
            <a:picLocks noChangeAspect="1"/>
          </p:cNvPicPr>
          <p:nvPr/>
        </p:nvPicPr>
        <p:blipFill>
          <a:blip r:embed="rId7"/>
          <a:srcRect l="47924" t="23573" r="5478" b="19535"/>
          <a:stretch>
            <a:fillRect/>
          </a:stretch>
        </p:blipFill>
        <p:spPr>
          <a:xfrm>
            <a:off x="9339486" y="2196546"/>
            <a:ext cx="2852514" cy="2287659"/>
          </a:xfrm>
          <a:prstGeom prst="rect">
            <a:avLst/>
          </a:prstGeom>
        </p:spPr>
      </p:pic>
      <p:sp>
        <p:nvSpPr>
          <p:cNvPr id="24" name="TextBox 23">
            <a:extLst>
              <a:ext uri="{FF2B5EF4-FFF2-40B4-BE49-F238E27FC236}">
                <a16:creationId xmlns:a16="http://schemas.microsoft.com/office/drawing/2014/main" id="{47507ED9-6D56-DE13-B836-9C4BE84CA621}"/>
              </a:ext>
            </a:extLst>
          </p:cNvPr>
          <p:cNvSpPr txBox="1"/>
          <p:nvPr/>
        </p:nvSpPr>
        <p:spPr>
          <a:xfrm>
            <a:off x="9903968" y="1870116"/>
            <a:ext cx="2454442" cy="369332"/>
          </a:xfrm>
          <a:prstGeom prst="rect">
            <a:avLst/>
          </a:prstGeom>
          <a:noFill/>
        </p:spPr>
        <p:txBody>
          <a:bodyPr wrap="square" rtlCol="0">
            <a:spAutoFit/>
          </a:bodyPr>
          <a:lstStyle/>
          <a:p>
            <a:r>
              <a:rPr lang="en-GB" dirty="0"/>
              <a:t>Transcriptomics</a:t>
            </a:r>
          </a:p>
        </p:txBody>
      </p:sp>
      <p:pic>
        <p:nvPicPr>
          <p:cNvPr id="7" name="Picture 6">
            <a:extLst>
              <a:ext uri="{FF2B5EF4-FFF2-40B4-BE49-F238E27FC236}">
                <a16:creationId xmlns:a16="http://schemas.microsoft.com/office/drawing/2014/main" id="{C93829F6-870F-FF67-6D4C-0FCD755B0360}"/>
              </a:ext>
            </a:extLst>
          </p:cNvPr>
          <p:cNvPicPr>
            <a:picLocks noChangeAspect="1"/>
          </p:cNvPicPr>
          <p:nvPr/>
        </p:nvPicPr>
        <p:blipFill>
          <a:blip r:embed="rId3"/>
          <a:srcRect l="5603" t="68233" r="23031" b="23100"/>
          <a:stretch>
            <a:fillRect/>
          </a:stretch>
        </p:blipFill>
        <p:spPr>
          <a:xfrm rot="20301830">
            <a:off x="3653585" y="1236353"/>
            <a:ext cx="2302135" cy="222344"/>
          </a:xfrm>
          <a:prstGeom prst="rect">
            <a:avLst/>
          </a:prstGeom>
        </p:spPr>
      </p:pic>
      <p:pic>
        <p:nvPicPr>
          <p:cNvPr id="8" name="Picture 7">
            <a:extLst>
              <a:ext uri="{FF2B5EF4-FFF2-40B4-BE49-F238E27FC236}">
                <a16:creationId xmlns:a16="http://schemas.microsoft.com/office/drawing/2014/main" id="{6D89DAC2-5E1F-6A66-D53D-1C39DB775F77}"/>
              </a:ext>
            </a:extLst>
          </p:cNvPr>
          <p:cNvPicPr>
            <a:picLocks noChangeAspect="1"/>
          </p:cNvPicPr>
          <p:nvPr/>
        </p:nvPicPr>
        <p:blipFill>
          <a:blip r:embed="rId8"/>
          <a:stretch>
            <a:fillRect/>
          </a:stretch>
        </p:blipFill>
        <p:spPr>
          <a:xfrm>
            <a:off x="5796006" y="5168180"/>
            <a:ext cx="1849066" cy="1530755"/>
          </a:xfrm>
          <a:prstGeom prst="rect">
            <a:avLst/>
          </a:prstGeom>
        </p:spPr>
      </p:pic>
      <p:pic>
        <p:nvPicPr>
          <p:cNvPr id="9" name="Picture 8">
            <a:extLst>
              <a:ext uri="{FF2B5EF4-FFF2-40B4-BE49-F238E27FC236}">
                <a16:creationId xmlns:a16="http://schemas.microsoft.com/office/drawing/2014/main" id="{7EE2373C-02D9-A43E-038F-341D8CE8D3DB}"/>
              </a:ext>
            </a:extLst>
          </p:cNvPr>
          <p:cNvPicPr>
            <a:picLocks noChangeAspect="1"/>
          </p:cNvPicPr>
          <p:nvPr/>
        </p:nvPicPr>
        <p:blipFill>
          <a:blip r:embed="rId9"/>
          <a:stretch>
            <a:fillRect/>
          </a:stretch>
        </p:blipFill>
        <p:spPr>
          <a:xfrm>
            <a:off x="5816926" y="53060"/>
            <a:ext cx="2025091" cy="1526400"/>
          </a:xfrm>
          <a:prstGeom prst="rect">
            <a:avLst/>
          </a:prstGeom>
        </p:spPr>
      </p:pic>
      <p:pic>
        <p:nvPicPr>
          <p:cNvPr id="10" name="Picture 9">
            <a:extLst>
              <a:ext uri="{FF2B5EF4-FFF2-40B4-BE49-F238E27FC236}">
                <a16:creationId xmlns:a16="http://schemas.microsoft.com/office/drawing/2014/main" id="{025D8F6F-0672-64C9-5DDF-964C4AB10851}"/>
              </a:ext>
            </a:extLst>
          </p:cNvPr>
          <p:cNvPicPr>
            <a:picLocks noChangeAspect="1"/>
          </p:cNvPicPr>
          <p:nvPr/>
        </p:nvPicPr>
        <p:blipFill>
          <a:blip r:embed="rId3"/>
          <a:srcRect l="5603" t="68233" r="23031" b="23100"/>
          <a:stretch>
            <a:fillRect/>
          </a:stretch>
        </p:blipFill>
        <p:spPr>
          <a:xfrm rot="1420035">
            <a:off x="3447020" y="5741411"/>
            <a:ext cx="2302135" cy="222344"/>
          </a:xfrm>
          <a:prstGeom prst="rect">
            <a:avLst/>
          </a:prstGeom>
        </p:spPr>
      </p:pic>
      <p:sp>
        <p:nvSpPr>
          <p:cNvPr id="11" name="TextBox 10">
            <a:extLst>
              <a:ext uri="{FF2B5EF4-FFF2-40B4-BE49-F238E27FC236}">
                <a16:creationId xmlns:a16="http://schemas.microsoft.com/office/drawing/2014/main" id="{CF32D12E-3455-2F1A-694B-2FF404549D19}"/>
              </a:ext>
            </a:extLst>
          </p:cNvPr>
          <p:cNvSpPr txBox="1"/>
          <p:nvPr/>
        </p:nvSpPr>
        <p:spPr>
          <a:xfrm>
            <a:off x="244707" y="6200959"/>
            <a:ext cx="6907279" cy="246221"/>
          </a:xfrm>
          <a:prstGeom prst="rect">
            <a:avLst/>
          </a:prstGeom>
          <a:noFill/>
        </p:spPr>
        <p:txBody>
          <a:bodyPr wrap="square" rtlCol="0">
            <a:spAutoFit/>
          </a:bodyPr>
          <a:lstStyle/>
          <a:p>
            <a:r>
              <a:rPr lang="en-GB" sz="1000" dirty="0"/>
              <a:t>Figure created in </a:t>
            </a:r>
            <a:r>
              <a:rPr lang="en-GB" sz="1000" dirty="0" err="1"/>
              <a:t>BioRender</a:t>
            </a:r>
            <a:r>
              <a:rPr lang="en-GB" sz="1000" dirty="0"/>
              <a:t>: https://</a:t>
            </a:r>
            <a:r>
              <a:rPr lang="en-GB" sz="1000" dirty="0" err="1"/>
              <a:t>BioRender.com</a:t>
            </a:r>
            <a:r>
              <a:rPr lang="en-GB" sz="1000" dirty="0">
                <a:effectLst/>
              </a:rPr>
              <a:t> </a:t>
            </a:r>
            <a:endParaRPr lang="en-GB" sz="1000" dirty="0"/>
          </a:p>
        </p:txBody>
      </p:sp>
      <p:sp>
        <p:nvSpPr>
          <p:cNvPr id="12" name="TextBox 11">
            <a:extLst>
              <a:ext uri="{FF2B5EF4-FFF2-40B4-BE49-F238E27FC236}">
                <a16:creationId xmlns:a16="http://schemas.microsoft.com/office/drawing/2014/main" id="{0B7C7C58-5FC1-D9ED-828C-6596055BAE89}"/>
              </a:ext>
            </a:extLst>
          </p:cNvPr>
          <p:cNvSpPr txBox="1"/>
          <p:nvPr/>
        </p:nvSpPr>
        <p:spPr>
          <a:xfrm rot="903980">
            <a:off x="4491070" y="3068077"/>
            <a:ext cx="945744" cy="292388"/>
          </a:xfrm>
          <a:prstGeom prst="rect">
            <a:avLst/>
          </a:prstGeom>
          <a:noFill/>
        </p:spPr>
        <p:txBody>
          <a:bodyPr wrap="square" rtlCol="0">
            <a:spAutoFit/>
          </a:bodyPr>
          <a:lstStyle/>
          <a:p>
            <a:r>
              <a:rPr lang="en-GB" sz="1300" dirty="0"/>
              <a:t>Triplicate</a:t>
            </a:r>
          </a:p>
        </p:txBody>
      </p:sp>
      <p:sp>
        <p:nvSpPr>
          <p:cNvPr id="13" name="TextBox 12">
            <a:extLst>
              <a:ext uri="{FF2B5EF4-FFF2-40B4-BE49-F238E27FC236}">
                <a16:creationId xmlns:a16="http://schemas.microsoft.com/office/drawing/2014/main" id="{76968E6C-5D4C-CE57-7BE6-39044DDB9A13}"/>
              </a:ext>
            </a:extLst>
          </p:cNvPr>
          <p:cNvSpPr txBox="1"/>
          <p:nvPr/>
        </p:nvSpPr>
        <p:spPr>
          <a:xfrm rot="20385235">
            <a:off x="4612793" y="4178408"/>
            <a:ext cx="945744" cy="292388"/>
          </a:xfrm>
          <a:prstGeom prst="rect">
            <a:avLst/>
          </a:prstGeom>
          <a:noFill/>
        </p:spPr>
        <p:txBody>
          <a:bodyPr wrap="square" rtlCol="0">
            <a:spAutoFit/>
          </a:bodyPr>
          <a:lstStyle/>
          <a:p>
            <a:r>
              <a:rPr lang="en-GB" sz="1300" dirty="0"/>
              <a:t>Triplicate</a:t>
            </a:r>
          </a:p>
        </p:txBody>
      </p:sp>
      <p:sp>
        <p:nvSpPr>
          <p:cNvPr id="16" name="Slide Number Placeholder 15">
            <a:extLst>
              <a:ext uri="{FF2B5EF4-FFF2-40B4-BE49-F238E27FC236}">
                <a16:creationId xmlns:a16="http://schemas.microsoft.com/office/drawing/2014/main" id="{DD818016-4473-436D-E9E4-EFE825DD6895}"/>
              </a:ext>
            </a:extLst>
          </p:cNvPr>
          <p:cNvSpPr>
            <a:spLocks noGrp="1"/>
          </p:cNvSpPr>
          <p:nvPr>
            <p:ph type="sldNum" sz="quarter" idx="12"/>
          </p:nvPr>
        </p:nvSpPr>
        <p:spPr/>
        <p:txBody>
          <a:bodyPr/>
          <a:lstStyle/>
          <a:p>
            <a:fld id="{AAB2C436-2398-F34B-A706-69BC3409080B}" type="slidenum">
              <a:rPr lang="en-GB" smtClean="0"/>
              <a:t>4</a:t>
            </a:fld>
            <a:endParaRPr lang="en-GB"/>
          </a:p>
        </p:txBody>
      </p:sp>
      <p:sp>
        <p:nvSpPr>
          <p:cNvPr id="14" name="TextBox 13">
            <a:extLst>
              <a:ext uri="{FF2B5EF4-FFF2-40B4-BE49-F238E27FC236}">
                <a16:creationId xmlns:a16="http://schemas.microsoft.com/office/drawing/2014/main" id="{B6EC5DAF-689D-8471-3A45-1D162A599735}"/>
              </a:ext>
            </a:extLst>
          </p:cNvPr>
          <p:cNvSpPr txBox="1"/>
          <p:nvPr/>
        </p:nvSpPr>
        <p:spPr>
          <a:xfrm>
            <a:off x="532998" y="5265918"/>
            <a:ext cx="1672320" cy="276999"/>
          </a:xfrm>
          <a:prstGeom prst="rect">
            <a:avLst/>
          </a:prstGeom>
          <a:noFill/>
        </p:spPr>
        <p:txBody>
          <a:bodyPr wrap="square" rtlCol="0">
            <a:spAutoFit/>
          </a:bodyPr>
          <a:lstStyle/>
          <a:p>
            <a:r>
              <a:rPr lang="en-GB" sz="1200" dirty="0"/>
              <a:t>Browne et al., 2026</a:t>
            </a:r>
          </a:p>
        </p:txBody>
      </p:sp>
      <p:sp>
        <p:nvSpPr>
          <p:cNvPr id="17" name="TextBox 16">
            <a:extLst>
              <a:ext uri="{FF2B5EF4-FFF2-40B4-BE49-F238E27FC236}">
                <a16:creationId xmlns:a16="http://schemas.microsoft.com/office/drawing/2014/main" id="{FBC4F574-6949-08AA-B91B-DEF2E9476BCD}"/>
              </a:ext>
            </a:extLst>
          </p:cNvPr>
          <p:cNvSpPr txBox="1"/>
          <p:nvPr/>
        </p:nvSpPr>
        <p:spPr>
          <a:xfrm>
            <a:off x="526072" y="3303614"/>
            <a:ext cx="1672320" cy="276999"/>
          </a:xfrm>
          <a:prstGeom prst="rect">
            <a:avLst/>
          </a:prstGeom>
          <a:noFill/>
        </p:spPr>
        <p:txBody>
          <a:bodyPr wrap="square" rtlCol="0">
            <a:spAutoFit/>
          </a:bodyPr>
          <a:lstStyle/>
          <a:p>
            <a:r>
              <a:rPr lang="en-GB" sz="1200" dirty="0"/>
              <a:t>Hopkins et al., 2026</a:t>
            </a:r>
          </a:p>
        </p:txBody>
      </p:sp>
    </p:spTree>
    <p:extLst>
      <p:ext uri="{BB962C8B-B14F-4D97-AF65-F5344CB8AC3E}">
        <p14:creationId xmlns:p14="http://schemas.microsoft.com/office/powerpoint/2010/main" val="2182550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63532-546C-649A-394C-7C8DA9DFA8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572F95-8C46-BF88-1C67-EAC15619DA84}"/>
              </a:ext>
            </a:extLst>
          </p:cNvPr>
          <p:cNvSpPr txBox="1"/>
          <p:nvPr/>
        </p:nvSpPr>
        <p:spPr>
          <a:xfrm>
            <a:off x="304800" y="228600"/>
            <a:ext cx="2910840" cy="461665"/>
          </a:xfrm>
          <a:prstGeom prst="rect">
            <a:avLst/>
          </a:prstGeom>
          <a:noFill/>
        </p:spPr>
        <p:txBody>
          <a:bodyPr wrap="square" rtlCol="0">
            <a:spAutoFit/>
          </a:bodyPr>
          <a:lstStyle/>
          <a:p>
            <a:r>
              <a:rPr lang="en-GB" sz="2400" b="1" dirty="0"/>
              <a:t>Study Aims</a:t>
            </a:r>
          </a:p>
        </p:txBody>
      </p:sp>
      <p:grpSp>
        <p:nvGrpSpPr>
          <p:cNvPr id="58" name="Group 57">
            <a:extLst>
              <a:ext uri="{FF2B5EF4-FFF2-40B4-BE49-F238E27FC236}">
                <a16:creationId xmlns:a16="http://schemas.microsoft.com/office/drawing/2014/main" id="{A72B4538-4403-FD61-D5C2-6B70CAACFFE3}"/>
              </a:ext>
            </a:extLst>
          </p:cNvPr>
          <p:cNvGrpSpPr/>
          <p:nvPr/>
        </p:nvGrpSpPr>
        <p:grpSpPr>
          <a:xfrm>
            <a:off x="1747256" y="1426504"/>
            <a:ext cx="8101739" cy="4150637"/>
            <a:chOff x="1747256" y="1426505"/>
            <a:chExt cx="7710851" cy="3796948"/>
          </a:xfrm>
        </p:grpSpPr>
        <p:sp>
          <p:nvSpPr>
            <p:cNvPr id="51" name="Freeform 50">
              <a:extLst>
                <a:ext uri="{FF2B5EF4-FFF2-40B4-BE49-F238E27FC236}">
                  <a16:creationId xmlns:a16="http://schemas.microsoft.com/office/drawing/2014/main" id="{E9ED237B-464A-E7B3-FA80-688E769C075F}"/>
                </a:ext>
              </a:extLst>
            </p:cNvPr>
            <p:cNvSpPr/>
            <p:nvPr/>
          </p:nvSpPr>
          <p:spPr>
            <a:xfrm>
              <a:off x="1747256" y="1426505"/>
              <a:ext cx="755911" cy="499675"/>
            </a:xfrm>
            <a:custGeom>
              <a:avLst/>
              <a:gdLst>
                <a:gd name="csX0" fmla="*/ 10125 w 755911"/>
                <a:gd name="csY0" fmla="*/ 0 h 499675"/>
                <a:gd name="csX1" fmla="*/ 633735 w 755911"/>
                <a:gd name="csY1" fmla="*/ 389606 h 499675"/>
                <a:gd name="csX2" fmla="*/ 755911 w 755911"/>
                <a:gd name="csY2" fmla="*/ 494298 h 499675"/>
                <a:gd name="csX3" fmla="*/ 741673 w 755911"/>
                <a:gd name="csY3" fmla="*/ 499675 h 499675"/>
                <a:gd name="csX4" fmla="*/ 622050 w 755911"/>
                <a:gd name="csY4" fmla="*/ 397479 h 499675"/>
                <a:gd name="csX5" fmla="*/ 0 w 755911"/>
                <a:gd name="csY5" fmla="*/ 10126 h 499675"/>
                <a:gd name="csX6" fmla="*/ 10125 w 755911"/>
                <a:gd name="csY6" fmla="*/ 0 h 4996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55911" h="499675">
                  <a:moveTo>
                    <a:pt x="10125" y="0"/>
                  </a:moveTo>
                  <a:cubicBezTo>
                    <a:pt x="247691" y="115025"/>
                    <a:pt x="455561" y="246243"/>
                    <a:pt x="633735" y="389606"/>
                  </a:cubicBezTo>
                  <a:lnTo>
                    <a:pt x="755911" y="494298"/>
                  </a:lnTo>
                  <a:lnTo>
                    <a:pt x="741673" y="499675"/>
                  </a:lnTo>
                  <a:lnTo>
                    <a:pt x="622050" y="397479"/>
                  </a:lnTo>
                  <a:cubicBezTo>
                    <a:pt x="444321" y="254911"/>
                    <a:pt x="236971" y="124449"/>
                    <a:pt x="0" y="10126"/>
                  </a:cubicBezTo>
                  <a:lnTo>
                    <a:pt x="10125" y="0"/>
                  </a:lnTo>
                  <a:close/>
                </a:path>
              </a:pathLst>
            </a:custGeom>
            <a:ln>
              <a:solidFill>
                <a:srgbClr val="002060"/>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wrap="square">
              <a:noAutofit/>
            </a:bodyPr>
            <a:lstStyle/>
            <a:p>
              <a:endParaRPr lang="en-GB" dirty="0"/>
            </a:p>
          </p:txBody>
        </p:sp>
        <p:sp>
          <p:nvSpPr>
            <p:cNvPr id="48" name="Freeform 47">
              <a:extLst>
                <a:ext uri="{FF2B5EF4-FFF2-40B4-BE49-F238E27FC236}">
                  <a16:creationId xmlns:a16="http://schemas.microsoft.com/office/drawing/2014/main" id="{1E6A83E8-70B0-F3F4-1CE6-5A20E3A71189}"/>
                </a:ext>
              </a:extLst>
            </p:cNvPr>
            <p:cNvSpPr/>
            <p:nvPr/>
          </p:nvSpPr>
          <p:spPr>
            <a:xfrm>
              <a:off x="3041096" y="2685922"/>
              <a:ext cx="84462" cy="213042"/>
            </a:xfrm>
            <a:custGeom>
              <a:avLst/>
              <a:gdLst>
                <a:gd name="csX0" fmla="*/ 12913 w 84462"/>
                <a:gd name="csY0" fmla="*/ 0 h 213042"/>
                <a:gd name="csX1" fmla="*/ 52591 w 84462"/>
                <a:gd name="csY1" fmla="*/ 103714 h 213042"/>
                <a:gd name="csX2" fmla="*/ 84462 w 84462"/>
                <a:gd name="csY2" fmla="*/ 212067 h 213042"/>
                <a:gd name="csX3" fmla="*/ 70559 w 84462"/>
                <a:gd name="csY3" fmla="*/ 213042 h 213042"/>
                <a:gd name="csX4" fmla="*/ 39122 w 84462"/>
                <a:gd name="csY4" fmla="*/ 106445 h 213042"/>
                <a:gd name="csX5" fmla="*/ 0 w 84462"/>
                <a:gd name="csY5" fmla="*/ 4451 h 213042"/>
                <a:gd name="csX6" fmla="*/ 2631 w 84462"/>
                <a:gd name="csY6" fmla="*/ 3883 h 213042"/>
                <a:gd name="csX7" fmla="*/ 12913 w 84462"/>
                <a:gd name="csY7" fmla="*/ 0 h 213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4462" h="213042">
                  <a:moveTo>
                    <a:pt x="12913" y="0"/>
                  </a:moveTo>
                  <a:lnTo>
                    <a:pt x="52591" y="103714"/>
                  </a:lnTo>
                  <a:lnTo>
                    <a:pt x="84462" y="212067"/>
                  </a:lnTo>
                  <a:lnTo>
                    <a:pt x="70559" y="213042"/>
                  </a:lnTo>
                  <a:lnTo>
                    <a:pt x="39122" y="106445"/>
                  </a:lnTo>
                  <a:lnTo>
                    <a:pt x="0" y="4451"/>
                  </a:lnTo>
                  <a:lnTo>
                    <a:pt x="2631" y="3883"/>
                  </a:lnTo>
                  <a:lnTo>
                    <a:pt x="12913" y="0"/>
                  </a:lnTo>
                  <a:close/>
                </a:path>
              </a:pathLst>
            </a:custGeom>
            <a:ln>
              <a:solidFill>
                <a:srgbClr val="002060"/>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wrap="square">
              <a:noAutofit/>
            </a:bodyPr>
            <a:lstStyle/>
            <a:p>
              <a:endParaRPr lang="en-GB" dirty="0"/>
            </a:p>
          </p:txBody>
        </p:sp>
        <p:sp>
          <p:nvSpPr>
            <p:cNvPr id="45" name="Freeform 44">
              <a:extLst>
                <a:ext uri="{FF2B5EF4-FFF2-40B4-BE49-F238E27FC236}">
                  <a16:creationId xmlns:a16="http://schemas.microsoft.com/office/drawing/2014/main" id="{2FDACACE-41FB-19EA-ECD4-940D84A768F7}"/>
                </a:ext>
              </a:extLst>
            </p:cNvPr>
            <p:cNvSpPr/>
            <p:nvPr/>
          </p:nvSpPr>
          <p:spPr>
            <a:xfrm>
              <a:off x="3041096" y="3750999"/>
              <a:ext cx="84461" cy="213039"/>
            </a:xfrm>
            <a:custGeom>
              <a:avLst/>
              <a:gdLst>
                <a:gd name="csX0" fmla="*/ 70559 w 84461"/>
                <a:gd name="csY0" fmla="*/ 0 h 213039"/>
                <a:gd name="csX1" fmla="*/ 84461 w 84461"/>
                <a:gd name="csY1" fmla="*/ 975 h 213039"/>
                <a:gd name="csX2" fmla="*/ 52592 w 84461"/>
                <a:gd name="csY2" fmla="*/ 109322 h 213039"/>
                <a:gd name="csX3" fmla="*/ 12914 w 84461"/>
                <a:gd name="csY3" fmla="*/ 213039 h 213039"/>
                <a:gd name="csX4" fmla="*/ 2631 w 84461"/>
                <a:gd name="csY4" fmla="*/ 209155 h 213039"/>
                <a:gd name="csX5" fmla="*/ 0 w 84461"/>
                <a:gd name="csY5" fmla="*/ 208587 h 213039"/>
                <a:gd name="csX6" fmla="*/ 39123 w 84461"/>
                <a:gd name="csY6" fmla="*/ 106592 h 213039"/>
                <a:gd name="csX7" fmla="*/ 70559 w 84461"/>
                <a:gd name="csY7" fmla="*/ 0 h 2130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4461" h="213039">
                  <a:moveTo>
                    <a:pt x="70559" y="0"/>
                  </a:moveTo>
                  <a:lnTo>
                    <a:pt x="84461" y="975"/>
                  </a:lnTo>
                  <a:lnTo>
                    <a:pt x="52592" y="109322"/>
                  </a:lnTo>
                  <a:lnTo>
                    <a:pt x="12914" y="213039"/>
                  </a:lnTo>
                  <a:lnTo>
                    <a:pt x="2631" y="209155"/>
                  </a:lnTo>
                  <a:lnTo>
                    <a:pt x="0" y="208587"/>
                  </a:lnTo>
                  <a:lnTo>
                    <a:pt x="39123" y="106592"/>
                  </a:lnTo>
                  <a:lnTo>
                    <a:pt x="70559" y="0"/>
                  </a:lnTo>
                  <a:close/>
                </a:path>
              </a:pathLst>
            </a:custGeom>
            <a:ln>
              <a:solidFill>
                <a:srgbClr val="002060"/>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wrap="square">
              <a:noAutofit/>
            </a:bodyPr>
            <a:lstStyle/>
            <a:p>
              <a:endParaRPr lang="en-GB" dirty="0"/>
            </a:p>
          </p:txBody>
        </p:sp>
        <p:sp>
          <p:nvSpPr>
            <p:cNvPr id="42" name="Freeform 41">
              <a:extLst>
                <a:ext uri="{FF2B5EF4-FFF2-40B4-BE49-F238E27FC236}">
                  <a16:creationId xmlns:a16="http://schemas.microsoft.com/office/drawing/2014/main" id="{D496D18A-031B-CECE-0756-262BED99D544}"/>
                </a:ext>
              </a:extLst>
            </p:cNvPr>
            <p:cNvSpPr/>
            <p:nvPr/>
          </p:nvSpPr>
          <p:spPr>
            <a:xfrm>
              <a:off x="1747256" y="4723779"/>
              <a:ext cx="755909" cy="499674"/>
            </a:xfrm>
            <a:custGeom>
              <a:avLst/>
              <a:gdLst>
                <a:gd name="csX0" fmla="*/ 741672 w 755909"/>
                <a:gd name="csY0" fmla="*/ 0 h 499674"/>
                <a:gd name="csX1" fmla="*/ 755909 w 755909"/>
                <a:gd name="csY1" fmla="*/ 5377 h 499674"/>
                <a:gd name="csX2" fmla="*/ 633735 w 755909"/>
                <a:gd name="csY2" fmla="*/ 110068 h 499674"/>
                <a:gd name="csX3" fmla="*/ 10125 w 755909"/>
                <a:gd name="csY3" fmla="*/ 499674 h 499674"/>
                <a:gd name="csX4" fmla="*/ 0 w 755909"/>
                <a:gd name="csY4" fmla="*/ 489548 h 499674"/>
                <a:gd name="csX5" fmla="*/ 622050 w 755909"/>
                <a:gd name="csY5" fmla="*/ 102195 h 499674"/>
                <a:gd name="csX6" fmla="*/ 741672 w 755909"/>
                <a:gd name="csY6" fmla="*/ 0 h 4996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55909" h="499674">
                  <a:moveTo>
                    <a:pt x="741672" y="0"/>
                  </a:moveTo>
                  <a:lnTo>
                    <a:pt x="755909" y="5377"/>
                  </a:lnTo>
                  <a:lnTo>
                    <a:pt x="633735" y="110068"/>
                  </a:lnTo>
                  <a:cubicBezTo>
                    <a:pt x="455561" y="253431"/>
                    <a:pt x="247691" y="384649"/>
                    <a:pt x="10125" y="499674"/>
                  </a:cubicBezTo>
                  <a:lnTo>
                    <a:pt x="0" y="489548"/>
                  </a:lnTo>
                  <a:cubicBezTo>
                    <a:pt x="236971" y="375225"/>
                    <a:pt x="444321" y="244763"/>
                    <a:pt x="622050" y="102195"/>
                  </a:cubicBezTo>
                  <a:lnTo>
                    <a:pt x="741672" y="0"/>
                  </a:lnTo>
                  <a:close/>
                </a:path>
              </a:pathLst>
            </a:custGeom>
            <a:ln>
              <a:solidFill>
                <a:srgbClr val="002060"/>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wrap="square">
              <a:noAutofit/>
            </a:bodyPr>
            <a:lstStyle/>
            <a:p>
              <a:endParaRPr lang="en-GB" dirty="0"/>
            </a:p>
          </p:txBody>
        </p:sp>
        <p:sp>
          <p:nvSpPr>
            <p:cNvPr id="26" name="Freeform 25">
              <a:extLst>
                <a:ext uri="{FF2B5EF4-FFF2-40B4-BE49-F238E27FC236}">
                  <a16:creationId xmlns:a16="http://schemas.microsoft.com/office/drawing/2014/main" id="{38A4338E-9525-BA75-29FC-8881FBECE642}"/>
                </a:ext>
              </a:extLst>
            </p:cNvPr>
            <p:cNvSpPr/>
            <p:nvPr/>
          </p:nvSpPr>
          <p:spPr>
            <a:xfrm>
              <a:off x="3170455" y="1950316"/>
              <a:ext cx="6287651" cy="687330"/>
            </a:xfrm>
            <a:custGeom>
              <a:avLst/>
              <a:gdLst>
                <a:gd name="csX0" fmla="*/ 0 w 6287651"/>
                <a:gd name="csY0" fmla="*/ 0 h 687330"/>
                <a:gd name="csX1" fmla="*/ 6287651 w 6287651"/>
                <a:gd name="csY1" fmla="*/ 0 h 687330"/>
                <a:gd name="csX2" fmla="*/ 6287651 w 6287651"/>
                <a:gd name="csY2" fmla="*/ 687330 h 687330"/>
                <a:gd name="csX3" fmla="*/ 4 w 6287651"/>
                <a:gd name="csY3" fmla="*/ 687330 h 687330"/>
                <a:gd name="csX4" fmla="*/ 69509 w 6287651"/>
                <a:gd name="csY4" fmla="*/ 647427 h 687330"/>
                <a:gd name="csX5" fmla="*/ 250330 w 6287651"/>
                <a:gd name="csY5" fmla="*/ 343666 h 687330"/>
                <a:gd name="csX6" fmla="*/ 69509 w 6287651"/>
                <a:gd name="csY6" fmla="*/ 39906 h 687330"/>
                <a:gd name="csX7" fmla="*/ 0 w 6287651"/>
                <a:gd name="csY7" fmla="*/ 0 h 6873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87651" h="687330">
                  <a:moveTo>
                    <a:pt x="0" y="0"/>
                  </a:moveTo>
                  <a:lnTo>
                    <a:pt x="6287651" y="0"/>
                  </a:lnTo>
                  <a:lnTo>
                    <a:pt x="6287651" y="687330"/>
                  </a:lnTo>
                  <a:lnTo>
                    <a:pt x="4" y="687330"/>
                  </a:lnTo>
                  <a:lnTo>
                    <a:pt x="69509" y="647427"/>
                  </a:lnTo>
                  <a:cubicBezTo>
                    <a:pt x="181229" y="569688"/>
                    <a:pt x="250330" y="462292"/>
                    <a:pt x="250330" y="343666"/>
                  </a:cubicBezTo>
                  <a:cubicBezTo>
                    <a:pt x="250330" y="225040"/>
                    <a:pt x="181229" y="117645"/>
                    <a:pt x="69509" y="39906"/>
                  </a:cubicBezTo>
                  <a:lnTo>
                    <a:pt x="0" y="0"/>
                  </a:lnTo>
                  <a:close/>
                </a:path>
              </a:pathLst>
            </a:custGeom>
            <a:noFill/>
            <a:ln>
              <a:solidFill>
                <a:srgbClr val="00206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wrap="square" anchor="ctr">
              <a:noAutofit/>
            </a:bodyPr>
            <a:lstStyle/>
            <a:p>
              <a:pPr lvl="1" defTabSz="2489200">
                <a:lnSpc>
                  <a:spcPct val="90000"/>
                </a:lnSpc>
                <a:spcBef>
                  <a:spcPct val="0"/>
                </a:spcBef>
                <a:spcAft>
                  <a:spcPct val="35000"/>
                </a:spcAft>
              </a:pPr>
              <a:r>
                <a:rPr lang="en-GB" dirty="0"/>
                <a:t>Create a transcriptomics workflow using the primary HBEC dataset</a:t>
              </a:r>
            </a:p>
          </p:txBody>
        </p:sp>
        <p:sp>
          <p:nvSpPr>
            <p:cNvPr id="33" name="Freeform 32">
              <a:extLst>
                <a:ext uri="{FF2B5EF4-FFF2-40B4-BE49-F238E27FC236}">
                  <a16:creationId xmlns:a16="http://schemas.microsoft.com/office/drawing/2014/main" id="{25235824-DDBA-856B-760A-C246E29F7841}"/>
                </a:ext>
              </a:extLst>
            </p:cNvPr>
            <p:cNvSpPr/>
            <p:nvPr/>
          </p:nvSpPr>
          <p:spPr>
            <a:xfrm>
              <a:off x="3529508" y="2981312"/>
              <a:ext cx="5928599" cy="687330"/>
            </a:xfrm>
            <a:custGeom>
              <a:avLst/>
              <a:gdLst>
                <a:gd name="csX0" fmla="*/ 0 w 5928599"/>
                <a:gd name="csY0" fmla="*/ 0 h 687330"/>
                <a:gd name="csX1" fmla="*/ 5928599 w 5928599"/>
                <a:gd name="csY1" fmla="*/ 0 h 687330"/>
                <a:gd name="csX2" fmla="*/ 5928599 w 5928599"/>
                <a:gd name="csY2" fmla="*/ 687330 h 687330"/>
                <a:gd name="csX3" fmla="*/ 14 w 5928599"/>
                <a:gd name="csY3" fmla="*/ 687330 h 687330"/>
                <a:gd name="csX4" fmla="*/ 69514 w 5928599"/>
                <a:gd name="csY4" fmla="*/ 647430 h 687330"/>
                <a:gd name="csX5" fmla="*/ 250335 w 5928599"/>
                <a:gd name="csY5" fmla="*/ 343669 h 687330"/>
                <a:gd name="csX6" fmla="*/ 69514 w 5928599"/>
                <a:gd name="csY6" fmla="*/ 39909 h 687330"/>
                <a:gd name="csX7" fmla="*/ 0 w 5928599"/>
                <a:gd name="csY7" fmla="*/ 0 h 6873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928599" h="687330">
                  <a:moveTo>
                    <a:pt x="0" y="0"/>
                  </a:moveTo>
                  <a:lnTo>
                    <a:pt x="5928599" y="0"/>
                  </a:lnTo>
                  <a:lnTo>
                    <a:pt x="5928599" y="687330"/>
                  </a:lnTo>
                  <a:lnTo>
                    <a:pt x="14" y="687330"/>
                  </a:lnTo>
                  <a:lnTo>
                    <a:pt x="69514" y="647430"/>
                  </a:lnTo>
                  <a:cubicBezTo>
                    <a:pt x="181234" y="569691"/>
                    <a:pt x="250335" y="462295"/>
                    <a:pt x="250335" y="343669"/>
                  </a:cubicBezTo>
                  <a:cubicBezTo>
                    <a:pt x="250335" y="225043"/>
                    <a:pt x="181234" y="117648"/>
                    <a:pt x="69514" y="39909"/>
                  </a:cubicBezTo>
                  <a:lnTo>
                    <a:pt x="0" y="0"/>
                  </a:lnTo>
                  <a:close/>
                </a:path>
              </a:pathLst>
            </a:custGeom>
            <a:noFill/>
            <a:ln>
              <a:solidFill>
                <a:srgbClr val="00206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wrap="square" anchor="ctr">
              <a:noAutofit/>
            </a:bodyPr>
            <a:lstStyle/>
            <a:p>
              <a:pPr lvl="1"/>
              <a:r>
                <a:rPr lang="en-GB" dirty="0"/>
                <a:t>Use exclusively open-access software</a:t>
              </a:r>
            </a:p>
          </p:txBody>
        </p:sp>
        <p:sp>
          <p:nvSpPr>
            <p:cNvPr id="37" name="Freeform 36">
              <a:extLst>
                <a:ext uri="{FF2B5EF4-FFF2-40B4-BE49-F238E27FC236}">
                  <a16:creationId xmlns:a16="http://schemas.microsoft.com/office/drawing/2014/main" id="{E4D89814-CB11-EFDF-EFFC-9C0B08263675}"/>
                </a:ext>
              </a:extLst>
            </p:cNvPr>
            <p:cNvSpPr/>
            <p:nvPr/>
          </p:nvSpPr>
          <p:spPr>
            <a:xfrm>
              <a:off x="3170452" y="4012309"/>
              <a:ext cx="6287654" cy="687330"/>
            </a:xfrm>
            <a:custGeom>
              <a:avLst/>
              <a:gdLst>
                <a:gd name="csX0" fmla="*/ 0 w 6287654"/>
                <a:gd name="csY0" fmla="*/ 0 h 687330"/>
                <a:gd name="csX1" fmla="*/ 6287654 w 6287654"/>
                <a:gd name="csY1" fmla="*/ 0 h 687330"/>
                <a:gd name="csX2" fmla="*/ 6287654 w 6287654"/>
                <a:gd name="csY2" fmla="*/ 687330 h 687330"/>
                <a:gd name="csX3" fmla="*/ 8 w 6287654"/>
                <a:gd name="csY3" fmla="*/ 687330 h 687330"/>
                <a:gd name="csX4" fmla="*/ 69511 w 6287654"/>
                <a:gd name="csY4" fmla="*/ 647428 h 687330"/>
                <a:gd name="csX5" fmla="*/ 250332 w 6287654"/>
                <a:gd name="csY5" fmla="*/ 343667 h 687330"/>
                <a:gd name="csX6" fmla="*/ 69511 w 6287654"/>
                <a:gd name="csY6" fmla="*/ 39907 h 687330"/>
                <a:gd name="csX7" fmla="*/ 0 w 6287654"/>
                <a:gd name="csY7" fmla="*/ 0 h 6873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87654" h="687330">
                  <a:moveTo>
                    <a:pt x="0" y="0"/>
                  </a:moveTo>
                  <a:lnTo>
                    <a:pt x="6287654" y="0"/>
                  </a:lnTo>
                  <a:lnTo>
                    <a:pt x="6287654" y="687330"/>
                  </a:lnTo>
                  <a:lnTo>
                    <a:pt x="8" y="687330"/>
                  </a:lnTo>
                  <a:lnTo>
                    <a:pt x="69511" y="647428"/>
                  </a:lnTo>
                  <a:cubicBezTo>
                    <a:pt x="181231" y="569689"/>
                    <a:pt x="250332" y="462293"/>
                    <a:pt x="250332" y="343667"/>
                  </a:cubicBezTo>
                  <a:cubicBezTo>
                    <a:pt x="250332" y="225041"/>
                    <a:pt x="181231" y="117646"/>
                    <a:pt x="69511" y="39907"/>
                  </a:cubicBezTo>
                  <a:lnTo>
                    <a:pt x="0" y="0"/>
                  </a:lnTo>
                  <a:close/>
                </a:path>
              </a:pathLst>
            </a:custGeom>
            <a:noFill/>
            <a:ln>
              <a:solidFill>
                <a:srgbClr val="00206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wrap="square" anchor="ctr">
              <a:noAutofit/>
            </a:bodyPr>
            <a:lstStyle/>
            <a:p>
              <a:pPr lvl="1"/>
              <a:r>
                <a:rPr lang="en-GB" dirty="0"/>
                <a:t>Apply the workflow to the Calu-3 dataset</a:t>
              </a:r>
            </a:p>
          </p:txBody>
        </p:sp>
        <p:sp>
          <p:nvSpPr>
            <p:cNvPr id="55" name="Oval 54">
              <a:extLst>
                <a:ext uri="{FF2B5EF4-FFF2-40B4-BE49-F238E27FC236}">
                  <a16:creationId xmlns:a16="http://schemas.microsoft.com/office/drawing/2014/main" id="{C292F2CA-9F77-C861-7C91-2C692B5EFBFD}"/>
                </a:ext>
              </a:extLst>
            </p:cNvPr>
            <p:cNvSpPr/>
            <p:nvPr/>
          </p:nvSpPr>
          <p:spPr>
            <a:xfrm>
              <a:off x="2186059" y="1864400"/>
              <a:ext cx="1234726" cy="859163"/>
            </a:xfrm>
            <a:prstGeom prst="ellipse">
              <a:avLst/>
            </a:prstGeom>
            <a:solidFill>
              <a:schemeClr val="bg2">
                <a:lumMod val="90000"/>
                <a:alpha val="75000"/>
              </a:schemeClr>
            </a:solidFill>
            <a:ln>
              <a:solidFill>
                <a:schemeClr val="tx2"/>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lstStyle/>
            <a:p>
              <a:pPr algn="ctr"/>
              <a:r>
                <a:rPr lang="en-GB" sz="3600" b="1" dirty="0">
                  <a:solidFill>
                    <a:schemeClr val="accent1">
                      <a:lumMod val="75000"/>
                    </a:schemeClr>
                  </a:solidFill>
                </a:rPr>
                <a:t>1</a:t>
              </a:r>
            </a:p>
          </p:txBody>
        </p:sp>
        <p:sp>
          <p:nvSpPr>
            <p:cNvPr id="56" name="Oval 55">
              <a:extLst>
                <a:ext uri="{FF2B5EF4-FFF2-40B4-BE49-F238E27FC236}">
                  <a16:creationId xmlns:a16="http://schemas.microsoft.com/office/drawing/2014/main" id="{4884063F-7F17-BC70-7C97-276DAD97944E}"/>
                </a:ext>
              </a:extLst>
            </p:cNvPr>
            <p:cNvSpPr/>
            <p:nvPr/>
          </p:nvSpPr>
          <p:spPr>
            <a:xfrm>
              <a:off x="2545117" y="2895399"/>
              <a:ext cx="1234726" cy="859163"/>
            </a:xfrm>
            <a:prstGeom prst="ellipse">
              <a:avLst/>
            </a:prstGeom>
            <a:solidFill>
              <a:schemeClr val="bg2">
                <a:lumMod val="90000"/>
                <a:alpha val="75000"/>
              </a:schemeClr>
            </a:solidFill>
            <a:ln>
              <a:solidFill>
                <a:schemeClr val="tx2"/>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lstStyle/>
            <a:p>
              <a:pPr algn="ctr"/>
              <a:r>
                <a:rPr lang="en-GB" sz="3600" b="1" dirty="0">
                  <a:solidFill>
                    <a:schemeClr val="accent1">
                      <a:lumMod val="75000"/>
                    </a:schemeClr>
                  </a:solidFill>
                </a:rPr>
                <a:t>2</a:t>
              </a:r>
            </a:p>
          </p:txBody>
        </p:sp>
        <p:sp>
          <p:nvSpPr>
            <p:cNvPr id="57" name="Oval 56">
              <a:extLst>
                <a:ext uri="{FF2B5EF4-FFF2-40B4-BE49-F238E27FC236}">
                  <a16:creationId xmlns:a16="http://schemas.microsoft.com/office/drawing/2014/main" id="{BBF51210-56CE-487E-7C9C-D37DD3F8F6C7}"/>
                </a:ext>
              </a:extLst>
            </p:cNvPr>
            <p:cNvSpPr/>
            <p:nvPr/>
          </p:nvSpPr>
          <p:spPr>
            <a:xfrm>
              <a:off x="2186058" y="3926394"/>
              <a:ext cx="1234726" cy="859163"/>
            </a:xfrm>
            <a:prstGeom prst="ellipse">
              <a:avLst/>
            </a:prstGeom>
            <a:solidFill>
              <a:schemeClr val="bg2">
                <a:lumMod val="90000"/>
                <a:alpha val="75000"/>
              </a:schemeClr>
            </a:solidFill>
            <a:ln>
              <a:solidFill>
                <a:schemeClr val="tx2"/>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lstStyle/>
            <a:p>
              <a:pPr algn="ctr"/>
              <a:r>
                <a:rPr lang="en-GB" sz="3600" b="1" dirty="0">
                  <a:solidFill>
                    <a:schemeClr val="accent1">
                      <a:lumMod val="75000"/>
                    </a:schemeClr>
                  </a:solidFill>
                </a:rPr>
                <a:t>3</a:t>
              </a:r>
            </a:p>
          </p:txBody>
        </p:sp>
      </p:grpSp>
      <p:sp>
        <p:nvSpPr>
          <p:cNvPr id="59" name="Slide Number Placeholder 58">
            <a:extLst>
              <a:ext uri="{FF2B5EF4-FFF2-40B4-BE49-F238E27FC236}">
                <a16:creationId xmlns:a16="http://schemas.microsoft.com/office/drawing/2014/main" id="{407C56A8-01D9-6375-6A1D-93155624A3D7}"/>
              </a:ext>
            </a:extLst>
          </p:cNvPr>
          <p:cNvSpPr>
            <a:spLocks noGrp="1"/>
          </p:cNvSpPr>
          <p:nvPr>
            <p:ph type="sldNum" sz="quarter" idx="12"/>
          </p:nvPr>
        </p:nvSpPr>
        <p:spPr/>
        <p:txBody>
          <a:bodyPr/>
          <a:lstStyle/>
          <a:p>
            <a:fld id="{AAB2C436-2398-F34B-A706-69BC3409080B}" type="slidenum">
              <a:rPr lang="en-GB" smtClean="0"/>
              <a:t>5</a:t>
            </a:fld>
            <a:endParaRPr lang="en-GB"/>
          </a:p>
        </p:txBody>
      </p:sp>
    </p:spTree>
    <p:extLst>
      <p:ext uri="{BB962C8B-B14F-4D97-AF65-F5344CB8AC3E}">
        <p14:creationId xmlns:p14="http://schemas.microsoft.com/office/powerpoint/2010/main" val="731615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5142B-8672-2B84-1B21-E413CE86B28A}"/>
            </a:ext>
          </a:extLst>
        </p:cNvPr>
        <p:cNvGrpSpPr/>
        <p:nvPr/>
      </p:nvGrpSpPr>
      <p:grpSpPr>
        <a:xfrm>
          <a:off x="0" y="0"/>
          <a:ext cx="0" cy="0"/>
          <a:chOff x="0" y="0"/>
          <a:chExt cx="0" cy="0"/>
        </a:xfrm>
      </p:grpSpPr>
      <p:sp>
        <p:nvSpPr>
          <p:cNvPr id="23" name="Rounded Rectangle 22">
            <a:extLst>
              <a:ext uri="{FF2B5EF4-FFF2-40B4-BE49-F238E27FC236}">
                <a16:creationId xmlns:a16="http://schemas.microsoft.com/office/drawing/2014/main" id="{8952349C-2345-F4D9-B2C5-DF5FF6C98C3B}"/>
              </a:ext>
            </a:extLst>
          </p:cNvPr>
          <p:cNvSpPr/>
          <p:nvPr/>
        </p:nvSpPr>
        <p:spPr>
          <a:xfrm>
            <a:off x="1894984" y="2521466"/>
            <a:ext cx="9506857" cy="2184400"/>
          </a:xfrm>
          <a:prstGeom prst="roundRect">
            <a:avLst/>
          </a:prstGeom>
          <a:solidFill>
            <a:schemeClr val="accent1">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41" name="Group 40">
            <a:extLst>
              <a:ext uri="{FF2B5EF4-FFF2-40B4-BE49-F238E27FC236}">
                <a16:creationId xmlns:a16="http://schemas.microsoft.com/office/drawing/2014/main" id="{EC08C3E7-79B2-07A2-5CEB-2EE421FB65B9}"/>
              </a:ext>
            </a:extLst>
          </p:cNvPr>
          <p:cNvGrpSpPr/>
          <p:nvPr/>
        </p:nvGrpSpPr>
        <p:grpSpPr>
          <a:xfrm>
            <a:off x="9018357" y="203886"/>
            <a:ext cx="2919600" cy="2792478"/>
            <a:chOff x="9018357" y="203886"/>
            <a:chExt cx="2919600" cy="2792478"/>
          </a:xfrm>
        </p:grpSpPr>
        <p:pic>
          <p:nvPicPr>
            <p:cNvPr id="33" name="Picture 32">
              <a:extLst>
                <a:ext uri="{FF2B5EF4-FFF2-40B4-BE49-F238E27FC236}">
                  <a16:creationId xmlns:a16="http://schemas.microsoft.com/office/drawing/2014/main" id="{9A2C40B7-C827-E7A7-5AD4-7F05248613DC}"/>
                </a:ext>
              </a:extLst>
            </p:cNvPr>
            <p:cNvPicPr>
              <a:picLocks noChangeAspect="1"/>
            </p:cNvPicPr>
            <p:nvPr/>
          </p:nvPicPr>
          <p:blipFill>
            <a:blip r:embed="rId3"/>
            <a:srcRect l="19213" t="8505" r="23376" b="54213"/>
            <a:stretch>
              <a:fillRect/>
            </a:stretch>
          </p:blipFill>
          <p:spPr>
            <a:xfrm>
              <a:off x="9124912" y="1327140"/>
              <a:ext cx="2193931" cy="785610"/>
            </a:xfrm>
            <a:prstGeom prst="rect">
              <a:avLst/>
            </a:prstGeom>
          </p:spPr>
        </p:pic>
        <p:sp>
          <p:nvSpPr>
            <p:cNvPr id="35" name="TextBox 34">
              <a:extLst>
                <a:ext uri="{FF2B5EF4-FFF2-40B4-BE49-F238E27FC236}">
                  <a16:creationId xmlns:a16="http://schemas.microsoft.com/office/drawing/2014/main" id="{7626B4F8-55B4-D832-7FA7-4DE44E811B9B}"/>
                </a:ext>
              </a:extLst>
            </p:cNvPr>
            <p:cNvSpPr txBox="1"/>
            <p:nvPr/>
          </p:nvSpPr>
          <p:spPr>
            <a:xfrm>
              <a:off x="9018357" y="203886"/>
              <a:ext cx="2919600" cy="1831271"/>
            </a:xfrm>
            <a:prstGeom prst="rect">
              <a:avLst/>
            </a:prstGeom>
            <a:noFill/>
            <a:ln w="19050">
              <a:solidFill>
                <a:schemeClr val="accent2"/>
              </a:solidFill>
            </a:ln>
          </p:spPr>
          <p:txBody>
            <a:bodyPr wrap="square" rtlCol="0">
              <a:spAutoFit/>
            </a:bodyPr>
            <a:lstStyle/>
            <a:p>
              <a:r>
                <a:rPr lang="en-GB" b="1" dirty="0"/>
                <a:t>Method Development</a:t>
              </a:r>
            </a:p>
            <a:p>
              <a:pPr marL="342900" indent="-342900">
                <a:buAutoNum type="arabicPeriod"/>
              </a:pPr>
              <a:r>
                <a:rPr lang="en-GB" sz="1400" dirty="0"/>
                <a:t>Target gene-level</a:t>
              </a:r>
            </a:p>
            <a:p>
              <a:pPr marL="342900" indent="-342900">
                <a:buAutoNum type="arabicPeriod"/>
              </a:pPr>
              <a:endParaRPr lang="en-GB" sz="300" dirty="0"/>
            </a:p>
            <a:p>
              <a:pPr marL="342900" indent="-342900">
                <a:buAutoNum type="arabicPeriod"/>
              </a:pPr>
              <a:r>
                <a:rPr lang="en-GB" sz="1400" dirty="0"/>
                <a:t>miRNA-level</a:t>
              </a:r>
            </a:p>
            <a:p>
              <a:pPr marL="342900" indent="-342900">
                <a:buAutoNum type="arabicPeriod"/>
              </a:pPr>
              <a:endParaRPr lang="en-GB" sz="800" dirty="0"/>
            </a:p>
            <a:p>
              <a:r>
                <a:rPr lang="en-GB" sz="1400" dirty="0"/>
                <a:t>Cell type: Primary HBEC</a:t>
              </a:r>
            </a:p>
            <a:p>
              <a:pPr marL="342900" indent="-342900">
                <a:buAutoNum type="arabicPeriod"/>
              </a:pPr>
              <a:endParaRPr lang="en-GB" sz="2400" dirty="0"/>
            </a:p>
            <a:p>
              <a:pPr marL="342900" indent="-342900">
                <a:buAutoNum type="arabicPeriod"/>
              </a:pPr>
              <a:endParaRPr lang="en-GB" dirty="0"/>
            </a:p>
          </p:txBody>
        </p:sp>
        <p:sp>
          <p:nvSpPr>
            <p:cNvPr id="34" name="Down Arrow 33">
              <a:extLst>
                <a:ext uri="{FF2B5EF4-FFF2-40B4-BE49-F238E27FC236}">
                  <a16:creationId xmlns:a16="http://schemas.microsoft.com/office/drawing/2014/main" id="{DF7BC269-0F38-04BC-2B25-65262E9844B6}"/>
                </a:ext>
              </a:extLst>
            </p:cNvPr>
            <p:cNvSpPr/>
            <p:nvPr/>
          </p:nvSpPr>
          <p:spPr>
            <a:xfrm rot="10800000">
              <a:off x="10351749" y="2061023"/>
              <a:ext cx="431042" cy="935341"/>
            </a:xfrm>
            <a:prstGeom prst="downArrow">
              <a:avLst/>
            </a:prstGeom>
            <a:solidFill>
              <a:srgbClr val="FFC000"/>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extBox 1">
            <a:extLst>
              <a:ext uri="{FF2B5EF4-FFF2-40B4-BE49-F238E27FC236}">
                <a16:creationId xmlns:a16="http://schemas.microsoft.com/office/drawing/2014/main" id="{D5B34106-3ADD-39A2-191E-09E77F334D61}"/>
              </a:ext>
            </a:extLst>
          </p:cNvPr>
          <p:cNvSpPr txBox="1"/>
          <p:nvPr/>
        </p:nvSpPr>
        <p:spPr>
          <a:xfrm>
            <a:off x="304800" y="228600"/>
            <a:ext cx="2910840" cy="830997"/>
          </a:xfrm>
          <a:prstGeom prst="rect">
            <a:avLst/>
          </a:prstGeom>
          <a:noFill/>
        </p:spPr>
        <p:txBody>
          <a:bodyPr wrap="square" rtlCol="0">
            <a:spAutoFit/>
          </a:bodyPr>
          <a:lstStyle/>
          <a:p>
            <a:r>
              <a:rPr lang="en-GB" sz="2400" b="1" dirty="0"/>
              <a:t>Transcriptomic Workflow</a:t>
            </a:r>
          </a:p>
        </p:txBody>
      </p:sp>
      <p:pic>
        <p:nvPicPr>
          <p:cNvPr id="3" name="Picture 2">
            <a:extLst>
              <a:ext uri="{FF2B5EF4-FFF2-40B4-BE49-F238E27FC236}">
                <a16:creationId xmlns:a16="http://schemas.microsoft.com/office/drawing/2014/main" id="{3C4DEB69-C20C-456D-DE65-C06C4AE5EF3C}"/>
              </a:ext>
            </a:extLst>
          </p:cNvPr>
          <p:cNvPicPr>
            <a:picLocks noChangeAspect="1"/>
          </p:cNvPicPr>
          <p:nvPr/>
        </p:nvPicPr>
        <p:blipFill>
          <a:blip r:embed="rId4"/>
          <a:srcRect l="47924" t="23573" r="5478" b="19535"/>
          <a:stretch>
            <a:fillRect/>
          </a:stretch>
        </p:blipFill>
        <p:spPr>
          <a:xfrm>
            <a:off x="72532" y="2996364"/>
            <a:ext cx="1756685" cy="1408826"/>
          </a:xfrm>
          <a:prstGeom prst="rect">
            <a:avLst/>
          </a:prstGeom>
        </p:spPr>
      </p:pic>
      <p:sp>
        <p:nvSpPr>
          <p:cNvPr id="24" name="Rectangle 23">
            <a:extLst>
              <a:ext uri="{FF2B5EF4-FFF2-40B4-BE49-F238E27FC236}">
                <a16:creationId xmlns:a16="http://schemas.microsoft.com/office/drawing/2014/main" id="{5851C7D3-E87C-6B11-4531-892B49FDCEA7}"/>
              </a:ext>
            </a:extLst>
          </p:cNvPr>
          <p:cNvSpPr/>
          <p:nvPr/>
        </p:nvSpPr>
        <p:spPr>
          <a:xfrm>
            <a:off x="2232444" y="3149208"/>
            <a:ext cx="1074058" cy="957996"/>
          </a:xfrm>
          <a:prstGeom prst="rect">
            <a:avLst/>
          </a:prstGeom>
          <a:solidFill>
            <a:srgbClr val="C5D3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ysClr val="windowText" lastClr="000000"/>
                </a:solidFill>
              </a:rPr>
              <a:t>Trimming</a:t>
            </a:r>
          </a:p>
        </p:txBody>
      </p:sp>
      <p:sp>
        <p:nvSpPr>
          <p:cNvPr id="25" name="Right Arrow 24">
            <a:extLst>
              <a:ext uri="{FF2B5EF4-FFF2-40B4-BE49-F238E27FC236}">
                <a16:creationId xmlns:a16="http://schemas.microsoft.com/office/drawing/2014/main" id="{9D98EE40-956B-AFDE-F251-197F23FD49F6}"/>
              </a:ext>
            </a:extLst>
          </p:cNvPr>
          <p:cNvSpPr/>
          <p:nvPr/>
        </p:nvSpPr>
        <p:spPr>
          <a:xfrm>
            <a:off x="3445294" y="3512091"/>
            <a:ext cx="587828" cy="232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42C4ADBE-3749-5CFE-B64A-F80F167EAB80}"/>
              </a:ext>
            </a:extLst>
          </p:cNvPr>
          <p:cNvSpPr/>
          <p:nvPr/>
        </p:nvSpPr>
        <p:spPr>
          <a:xfrm>
            <a:off x="4171914" y="3149208"/>
            <a:ext cx="1074058" cy="957996"/>
          </a:xfrm>
          <a:prstGeom prst="rect">
            <a:avLst/>
          </a:prstGeom>
          <a:solidFill>
            <a:srgbClr val="C5D3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ysClr val="windowText" lastClr="000000"/>
                </a:solidFill>
              </a:rPr>
              <a:t>Quality</a:t>
            </a:r>
          </a:p>
          <a:p>
            <a:pPr algn="ctr"/>
            <a:r>
              <a:rPr lang="en-GB" sz="1400" dirty="0">
                <a:solidFill>
                  <a:sysClr val="windowText" lastClr="000000"/>
                </a:solidFill>
              </a:rPr>
              <a:t>Control</a:t>
            </a:r>
          </a:p>
        </p:txBody>
      </p:sp>
      <p:sp>
        <p:nvSpPr>
          <p:cNvPr id="27" name="Right Arrow 26">
            <a:extLst>
              <a:ext uri="{FF2B5EF4-FFF2-40B4-BE49-F238E27FC236}">
                <a16:creationId xmlns:a16="http://schemas.microsoft.com/office/drawing/2014/main" id="{BFB453D8-E34B-E2FF-642F-7387651CBFC2}"/>
              </a:ext>
            </a:extLst>
          </p:cNvPr>
          <p:cNvSpPr/>
          <p:nvPr/>
        </p:nvSpPr>
        <p:spPr>
          <a:xfrm>
            <a:off x="5384764" y="3512091"/>
            <a:ext cx="587828" cy="232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CAC714F2-0A55-0853-1DE9-06F59E2C4B3C}"/>
              </a:ext>
            </a:extLst>
          </p:cNvPr>
          <p:cNvSpPr/>
          <p:nvPr/>
        </p:nvSpPr>
        <p:spPr>
          <a:xfrm>
            <a:off x="6111384" y="3105665"/>
            <a:ext cx="1074058" cy="957996"/>
          </a:xfrm>
          <a:prstGeom prst="rect">
            <a:avLst/>
          </a:prstGeom>
          <a:solidFill>
            <a:srgbClr val="C5D3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ysClr val="windowText" lastClr="000000"/>
                </a:solidFill>
              </a:rPr>
              <a:t>miRNA Mapping</a:t>
            </a:r>
          </a:p>
        </p:txBody>
      </p:sp>
      <p:sp>
        <p:nvSpPr>
          <p:cNvPr id="29" name="Right Arrow 28">
            <a:extLst>
              <a:ext uri="{FF2B5EF4-FFF2-40B4-BE49-F238E27FC236}">
                <a16:creationId xmlns:a16="http://schemas.microsoft.com/office/drawing/2014/main" id="{86F963C6-6654-3E71-5C6B-0AB075BAC902}"/>
              </a:ext>
            </a:extLst>
          </p:cNvPr>
          <p:cNvSpPr/>
          <p:nvPr/>
        </p:nvSpPr>
        <p:spPr>
          <a:xfrm>
            <a:off x="7324234" y="3468548"/>
            <a:ext cx="587828" cy="232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79550911-D385-4D87-E306-76ECD5B3B0BA}"/>
              </a:ext>
            </a:extLst>
          </p:cNvPr>
          <p:cNvSpPr/>
          <p:nvPr/>
        </p:nvSpPr>
        <p:spPr>
          <a:xfrm>
            <a:off x="8050854" y="3105665"/>
            <a:ext cx="1074058" cy="957996"/>
          </a:xfrm>
          <a:prstGeom prst="rect">
            <a:avLst/>
          </a:prstGeom>
          <a:solidFill>
            <a:srgbClr val="C5D3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ysClr val="windowText" lastClr="000000"/>
                </a:solidFill>
              </a:rPr>
              <a:t>Differential Expression</a:t>
            </a:r>
          </a:p>
        </p:txBody>
      </p:sp>
      <p:sp>
        <p:nvSpPr>
          <p:cNvPr id="31" name="Right Arrow 30">
            <a:extLst>
              <a:ext uri="{FF2B5EF4-FFF2-40B4-BE49-F238E27FC236}">
                <a16:creationId xmlns:a16="http://schemas.microsoft.com/office/drawing/2014/main" id="{C2EAB085-E14A-4B25-7A64-B0129EE9B9D7}"/>
              </a:ext>
            </a:extLst>
          </p:cNvPr>
          <p:cNvSpPr/>
          <p:nvPr/>
        </p:nvSpPr>
        <p:spPr>
          <a:xfrm>
            <a:off x="9263704" y="3468548"/>
            <a:ext cx="587828" cy="232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90B39F44-ADBC-1A93-09FC-C69904F998E3}"/>
              </a:ext>
            </a:extLst>
          </p:cNvPr>
          <p:cNvSpPr/>
          <p:nvPr/>
        </p:nvSpPr>
        <p:spPr>
          <a:xfrm>
            <a:off x="9990325" y="3105664"/>
            <a:ext cx="1153890" cy="957996"/>
          </a:xfrm>
          <a:prstGeom prst="rect">
            <a:avLst/>
          </a:prstGeom>
          <a:solidFill>
            <a:srgbClr val="C5D3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ysClr val="windowText" lastClr="000000"/>
                </a:solidFill>
              </a:rPr>
              <a:t>Pathway Analysis</a:t>
            </a:r>
          </a:p>
        </p:txBody>
      </p:sp>
      <p:grpSp>
        <p:nvGrpSpPr>
          <p:cNvPr id="42" name="Group 41">
            <a:extLst>
              <a:ext uri="{FF2B5EF4-FFF2-40B4-BE49-F238E27FC236}">
                <a16:creationId xmlns:a16="http://schemas.microsoft.com/office/drawing/2014/main" id="{F5C523E0-707C-2750-5F80-99703A363299}"/>
              </a:ext>
            </a:extLst>
          </p:cNvPr>
          <p:cNvGrpSpPr/>
          <p:nvPr/>
        </p:nvGrpSpPr>
        <p:grpSpPr>
          <a:xfrm>
            <a:off x="8953350" y="4107204"/>
            <a:ext cx="2982713" cy="2533157"/>
            <a:chOff x="8953350" y="4107204"/>
            <a:chExt cx="2982713" cy="2533157"/>
          </a:xfrm>
        </p:grpSpPr>
        <p:pic>
          <p:nvPicPr>
            <p:cNvPr id="36" name="Picture 35">
              <a:extLst>
                <a:ext uri="{FF2B5EF4-FFF2-40B4-BE49-F238E27FC236}">
                  <a16:creationId xmlns:a16="http://schemas.microsoft.com/office/drawing/2014/main" id="{AAFD0309-2B48-F2EB-A31C-23B26D822FAC}"/>
                </a:ext>
              </a:extLst>
            </p:cNvPr>
            <p:cNvPicPr>
              <a:picLocks noChangeAspect="1"/>
            </p:cNvPicPr>
            <p:nvPr/>
          </p:nvPicPr>
          <p:blipFill>
            <a:blip r:embed="rId3"/>
            <a:srcRect l="19213" t="71274" r="23376"/>
            <a:stretch>
              <a:fillRect/>
            </a:stretch>
          </p:blipFill>
          <p:spPr>
            <a:xfrm>
              <a:off x="8953350" y="5826050"/>
              <a:ext cx="2633703" cy="784800"/>
            </a:xfrm>
            <a:prstGeom prst="rect">
              <a:avLst/>
            </a:prstGeom>
          </p:spPr>
        </p:pic>
        <p:sp>
          <p:nvSpPr>
            <p:cNvPr id="37" name="TextBox 36">
              <a:extLst>
                <a:ext uri="{FF2B5EF4-FFF2-40B4-BE49-F238E27FC236}">
                  <a16:creationId xmlns:a16="http://schemas.microsoft.com/office/drawing/2014/main" id="{06B093BD-8347-994E-4213-3CA3F97C32CC}"/>
                </a:ext>
              </a:extLst>
            </p:cNvPr>
            <p:cNvSpPr txBox="1"/>
            <p:nvPr/>
          </p:nvSpPr>
          <p:spPr>
            <a:xfrm>
              <a:off x="9018357" y="5086089"/>
              <a:ext cx="2917706" cy="1554272"/>
            </a:xfrm>
            <a:prstGeom prst="rect">
              <a:avLst/>
            </a:prstGeom>
            <a:noFill/>
            <a:ln w="19050">
              <a:solidFill>
                <a:schemeClr val="accent3"/>
              </a:solidFill>
            </a:ln>
          </p:spPr>
          <p:txBody>
            <a:bodyPr wrap="square" rtlCol="0">
              <a:spAutoFit/>
            </a:bodyPr>
            <a:lstStyle/>
            <a:p>
              <a:r>
                <a:rPr lang="en-GB" sz="2000" b="1" dirty="0"/>
                <a:t>Literature Search</a:t>
              </a:r>
            </a:p>
            <a:p>
              <a:endParaRPr lang="en-GB" sz="600" dirty="0"/>
            </a:p>
            <a:p>
              <a:endParaRPr lang="en-GB" sz="300" dirty="0"/>
            </a:p>
            <a:p>
              <a:r>
                <a:rPr lang="en-GB" sz="1400" dirty="0"/>
                <a:t>Cell type: Calu-3</a:t>
              </a:r>
            </a:p>
            <a:p>
              <a:endParaRPr lang="en-GB" sz="2400" dirty="0"/>
            </a:p>
            <a:p>
              <a:endParaRPr lang="en-GB" sz="1400" dirty="0"/>
            </a:p>
            <a:p>
              <a:endParaRPr lang="en-GB" sz="1400" dirty="0"/>
            </a:p>
          </p:txBody>
        </p:sp>
        <p:sp>
          <p:nvSpPr>
            <p:cNvPr id="38" name="Down Arrow 37">
              <a:extLst>
                <a:ext uri="{FF2B5EF4-FFF2-40B4-BE49-F238E27FC236}">
                  <a16:creationId xmlns:a16="http://schemas.microsoft.com/office/drawing/2014/main" id="{0332363D-56D8-6C44-50B8-CEDCF83D6836}"/>
                </a:ext>
              </a:extLst>
            </p:cNvPr>
            <p:cNvSpPr/>
            <p:nvPr/>
          </p:nvSpPr>
          <p:spPr>
            <a:xfrm>
              <a:off x="10414506" y="4107204"/>
              <a:ext cx="431042" cy="935341"/>
            </a:xfrm>
            <a:prstGeom prst="downArrow">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Slide Number Placeholder 3">
            <a:extLst>
              <a:ext uri="{FF2B5EF4-FFF2-40B4-BE49-F238E27FC236}">
                <a16:creationId xmlns:a16="http://schemas.microsoft.com/office/drawing/2014/main" id="{560A96B9-00CF-F470-48D6-6E62D64110C1}"/>
              </a:ext>
            </a:extLst>
          </p:cNvPr>
          <p:cNvSpPr>
            <a:spLocks noGrp="1"/>
          </p:cNvSpPr>
          <p:nvPr>
            <p:ph type="sldNum" sz="quarter" idx="12"/>
          </p:nvPr>
        </p:nvSpPr>
        <p:spPr/>
        <p:txBody>
          <a:bodyPr/>
          <a:lstStyle/>
          <a:p>
            <a:fld id="{AAB2C436-2398-F34B-A706-69BC3409080B}" type="slidenum">
              <a:rPr lang="en-GB" smtClean="0"/>
              <a:t>6</a:t>
            </a:fld>
            <a:endParaRPr lang="en-GB"/>
          </a:p>
        </p:txBody>
      </p:sp>
      <p:sp>
        <p:nvSpPr>
          <p:cNvPr id="5" name="TextBox 4">
            <a:extLst>
              <a:ext uri="{FF2B5EF4-FFF2-40B4-BE49-F238E27FC236}">
                <a16:creationId xmlns:a16="http://schemas.microsoft.com/office/drawing/2014/main" id="{F2BA4F2E-B14B-4628-8365-89E14073C6ED}"/>
              </a:ext>
            </a:extLst>
          </p:cNvPr>
          <p:cNvSpPr txBox="1"/>
          <p:nvPr/>
        </p:nvSpPr>
        <p:spPr>
          <a:xfrm>
            <a:off x="127761" y="6470399"/>
            <a:ext cx="6907279" cy="246221"/>
          </a:xfrm>
          <a:prstGeom prst="rect">
            <a:avLst/>
          </a:prstGeom>
          <a:noFill/>
        </p:spPr>
        <p:txBody>
          <a:bodyPr wrap="square" rtlCol="0">
            <a:spAutoFit/>
          </a:bodyPr>
          <a:lstStyle/>
          <a:p>
            <a:r>
              <a:rPr lang="en-GB" sz="1000" dirty="0"/>
              <a:t>Figure created in </a:t>
            </a:r>
            <a:r>
              <a:rPr lang="en-GB" sz="1000" dirty="0" err="1"/>
              <a:t>BioRender</a:t>
            </a:r>
            <a:r>
              <a:rPr lang="en-GB" sz="1000" dirty="0"/>
              <a:t>: https://</a:t>
            </a:r>
            <a:r>
              <a:rPr lang="en-GB" sz="1000" dirty="0" err="1"/>
              <a:t>BioRender.com</a:t>
            </a:r>
            <a:r>
              <a:rPr lang="en-GB" sz="1000" dirty="0">
                <a:effectLst/>
              </a:rPr>
              <a:t> </a:t>
            </a:r>
            <a:endParaRPr lang="en-GB" sz="1000" dirty="0"/>
          </a:p>
        </p:txBody>
      </p:sp>
    </p:spTree>
    <p:extLst>
      <p:ext uri="{BB962C8B-B14F-4D97-AF65-F5344CB8AC3E}">
        <p14:creationId xmlns:p14="http://schemas.microsoft.com/office/powerpoint/2010/main" val="1406708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F26BB-6E53-9282-AFA4-13CE7C23B6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353275-9C57-8FB0-57A5-A7A3ADA41053}"/>
              </a:ext>
            </a:extLst>
          </p:cNvPr>
          <p:cNvSpPr txBox="1"/>
          <p:nvPr/>
        </p:nvSpPr>
        <p:spPr>
          <a:xfrm>
            <a:off x="304800" y="228600"/>
            <a:ext cx="2910840" cy="461665"/>
          </a:xfrm>
          <a:prstGeom prst="rect">
            <a:avLst/>
          </a:prstGeom>
          <a:noFill/>
        </p:spPr>
        <p:txBody>
          <a:bodyPr wrap="square" rtlCol="0">
            <a:spAutoFit/>
          </a:bodyPr>
          <a:lstStyle/>
          <a:p>
            <a:r>
              <a:rPr lang="en-GB" sz="2400" b="1" dirty="0"/>
              <a:t>Results (1)</a:t>
            </a:r>
          </a:p>
        </p:txBody>
      </p:sp>
      <p:pic>
        <p:nvPicPr>
          <p:cNvPr id="6" name="Picture 5">
            <a:extLst>
              <a:ext uri="{FF2B5EF4-FFF2-40B4-BE49-F238E27FC236}">
                <a16:creationId xmlns:a16="http://schemas.microsoft.com/office/drawing/2014/main" id="{3FBDBA3C-3C3B-7E5D-5D6A-33A798566D2C}"/>
              </a:ext>
            </a:extLst>
          </p:cNvPr>
          <p:cNvPicPr>
            <a:picLocks noChangeAspect="1"/>
          </p:cNvPicPr>
          <p:nvPr/>
        </p:nvPicPr>
        <p:blipFill>
          <a:blip r:embed="rId3"/>
          <a:srcRect l="2803" t="32411" r="10388" b="33218"/>
          <a:stretch>
            <a:fillRect/>
          </a:stretch>
        </p:blipFill>
        <p:spPr>
          <a:xfrm>
            <a:off x="2405411" y="1721708"/>
            <a:ext cx="7956852" cy="2224216"/>
          </a:xfrm>
          <a:prstGeom prst="rect">
            <a:avLst/>
          </a:prstGeom>
        </p:spPr>
      </p:pic>
      <p:pic>
        <p:nvPicPr>
          <p:cNvPr id="9" name="Picture 8">
            <a:extLst>
              <a:ext uri="{FF2B5EF4-FFF2-40B4-BE49-F238E27FC236}">
                <a16:creationId xmlns:a16="http://schemas.microsoft.com/office/drawing/2014/main" id="{DA8A0A54-8CD9-35D3-BF5D-B660EE19E4BD}"/>
              </a:ext>
            </a:extLst>
          </p:cNvPr>
          <p:cNvPicPr>
            <a:picLocks noChangeAspect="1"/>
          </p:cNvPicPr>
          <p:nvPr/>
        </p:nvPicPr>
        <p:blipFill>
          <a:blip r:embed="rId4"/>
          <a:srcRect l="19213" t="8505" r="23376" b="54213"/>
          <a:stretch>
            <a:fillRect/>
          </a:stretch>
        </p:blipFill>
        <p:spPr>
          <a:xfrm>
            <a:off x="493869" y="2326076"/>
            <a:ext cx="2079860" cy="840007"/>
          </a:xfrm>
          <a:prstGeom prst="rect">
            <a:avLst/>
          </a:prstGeom>
        </p:spPr>
      </p:pic>
      <p:sp>
        <p:nvSpPr>
          <p:cNvPr id="10" name="TextBox 9">
            <a:extLst>
              <a:ext uri="{FF2B5EF4-FFF2-40B4-BE49-F238E27FC236}">
                <a16:creationId xmlns:a16="http://schemas.microsoft.com/office/drawing/2014/main" id="{5AD8D274-EF4E-326A-7E7F-FFEF56D691D2}"/>
              </a:ext>
            </a:extLst>
          </p:cNvPr>
          <p:cNvSpPr txBox="1"/>
          <p:nvPr/>
        </p:nvSpPr>
        <p:spPr>
          <a:xfrm>
            <a:off x="567609" y="2039413"/>
            <a:ext cx="2454442" cy="338554"/>
          </a:xfrm>
          <a:prstGeom prst="rect">
            <a:avLst/>
          </a:prstGeom>
          <a:noFill/>
        </p:spPr>
        <p:txBody>
          <a:bodyPr wrap="square" rtlCol="0">
            <a:spAutoFit/>
          </a:bodyPr>
          <a:lstStyle/>
          <a:p>
            <a:r>
              <a:rPr lang="en-GB" sz="1600" dirty="0"/>
              <a:t>Primary HBEC</a:t>
            </a:r>
          </a:p>
        </p:txBody>
      </p:sp>
      <p:sp>
        <p:nvSpPr>
          <p:cNvPr id="11" name="TextBox 10">
            <a:extLst>
              <a:ext uri="{FF2B5EF4-FFF2-40B4-BE49-F238E27FC236}">
                <a16:creationId xmlns:a16="http://schemas.microsoft.com/office/drawing/2014/main" id="{862B3750-08E1-32B8-4655-2F72B9135863}"/>
              </a:ext>
            </a:extLst>
          </p:cNvPr>
          <p:cNvSpPr txBox="1"/>
          <p:nvPr/>
        </p:nvSpPr>
        <p:spPr>
          <a:xfrm>
            <a:off x="493869" y="4696865"/>
            <a:ext cx="2819801" cy="338554"/>
          </a:xfrm>
          <a:prstGeom prst="rect">
            <a:avLst/>
          </a:prstGeom>
          <a:noFill/>
        </p:spPr>
        <p:txBody>
          <a:bodyPr wrap="square" rtlCol="0">
            <a:spAutoFit/>
          </a:bodyPr>
          <a:lstStyle/>
          <a:p>
            <a:r>
              <a:rPr lang="en-GB" sz="1600" dirty="0"/>
              <a:t>Calu-3 </a:t>
            </a:r>
          </a:p>
        </p:txBody>
      </p:sp>
      <p:pic>
        <p:nvPicPr>
          <p:cNvPr id="12" name="Picture 11">
            <a:extLst>
              <a:ext uri="{FF2B5EF4-FFF2-40B4-BE49-F238E27FC236}">
                <a16:creationId xmlns:a16="http://schemas.microsoft.com/office/drawing/2014/main" id="{4C3CA742-2BBD-87FD-875F-3FA2240C23ED}"/>
              </a:ext>
            </a:extLst>
          </p:cNvPr>
          <p:cNvPicPr>
            <a:picLocks noChangeAspect="1"/>
          </p:cNvPicPr>
          <p:nvPr/>
        </p:nvPicPr>
        <p:blipFill>
          <a:blip r:embed="rId4"/>
          <a:srcRect l="21717" t="71274" r="23377"/>
          <a:stretch>
            <a:fillRect/>
          </a:stretch>
        </p:blipFill>
        <p:spPr>
          <a:xfrm>
            <a:off x="493869" y="4993495"/>
            <a:ext cx="1915297" cy="623188"/>
          </a:xfrm>
          <a:prstGeom prst="rect">
            <a:avLst/>
          </a:prstGeom>
        </p:spPr>
      </p:pic>
      <p:pic>
        <p:nvPicPr>
          <p:cNvPr id="13" name="Picture 12">
            <a:extLst>
              <a:ext uri="{FF2B5EF4-FFF2-40B4-BE49-F238E27FC236}">
                <a16:creationId xmlns:a16="http://schemas.microsoft.com/office/drawing/2014/main" id="{EBA23783-1FA4-B952-6824-D7AB83777F3B}"/>
              </a:ext>
            </a:extLst>
          </p:cNvPr>
          <p:cNvPicPr>
            <a:picLocks noChangeAspect="1"/>
          </p:cNvPicPr>
          <p:nvPr/>
        </p:nvPicPr>
        <p:blipFill>
          <a:blip r:embed="rId3"/>
          <a:srcRect l="2803" t="66782" r="10388"/>
          <a:stretch>
            <a:fillRect/>
          </a:stretch>
        </p:blipFill>
        <p:spPr>
          <a:xfrm>
            <a:off x="2444158" y="4312456"/>
            <a:ext cx="7956000" cy="1957118"/>
          </a:xfrm>
          <a:prstGeom prst="rect">
            <a:avLst/>
          </a:prstGeom>
        </p:spPr>
      </p:pic>
      <p:pic>
        <p:nvPicPr>
          <p:cNvPr id="8" name="Picture 7">
            <a:extLst>
              <a:ext uri="{FF2B5EF4-FFF2-40B4-BE49-F238E27FC236}">
                <a16:creationId xmlns:a16="http://schemas.microsoft.com/office/drawing/2014/main" id="{C2003DC8-9222-8317-0E4E-69532E1050BB}"/>
              </a:ext>
            </a:extLst>
          </p:cNvPr>
          <p:cNvPicPr>
            <a:picLocks noChangeAspect="1"/>
          </p:cNvPicPr>
          <p:nvPr/>
        </p:nvPicPr>
        <p:blipFill>
          <a:blip r:embed="rId3"/>
          <a:srcRect l="89253" t="69850" b="8497"/>
          <a:stretch>
            <a:fillRect/>
          </a:stretch>
        </p:blipFill>
        <p:spPr>
          <a:xfrm>
            <a:off x="10096946" y="2598545"/>
            <a:ext cx="1905583" cy="2468234"/>
          </a:xfrm>
          <a:prstGeom prst="rect">
            <a:avLst/>
          </a:prstGeom>
        </p:spPr>
      </p:pic>
      <p:graphicFrame>
        <p:nvGraphicFramePr>
          <p:cNvPr id="17" name="Table 16">
            <a:extLst>
              <a:ext uri="{FF2B5EF4-FFF2-40B4-BE49-F238E27FC236}">
                <a16:creationId xmlns:a16="http://schemas.microsoft.com/office/drawing/2014/main" id="{05789772-1E22-C121-5AA4-E30170F8F5D9}"/>
              </a:ext>
            </a:extLst>
          </p:cNvPr>
          <p:cNvGraphicFramePr>
            <a:graphicFrameLocks noGrp="1"/>
          </p:cNvGraphicFramePr>
          <p:nvPr/>
        </p:nvGraphicFramePr>
        <p:xfrm>
          <a:off x="4448432" y="149892"/>
          <a:ext cx="6295768" cy="1003829"/>
        </p:xfrm>
        <a:graphic>
          <a:graphicData uri="http://schemas.openxmlformats.org/drawingml/2006/table">
            <a:tbl>
              <a:tblPr firstRow="1" bandRow="1">
                <a:tableStyleId>{F2DE63D5-997A-4646-A377-4702673A728D}</a:tableStyleId>
              </a:tblPr>
              <a:tblGrid>
                <a:gridCol w="6295768">
                  <a:extLst>
                    <a:ext uri="{9D8B030D-6E8A-4147-A177-3AD203B41FA5}">
                      <a16:colId xmlns:a16="http://schemas.microsoft.com/office/drawing/2014/main" val="3859239714"/>
                    </a:ext>
                  </a:extLst>
                </a:gridCol>
              </a:tblGrid>
              <a:tr h="496642">
                <a:tc>
                  <a:txBody>
                    <a:bodyPr/>
                    <a:lstStyle/>
                    <a:p>
                      <a:r>
                        <a:rPr lang="en-GB" dirty="0"/>
                        <a:t>Summary</a:t>
                      </a:r>
                    </a:p>
                  </a:txBody>
                  <a:tcPr/>
                </a:tc>
                <a:extLst>
                  <a:ext uri="{0D108BD9-81ED-4DB2-BD59-A6C34878D82A}">
                    <a16:rowId xmlns:a16="http://schemas.microsoft.com/office/drawing/2014/main" val="1484715783"/>
                  </a:ext>
                </a:extLst>
              </a:tr>
              <a:tr h="507187">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Low miRNA abundance in Calu-3 samples</a:t>
                      </a:r>
                    </a:p>
                  </a:txBody>
                  <a:tcPr/>
                </a:tc>
                <a:extLst>
                  <a:ext uri="{0D108BD9-81ED-4DB2-BD59-A6C34878D82A}">
                    <a16:rowId xmlns:a16="http://schemas.microsoft.com/office/drawing/2014/main" val="943029511"/>
                  </a:ext>
                </a:extLst>
              </a:tr>
            </a:tbl>
          </a:graphicData>
        </a:graphic>
      </p:graphicFrame>
      <p:grpSp>
        <p:nvGrpSpPr>
          <p:cNvPr id="24" name="Group 23">
            <a:extLst>
              <a:ext uri="{FF2B5EF4-FFF2-40B4-BE49-F238E27FC236}">
                <a16:creationId xmlns:a16="http://schemas.microsoft.com/office/drawing/2014/main" id="{09854969-86BA-DF1A-48BE-BD776CF528CF}"/>
              </a:ext>
            </a:extLst>
          </p:cNvPr>
          <p:cNvGrpSpPr/>
          <p:nvPr/>
        </p:nvGrpSpPr>
        <p:grpSpPr>
          <a:xfrm>
            <a:off x="3443416" y="1276832"/>
            <a:ext cx="1005016" cy="3046562"/>
            <a:chOff x="3443416" y="1276832"/>
            <a:chExt cx="1005016" cy="3046562"/>
          </a:xfrm>
        </p:grpSpPr>
        <p:grpSp>
          <p:nvGrpSpPr>
            <p:cNvPr id="20" name="Group 19">
              <a:extLst>
                <a:ext uri="{FF2B5EF4-FFF2-40B4-BE49-F238E27FC236}">
                  <a16:creationId xmlns:a16="http://schemas.microsoft.com/office/drawing/2014/main" id="{76C5B829-8BFE-1126-ECEB-1E7C1F2031E6}"/>
                </a:ext>
              </a:extLst>
            </p:cNvPr>
            <p:cNvGrpSpPr/>
            <p:nvPr/>
          </p:nvGrpSpPr>
          <p:grpSpPr>
            <a:xfrm>
              <a:off x="3443416" y="1276832"/>
              <a:ext cx="1005016" cy="527254"/>
              <a:chOff x="3443416" y="1276832"/>
              <a:chExt cx="1005016" cy="527254"/>
            </a:xfrm>
          </p:grpSpPr>
          <p:sp>
            <p:nvSpPr>
              <p:cNvPr id="18" name="Down Arrow 17">
                <a:extLst>
                  <a:ext uri="{FF2B5EF4-FFF2-40B4-BE49-F238E27FC236}">
                    <a16:creationId xmlns:a16="http://schemas.microsoft.com/office/drawing/2014/main" id="{83A97EDD-ECF4-D855-D8DA-BE861A0E7E29}"/>
                  </a:ext>
                </a:extLst>
              </p:cNvPr>
              <p:cNvSpPr/>
              <p:nvPr/>
            </p:nvSpPr>
            <p:spPr>
              <a:xfrm>
                <a:off x="3674076" y="1540476"/>
                <a:ext cx="164756" cy="263610"/>
              </a:xfrm>
              <a:prstGeom prst="downArrow">
                <a:avLst/>
              </a:prstGeom>
              <a:solidFill>
                <a:schemeClr val="tx2">
                  <a:lumMod val="75000"/>
                  <a:lumOff val="2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069E61E2-DFCB-C166-139F-624CCB833DD5}"/>
                  </a:ext>
                </a:extLst>
              </p:cNvPr>
              <p:cNvSpPr txBox="1"/>
              <p:nvPr/>
            </p:nvSpPr>
            <p:spPr>
              <a:xfrm>
                <a:off x="3443416" y="1276832"/>
                <a:ext cx="1005016" cy="261610"/>
              </a:xfrm>
              <a:prstGeom prst="rect">
                <a:avLst/>
              </a:prstGeom>
              <a:noFill/>
            </p:spPr>
            <p:txBody>
              <a:bodyPr wrap="square" rtlCol="0">
                <a:spAutoFit/>
              </a:bodyPr>
              <a:lstStyle/>
              <a:p>
                <a:r>
                  <a:rPr lang="en-GB" sz="1100" dirty="0"/>
                  <a:t>miRNA</a:t>
                </a:r>
              </a:p>
            </p:txBody>
          </p:sp>
        </p:grpSp>
        <p:grpSp>
          <p:nvGrpSpPr>
            <p:cNvPr id="21" name="Group 20">
              <a:extLst>
                <a:ext uri="{FF2B5EF4-FFF2-40B4-BE49-F238E27FC236}">
                  <a16:creationId xmlns:a16="http://schemas.microsoft.com/office/drawing/2014/main" id="{2FEDDF61-DD0A-D24C-824D-7A4334C93230}"/>
                </a:ext>
              </a:extLst>
            </p:cNvPr>
            <p:cNvGrpSpPr/>
            <p:nvPr/>
          </p:nvGrpSpPr>
          <p:grpSpPr>
            <a:xfrm>
              <a:off x="3443416" y="3796140"/>
              <a:ext cx="1005016" cy="527254"/>
              <a:chOff x="3443416" y="1276832"/>
              <a:chExt cx="1005016" cy="527254"/>
            </a:xfrm>
          </p:grpSpPr>
          <p:sp>
            <p:nvSpPr>
              <p:cNvPr id="22" name="Down Arrow 21">
                <a:extLst>
                  <a:ext uri="{FF2B5EF4-FFF2-40B4-BE49-F238E27FC236}">
                    <a16:creationId xmlns:a16="http://schemas.microsoft.com/office/drawing/2014/main" id="{27EA8159-C2C2-6151-3F3A-1DAA2AAFC651}"/>
                  </a:ext>
                </a:extLst>
              </p:cNvPr>
              <p:cNvSpPr/>
              <p:nvPr/>
            </p:nvSpPr>
            <p:spPr>
              <a:xfrm>
                <a:off x="3674076" y="1540476"/>
                <a:ext cx="164756" cy="263610"/>
              </a:xfrm>
              <a:prstGeom prst="downArrow">
                <a:avLst/>
              </a:prstGeom>
              <a:solidFill>
                <a:schemeClr val="tx2">
                  <a:lumMod val="75000"/>
                  <a:lumOff val="2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2827DA66-3DF7-E3A8-9134-7177460B7B2A}"/>
                  </a:ext>
                </a:extLst>
              </p:cNvPr>
              <p:cNvSpPr txBox="1"/>
              <p:nvPr/>
            </p:nvSpPr>
            <p:spPr>
              <a:xfrm>
                <a:off x="3443416" y="1276832"/>
                <a:ext cx="1005016" cy="261610"/>
              </a:xfrm>
              <a:prstGeom prst="rect">
                <a:avLst/>
              </a:prstGeom>
              <a:noFill/>
            </p:spPr>
            <p:txBody>
              <a:bodyPr wrap="square" rtlCol="0">
                <a:spAutoFit/>
              </a:bodyPr>
              <a:lstStyle/>
              <a:p>
                <a:r>
                  <a:rPr lang="en-GB" sz="1100" dirty="0"/>
                  <a:t>miRNA</a:t>
                </a:r>
              </a:p>
            </p:txBody>
          </p:sp>
        </p:grpSp>
      </p:grpSp>
      <p:sp>
        <p:nvSpPr>
          <p:cNvPr id="25" name="TextBox 24">
            <a:extLst>
              <a:ext uri="{FF2B5EF4-FFF2-40B4-BE49-F238E27FC236}">
                <a16:creationId xmlns:a16="http://schemas.microsoft.com/office/drawing/2014/main" id="{926B5D9F-8497-B374-9C9A-48F2E9A7A6D9}"/>
              </a:ext>
            </a:extLst>
          </p:cNvPr>
          <p:cNvSpPr txBox="1"/>
          <p:nvPr/>
        </p:nvSpPr>
        <p:spPr>
          <a:xfrm>
            <a:off x="532609" y="6146463"/>
            <a:ext cx="6907279" cy="246221"/>
          </a:xfrm>
          <a:prstGeom prst="rect">
            <a:avLst/>
          </a:prstGeom>
          <a:noFill/>
        </p:spPr>
        <p:txBody>
          <a:bodyPr wrap="square" rtlCol="0">
            <a:spAutoFit/>
          </a:bodyPr>
          <a:lstStyle/>
          <a:p>
            <a:r>
              <a:rPr lang="en-GB" sz="1000" dirty="0"/>
              <a:t>Figure derived from thesis Figure 3</a:t>
            </a:r>
          </a:p>
        </p:txBody>
      </p:sp>
      <p:sp>
        <p:nvSpPr>
          <p:cNvPr id="4" name="Slide Number Placeholder 3">
            <a:extLst>
              <a:ext uri="{FF2B5EF4-FFF2-40B4-BE49-F238E27FC236}">
                <a16:creationId xmlns:a16="http://schemas.microsoft.com/office/drawing/2014/main" id="{BB590EF5-8F00-2C1D-42F0-CE95A80EED40}"/>
              </a:ext>
            </a:extLst>
          </p:cNvPr>
          <p:cNvSpPr>
            <a:spLocks noGrp="1"/>
          </p:cNvSpPr>
          <p:nvPr>
            <p:ph type="sldNum" sz="quarter" idx="12"/>
          </p:nvPr>
        </p:nvSpPr>
        <p:spPr/>
        <p:txBody>
          <a:bodyPr/>
          <a:lstStyle/>
          <a:p>
            <a:fld id="{AAB2C436-2398-F34B-A706-69BC3409080B}" type="slidenum">
              <a:rPr lang="en-GB" smtClean="0"/>
              <a:t>7</a:t>
            </a:fld>
            <a:endParaRPr lang="en-GB"/>
          </a:p>
        </p:txBody>
      </p:sp>
    </p:spTree>
    <p:extLst>
      <p:ext uri="{BB962C8B-B14F-4D97-AF65-F5344CB8AC3E}">
        <p14:creationId xmlns:p14="http://schemas.microsoft.com/office/powerpoint/2010/main" val="2146991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9" presetClass="emph" presetSubtype="0" nodeType="withEffect">
                                  <p:stCondLst>
                                    <p:cond delay="0"/>
                                  </p:stCondLst>
                                  <p:childTnLst>
                                    <p:set>
                                      <p:cBhvr>
                                        <p:cTn id="12" dur="indefinite"/>
                                        <p:tgtEl>
                                          <p:spTgt spid="6"/>
                                        </p:tgtEl>
                                        <p:attrNameLst>
                                          <p:attrName>style.opacity</p:attrName>
                                        </p:attrNameLst>
                                      </p:cBhvr>
                                      <p:to>
                                        <p:strVal val="0.5"/>
                                      </p:to>
                                    </p:set>
                                    <p:animEffect filter="image" prLst="opacity: 0.5">
                                      <p:cBhvr rctx="IE">
                                        <p:cTn id="13" dur="indefinite"/>
                                        <p:tgtEl>
                                          <p:spTgt spid="6"/>
                                        </p:tgtEl>
                                      </p:cBhvr>
                                    </p:animEffect>
                                  </p:childTnLst>
                                </p:cTn>
                              </p:par>
                              <p:par>
                                <p:cTn id="14" presetID="9" presetClass="emph" presetSubtype="0" nodeType="withEffect">
                                  <p:stCondLst>
                                    <p:cond delay="0"/>
                                  </p:stCondLst>
                                  <p:childTnLst>
                                    <p:set>
                                      <p:cBhvr>
                                        <p:cTn id="15" dur="indefinite"/>
                                        <p:tgtEl>
                                          <p:spTgt spid="9"/>
                                        </p:tgtEl>
                                        <p:attrNameLst>
                                          <p:attrName>style.opacity</p:attrName>
                                        </p:attrNameLst>
                                      </p:cBhvr>
                                      <p:to>
                                        <p:strVal val="0.5"/>
                                      </p:to>
                                    </p:set>
                                    <p:animEffect filter="image" prLst="opacity: 0.5">
                                      <p:cBhvr rctx="IE">
                                        <p:cTn id="16" dur="indefinite"/>
                                        <p:tgtEl>
                                          <p:spTgt spid="9"/>
                                        </p:tgtEl>
                                      </p:cBhvr>
                                    </p:animEffect>
                                  </p:childTnLst>
                                </p:cTn>
                              </p:par>
                              <p:par>
                                <p:cTn id="17" presetID="9" presetClass="emph" presetSubtype="0" grpId="0" nodeType="withEffect">
                                  <p:stCondLst>
                                    <p:cond delay="0"/>
                                  </p:stCondLst>
                                  <p:childTnLst>
                                    <p:set>
                                      <p:cBhvr>
                                        <p:cTn id="18" dur="indefinite"/>
                                        <p:tgtEl>
                                          <p:spTgt spid="10"/>
                                        </p:tgtEl>
                                        <p:attrNameLst>
                                          <p:attrName>style.opacity</p:attrName>
                                        </p:attrNameLst>
                                      </p:cBhvr>
                                      <p:to>
                                        <p:strVal val="0.5"/>
                                      </p:to>
                                    </p:set>
                                    <p:animEffect filter="image" prLst="opacity: 0.5">
                                      <p:cBhvr rctx="IE">
                                        <p:cTn id="19" dur="indefinite"/>
                                        <p:tgtEl>
                                          <p:spTgt spid="10"/>
                                        </p:tgtEl>
                                      </p:cBhvr>
                                    </p:animEffect>
                                  </p:childTnLst>
                                </p:cTn>
                              </p:par>
                              <p:par>
                                <p:cTn id="20" presetID="9" presetClass="emph" presetSubtype="0" grpId="0" nodeType="withEffect">
                                  <p:stCondLst>
                                    <p:cond delay="0"/>
                                  </p:stCondLst>
                                  <p:childTnLst>
                                    <p:set>
                                      <p:cBhvr>
                                        <p:cTn id="21" dur="indefinite"/>
                                        <p:tgtEl>
                                          <p:spTgt spid="11"/>
                                        </p:tgtEl>
                                        <p:attrNameLst>
                                          <p:attrName>style.opacity</p:attrName>
                                        </p:attrNameLst>
                                      </p:cBhvr>
                                      <p:to>
                                        <p:strVal val="0.5"/>
                                      </p:to>
                                    </p:set>
                                    <p:animEffect filter="image" prLst="opacity: 0.5">
                                      <p:cBhvr rctx="IE">
                                        <p:cTn id="22" dur="indefinite"/>
                                        <p:tgtEl>
                                          <p:spTgt spid="11"/>
                                        </p:tgtEl>
                                      </p:cBhvr>
                                    </p:animEffect>
                                  </p:childTnLst>
                                </p:cTn>
                              </p:par>
                              <p:par>
                                <p:cTn id="23" presetID="9" presetClass="emph" presetSubtype="0" nodeType="withEffect">
                                  <p:stCondLst>
                                    <p:cond delay="0"/>
                                  </p:stCondLst>
                                  <p:childTnLst>
                                    <p:set>
                                      <p:cBhvr>
                                        <p:cTn id="24" dur="indefinite"/>
                                        <p:tgtEl>
                                          <p:spTgt spid="12"/>
                                        </p:tgtEl>
                                        <p:attrNameLst>
                                          <p:attrName>style.opacity</p:attrName>
                                        </p:attrNameLst>
                                      </p:cBhvr>
                                      <p:to>
                                        <p:strVal val="0.5"/>
                                      </p:to>
                                    </p:set>
                                    <p:animEffect filter="image" prLst="opacity: 0.5">
                                      <p:cBhvr rctx="IE">
                                        <p:cTn id="25" dur="indefinite"/>
                                        <p:tgtEl>
                                          <p:spTgt spid="12"/>
                                        </p:tgtEl>
                                      </p:cBhvr>
                                    </p:animEffect>
                                  </p:childTnLst>
                                </p:cTn>
                              </p:par>
                              <p:par>
                                <p:cTn id="26" presetID="9" presetClass="emph" presetSubtype="0" nodeType="withEffect">
                                  <p:stCondLst>
                                    <p:cond delay="0"/>
                                  </p:stCondLst>
                                  <p:childTnLst>
                                    <p:set>
                                      <p:cBhvr>
                                        <p:cTn id="27" dur="indefinite"/>
                                        <p:tgtEl>
                                          <p:spTgt spid="13"/>
                                        </p:tgtEl>
                                        <p:attrNameLst>
                                          <p:attrName>style.opacity</p:attrName>
                                        </p:attrNameLst>
                                      </p:cBhvr>
                                      <p:to>
                                        <p:strVal val="0.5"/>
                                      </p:to>
                                    </p:set>
                                    <p:animEffect filter="image" prLst="opacity: 0.5">
                                      <p:cBhvr rctx="IE">
                                        <p:cTn id="28" dur="indefinite"/>
                                        <p:tgtEl>
                                          <p:spTgt spid="13"/>
                                        </p:tgtEl>
                                      </p:cBhvr>
                                    </p:animEffect>
                                  </p:childTnLst>
                                </p:cTn>
                              </p:par>
                              <p:par>
                                <p:cTn id="29" presetID="9" presetClass="emph" presetSubtype="0" nodeType="withEffect">
                                  <p:stCondLst>
                                    <p:cond delay="0"/>
                                  </p:stCondLst>
                                  <p:childTnLst>
                                    <p:set>
                                      <p:cBhvr>
                                        <p:cTn id="30" dur="indefinite"/>
                                        <p:tgtEl>
                                          <p:spTgt spid="8"/>
                                        </p:tgtEl>
                                        <p:attrNameLst>
                                          <p:attrName>style.opacity</p:attrName>
                                        </p:attrNameLst>
                                      </p:cBhvr>
                                      <p:to>
                                        <p:strVal val="0.5"/>
                                      </p:to>
                                    </p:set>
                                    <p:animEffect filter="image" prLst="opacity: 0.5">
                                      <p:cBhvr rctx="IE">
                                        <p:cTn id="31" dur="indefinite"/>
                                        <p:tgtEl>
                                          <p:spTgt spid="8"/>
                                        </p:tgtEl>
                                      </p:cBhvr>
                                    </p:animEffect>
                                  </p:childTnLst>
                                </p:cTn>
                              </p:par>
                              <p:par>
                                <p:cTn id="32" presetID="9" presetClass="emph" presetSubtype="0" nodeType="withEffect">
                                  <p:stCondLst>
                                    <p:cond delay="0"/>
                                  </p:stCondLst>
                                  <p:childTnLst>
                                    <p:set>
                                      <p:cBhvr>
                                        <p:cTn id="33" dur="indefinite"/>
                                        <p:tgtEl>
                                          <p:spTgt spid="24"/>
                                        </p:tgtEl>
                                        <p:attrNameLst>
                                          <p:attrName>style.opacity</p:attrName>
                                        </p:attrNameLst>
                                      </p:cBhvr>
                                      <p:to>
                                        <p:strVal val="0.5"/>
                                      </p:to>
                                    </p:set>
                                    <p:animEffect filter="image" prLst="opacity: 0.5">
                                      <p:cBhvr rctx="IE">
                                        <p:cTn id="34" dur="indefinite"/>
                                        <p:tgtEl>
                                          <p:spTgt spid="24"/>
                                        </p:tgtEl>
                                      </p:cBhvr>
                                    </p:animEffect>
                                  </p:childTnLst>
                                </p:cTn>
                              </p:par>
                              <p:par>
                                <p:cTn id="35" presetID="9" presetClass="emph" presetSubtype="0" grpId="0" nodeType="withEffect">
                                  <p:stCondLst>
                                    <p:cond delay="0"/>
                                  </p:stCondLst>
                                  <p:childTnLst>
                                    <p:set>
                                      <p:cBhvr>
                                        <p:cTn id="36" dur="indefinite"/>
                                        <p:tgtEl>
                                          <p:spTgt spid="25"/>
                                        </p:tgtEl>
                                        <p:attrNameLst>
                                          <p:attrName>style.opacity</p:attrName>
                                        </p:attrNameLst>
                                      </p:cBhvr>
                                      <p:to>
                                        <p:strVal val="0.5"/>
                                      </p:to>
                                    </p:set>
                                    <p:animEffect filter="image" prLst="opacity: 0.5">
                                      <p:cBhvr rctx="IE">
                                        <p:cTn id="37"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C17C1-DFC0-83D9-44D2-3E0C1BF5246B}"/>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D4F8581E-4A3B-884C-ED44-5BE43FD5DE50}"/>
              </a:ext>
            </a:extLst>
          </p:cNvPr>
          <p:cNvPicPr>
            <a:picLocks noChangeAspect="1"/>
          </p:cNvPicPr>
          <p:nvPr/>
        </p:nvPicPr>
        <p:blipFill>
          <a:blip r:embed="rId3"/>
          <a:srcRect r="6170"/>
          <a:stretch>
            <a:fillRect/>
          </a:stretch>
        </p:blipFill>
        <p:spPr>
          <a:xfrm>
            <a:off x="1760220" y="2908175"/>
            <a:ext cx="7292874" cy="2914650"/>
          </a:xfrm>
          <a:prstGeom prst="rect">
            <a:avLst/>
          </a:prstGeom>
        </p:spPr>
      </p:pic>
      <p:sp>
        <p:nvSpPr>
          <p:cNvPr id="6" name="TextBox 5">
            <a:extLst>
              <a:ext uri="{FF2B5EF4-FFF2-40B4-BE49-F238E27FC236}">
                <a16:creationId xmlns:a16="http://schemas.microsoft.com/office/drawing/2014/main" id="{4D104BD6-B2CA-D401-8F91-7DAD10CA86FF}"/>
              </a:ext>
            </a:extLst>
          </p:cNvPr>
          <p:cNvSpPr txBox="1"/>
          <p:nvPr/>
        </p:nvSpPr>
        <p:spPr>
          <a:xfrm>
            <a:off x="304800" y="228600"/>
            <a:ext cx="2910840" cy="461665"/>
          </a:xfrm>
          <a:prstGeom prst="rect">
            <a:avLst/>
          </a:prstGeom>
          <a:noFill/>
        </p:spPr>
        <p:txBody>
          <a:bodyPr wrap="square" rtlCol="0">
            <a:spAutoFit/>
          </a:bodyPr>
          <a:lstStyle/>
          <a:p>
            <a:r>
              <a:rPr lang="en-GB" sz="2400" b="1" dirty="0"/>
              <a:t>Results (2)</a:t>
            </a:r>
          </a:p>
        </p:txBody>
      </p:sp>
      <p:graphicFrame>
        <p:nvGraphicFramePr>
          <p:cNvPr id="7" name="Table 6">
            <a:extLst>
              <a:ext uri="{FF2B5EF4-FFF2-40B4-BE49-F238E27FC236}">
                <a16:creationId xmlns:a16="http://schemas.microsoft.com/office/drawing/2014/main" id="{96D11202-2A5E-1C91-7695-C2C83A0C4279}"/>
              </a:ext>
            </a:extLst>
          </p:cNvPr>
          <p:cNvGraphicFramePr>
            <a:graphicFrameLocks noGrp="1"/>
          </p:cNvGraphicFramePr>
          <p:nvPr>
            <p:extLst>
              <p:ext uri="{D42A27DB-BD31-4B8C-83A1-F6EECF244321}">
                <p14:modId xmlns:p14="http://schemas.microsoft.com/office/powerpoint/2010/main" val="2186190723"/>
              </p:ext>
            </p:extLst>
          </p:nvPr>
        </p:nvGraphicFramePr>
        <p:xfrm>
          <a:off x="2911290" y="274034"/>
          <a:ext cx="6596266" cy="1267150"/>
        </p:xfrm>
        <a:graphic>
          <a:graphicData uri="http://schemas.openxmlformats.org/drawingml/2006/table">
            <a:tbl>
              <a:tblPr firstRow="1" bandRow="1">
                <a:tableStyleId>{F2DE63D5-997A-4646-A377-4702673A728D}</a:tableStyleId>
              </a:tblPr>
              <a:tblGrid>
                <a:gridCol w="6596266">
                  <a:extLst>
                    <a:ext uri="{9D8B030D-6E8A-4147-A177-3AD203B41FA5}">
                      <a16:colId xmlns:a16="http://schemas.microsoft.com/office/drawing/2014/main" val="3859239714"/>
                    </a:ext>
                  </a:extLst>
                </a:gridCol>
              </a:tblGrid>
              <a:tr h="411631">
                <a:tc>
                  <a:txBody>
                    <a:bodyPr/>
                    <a:lstStyle/>
                    <a:p>
                      <a:r>
                        <a:rPr lang="en-GB" dirty="0"/>
                        <a:t>Summary</a:t>
                      </a:r>
                    </a:p>
                  </a:txBody>
                  <a:tcPr/>
                </a:tc>
                <a:extLst>
                  <a:ext uri="{0D108BD9-81ED-4DB2-BD59-A6C34878D82A}">
                    <a16:rowId xmlns:a16="http://schemas.microsoft.com/office/drawing/2014/main" val="1484715783"/>
                  </a:ext>
                </a:extLst>
              </a:tr>
              <a:tr h="443888">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Greatest differential expression in </a:t>
                      </a:r>
                      <a:r>
                        <a:rPr lang="en-GB" dirty="0">
                          <a:solidFill>
                            <a:schemeClr val="tx1"/>
                          </a:solidFill>
                        </a:rPr>
                        <a:t>dose 24 </a:t>
                      </a:r>
                      <a:r>
                        <a:rPr lang="en-GB" sz="1800" kern="1200" dirty="0">
                          <a:solidFill>
                            <a:schemeClr val="tx1"/>
                          </a:solidFill>
                          <a:effectLst/>
                        </a:rPr>
                        <a:t>µg/cm</a:t>
                      </a:r>
                      <a:r>
                        <a:rPr lang="en-GB" sz="1800" kern="1200" baseline="30000" dirty="0">
                          <a:solidFill>
                            <a:schemeClr val="tx1"/>
                          </a:solidFill>
                          <a:effectLst/>
                        </a:rPr>
                        <a:t>2</a:t>
                      </a:r>
                      <a:r>
                        <a:rPr lang="en-GB" sz="1800" kern="1200" dirty="0">
                          <a:solidFill>
                            <a:schemeClr val="tx1"/>
                          </a:solidFill>
                          <a:effectLst/>
                        </a:rPr>
                        <a:t> samples</a:t>
                      </a:r>
                      <a:r>
                        <a:rPr lang="en-GB" dirty="0">
                          <a:solidFill>
                            <a:schemeClr val="tx1"/>
                          </a:solidFill>
                          <a:effectLst/>
                        </a:rPr>
                        <a:t> </a:t>
                      </a:r>
                      <a:endParaRPr lang="en-GB" dirty="0"/>
                    </a:p>
                  </a:txBody>
                  <a:tcPr/>
                </a:tc>
                <a:extLst>
                  <a:ext uri="{0D108BD9-81ED-4DB2-BD59-A6C34878D82A}">
                    <a16:rowId xmlns:a16="http://schemas.microsoft.com/office/drawing/2014/main" val="943029511"/>
                  </a:ext>
                </a:extLst>
              </a:tr>
              <a:tr h="411631">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lang="en-GB" dirty="0"/>
                        <a:t>Minimal differential expression in Calu-3 samples</a:t>
                      </a:r>
                      <a:endParaRPr lang="en-GB" dirty="0">
                        <a:solidFill>
                          <a:schemeClr val="tx1"/>
                        </a:solidFill>
                      </a:endParaRPr>
                    </a:p>
                  </a:txBody>
                  <a:tcPr/>
                </a:tc>
                <a:extLst>
                  <a:ext uri="{0D108BD9-81ED-4DB2-BD59-A6C34878D82A}">
                    <a16:rowId xmlns:a16="http://schemas.microsoft.com/office/drawing/2014/main" val="3547405829"/>
                  </a:ext>
                </a:extLst>
              </a:tr>
            </a:tbl>
          </a:graphicData>
        </a:graphic>
      </p:graphicFrame>
      <p:pic>
        <p:nvPicPr>
          <p:cNvPr id="8" name="Picture 7">
            <a:extLst>
              <a:ext uri="{FF2B5EF4-FFF2-40B4-BE49-F238E27FC236}">
                <a16:creationId xmlns:a16="http://schemas.microsoft.com/office/drawing/2014/main" id="{8AAA172E-EC03-0458-10FB-A7C50217A803}"/>
              </a:ext>
            </a:extLst>
          </p:cNvPr>
          <p:cNvPicPr>
            <a:picLocks noChangeAspect="1"/>
          </p:cNvPicPr>
          <p:nvPr/>
        </p:nvPicPr>
        <p:blipFill>
          <a:blip r:embed="rId4"/>
          <a:srcRect l="22302" t="8505" r="23375" b="54213"/>
          <a:stretch>
            <a:fillRect/>
          </a:stretch>
        </p:blipFill>
        <p:spPr>
          <a:xfrm>
            <a:off x="2034460" y="2180410"/>
            <a:ext cx="3904735" cy="840007"/>
          </a:xfrm>
          <a:prstGeom prst="rect">
            <a:avLst/>
          </a:prstGeom>
        </p:spPr>
      </p:pic>
      <p:pic>
        <p:nvPicPr>
          <p:cNvPr id="9" name="Picture 8">
            <a:extLst>
              <a:ext uri="{FF2B5EF4-FFF2-40B4-BE49-F238E27FC236}">
                <a16:creationId xmlns:a16="http://schemas.microsoft.com/office/drawing/2014/main" id="{B45B1375-F2A0-0F21-3EE6-C49EE2BAEAEA}"/>
              </a:ext>
            </a:extLst>
          </p:cNvPr>
          <p:cNvPicPr>
            <a:picLocks noChangeAspect="1"/>
          </p:cNvPicPr>
          <p:nvPr/>
        </p:nvPicPr>
        <p:blipFill>
          <a:blip r:embed="rId4"/>
          <a:srcRect l="21717" t="71274" r="23377"/>
          <a:stretch>
            <a:fillRect/>
          </a:stretch>
        </p:blipFill>
        <p:spPr>
          <a:xfrm>
            <a:off x="6021574" y="2180409"/>
            <a:ext cx="3031524" cy="840007"/>
          </a:xfrm>
          <a:prstGeom prst="rect">
            <a:avLst/>
          </a:prstGeom>
        </p:spPr>
      </p:pic>
      <p:sp>
        <p:nvSpPr>
          <p:cNvPr id="10" name="TextBox 9">
            <a:extLst>
              <a:ext uri="{FF2B5EF4-FFF2-40B4-BE49-F238E27FC236}">
                <a16:creationId xmlns:a16="http://schemas.microsoft.com/office/drawing/2014/main" id="{93AF91F2-1485-D3A1-EF20-B71AEA2E0FEE}"/>
              </a:ext>
            </a:extLst>
          </p:cNvPr>
          <p:cNvSpPr txBox="1"/>
          <p:nvPr/>
        </p:nvSpPr>
        <p:spPr>
          <a:xfrm>
            <a:off x="3088101" y="1898779"/>
            <a:ext cx="2454442" cy="338554"/>
          </a:xfrm>
          <a:prstGeom prst="rect">
            <a:avLst/>
          </a:prstGeom>
          <a:noFill/>
        </p:spPr>
        <p:txBody>
          <a:bodyPr wrap="square" rtlCol="0">
            <a:spAutoFit/>
          </a:bodyPr>
          <a:lstStyle/>
          <a:p>
            <a:r>
              <a:rPr lang="en-GB" sz="1600" dirty="0"/>
              <a:t>Primary HBEC</a:t>
            </a:r>
          </a:p>
        </p:txBody>
      </p:sp>
      <p:sp>
        <p:nvSpPr>
          <p:cNvPr id="11" name="TextBox 10">
            <a:extLst>
              <a:ext uri="{FF2B5EF4-FFF2-40B4-BE49-F238E27FC236}">
                <a16:creationId xmlns:a16="http://schemas.microsoft.com/office/drawing/2014/main" id="{E97FA649-F5C3-C6F5-86BB-AAE849D90C26}"/>
              </a:ext>
            </a:extLst>
          </p:cNvPr>
          <p:cNvSpPr txBox="1"/>
          <p:nvPr/>
        </p:nvSpPr>
        <p:spPr>
          <a:xfrm>
            <a:off x="7235006" y="1898779"/>
            <a:ext cx="2454442" cy="338554"/>
          </a:xfrm>
          <a:prstGeom prst="rect">
            <a:avLst/>
          </a:prstGeom>
          <a:noFill/>
        </p:spPr>
        <p:txBody>
          <a:bodyPr wrap="square" rtlCol="0">
            <a:spAutoFit/>
          </a:bodyPr>
          <a:lstStyle/>
          <a:p>
            <a:r>
              <a:rPr lang="en-GB" sz="1600" dirty="0"/>
              <a:t>Calu-3</a:t>
            </a:r>
          </a:p>
        </p:txBody>
      </p:sp>
      <p:cxnSp>
        <p:nvCxnSpPr>
          <p:cNvPr id="13" name="Straight Connector 12">
            <a:extLst>
              <a:ext uri="{FF2B5EF4-FFF2-40B4-BE49-F238E27FC236}">
                <a16:creationId xmlns:a16="http://schemas.microsoft.com/office/drawing/2014/main" id="{20A752D2-3F8A-070C-B990-8D788E75E97C}"/>
              </a:ext>
            </a:extLst>
          </p:cNvPr>
          <p:cNvCxnSpPr>
            <a:cxnSpLocks/>
          </p:cNvCxnSpPr>
          <p:nvPr/>
        </p:nvCxnSpPr>
        <p:spPr>
          <a:xfrm>
            <a:off x="6021574" y="1878607"/>
            <a:ext cx="0" cy="3642416"/>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96099CA9-5F73-24C5-7E56-44E87BD48D9A}"/>
              </a:ext>
            </a:extLst>
          </p:cNvPr>
          <p:cNvGrpSpPr/>
          <p:nvPr/>
        </p:nvGrpSpPr>
        <p:grpSpPr>
          <a:xfrm>
            <a:off x="6073600" y="4930686"/>
            <a:ext cx="3100522" cy="328259"/>
            <a:chOff x="6065648" y="4941794"/>
            <a:chExt cx="3100522" cy="328259"/>
          </a:xfrm>
        </p:grpSpPr>
        <p:sp>
          <p:nvSpPr>
            <p:cNvPr id="20" name="TextBox 19">
              <a:extLst>
                <a:ext uri="{FF2B5EF4-FFF2-40B4-BE49-F238E27FC236}">
                  <a16:creationId xmlns:a16="http://schemas.microsoft.com/office/drawing/2014/main" id="{9CB8A322-6757-C38B-445B-159ED9F99C78}"/>
                </a:ext>
              </a:extLst>
            </p:cNvPr>
            <p:cNvSpPr txBox="1"/>
            <p:nvPr/>
          </p:nvSpPr>
          <p:spPr>
            <a:xfrm>
              <a:off x="6065648" y="4941794"/>
              <a:ext cx="1109381" cy="276999"/>
            </a:xfrm>
            <a:prstGeom prst="rect">
              <a:avLst/>
            </a:prstGeom>
            <a:noFill/>
          </p:spPr>
          <p:txBody>
            <a:bodyPr wrap="square" rtlCol="0">
              <a:spAutoFit/>
            </a:bodyPr>
            <a:lstStyle/>
            <a:p>
              <a:r>
                <a:rPr lang="en-GB" sz="1200" b="1" dirty="0"/>
                <a:t>FDR &lt; 0.05</a:t>
              </a:r>
            </a:p>
          </p:txBody>
        </p:sp>
        <p:sp>
          <p:nvSpPr>
            <p:cNvPr id="21" name="TextBox 20">
              <a:extLst>
                <a:ext uri="{FF2B5EF4-FFF2-40B4-BE49-F238E27FC236}">
                  <a16:creationId xmlns:a16="http://schemas.microsoft.com/office/drawing/2014/main" id="{D0BFE048-D540-1E20-99D3-95810055048F}"/>
                </a:ext>
              </a:extLst>
            </p:cNvPr>
            <p:cNvSpPr txBox="1"/>
            <p:nvPr/>
          </p:nvSpPr>
          <p:spPr>
            <a:xfrm>
              <a:off x="8056789" y="4993054"/>
              <a:ext cx="1109381" cy="276999"/>
            </a:xfrm>
            <a:prstGeom prst="rect">
              <a:avLst/>
            </a:prstGeom>
            <a:noFill/>
          </p:spPr>
          <p:txBody>
            <a:bodyPr wrap="square" rtlCol="0">
              <a:spAutoFit/>
            </a:bodyPr>
            <a:lstStyle/>
            <a:p>
              <a:r>
                <a:rPr lang="en-GB" sz="1200" b="1" dirty="0"/>
                <a:t>FDR &lt; 0.2</a:t>
              </a:r>
            </a:p>
          </p:txBody>
        </p:sp>
      </p:grpSp>
      <p:sp>
        <p:nvSpPr>
          <p:cNvPr id="23" name="TextBox 22">
            <a:extLst>
              <a:ext uri="{FF2B5EF4-FFF2-40B4-BE49-F238E27FC236}">
                <a16:creationId xmlns:a16="http://schemas.microsoft.com/office/drawing/2014/main" id="{419BBC36-D15A-9E54-AF05-C3C1417CF76B}"/>
              </a:ext>
            </a:extLst>
          </p:cNvPr>
          <p:cNvSpPr txBox="1"/>
          <p:nvPr/>
        </p:nvSpPr>
        <p:spPr>
          <a:xfrm>
            <a:off x="1926818" y="5857526"/>
            <a:ext cx="6907279" cy="246221"/>
          </a:xfrm>
          <a:prstGeom prst="rect">
            <a:avLst/>
          </a:prstGeom>
          <a:noFill/>
        </p:spPr>
        <p:txBody>
          <a:bodyPr wrap="square" rtlCol="0">
            <a:spAutoFit/>
          </a:bodyPr>
          <a:lstStyle/>
          <a:p>
            <a:r>
              <a:rPr lang="en-GB" sz="1000" dirty="0"/>
              <a:t>Figure derived from thesis Figure 4</a:t>
            </a:r>
          </a:p>
        </p:txBody>
      </p:sp>
      <p:sp>
        <p:nvSpPr>
          <p:cNvPr id="24" name="Rectangle 23">
            <a:extLst>
              <a:ext uri="{FF2B5EF4-FFF2-40B4-BE49-F238E27FC236}">
                <a16:creationId xmlns:a16="http://schemas.microsoft.com/office/drawing/2014/main" id="{3CDCF1F4-3241-FB05-A11B-335546F90441}"/>
              </a:ext>
            </a:extLst>
          </p:cNvPr>
          <p:cNvSpPr/>
          <p:nvPr/>
        </p:nvSpPr>
        <p:spPr>
          <a:xfrm>
            <a:off x="7969923" y="5258945"/>
            <a:ext cx="1083175" cy="1799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lide Number Placeholder 1">
            <a:extLst>
              <a:ext uri="{FF2B5EF4-FFF2-40B4-BE49-F238E27FC236}">
                <a16:creationId xmlns:a16="http://schemas.microsoft.com/office/drawing/2014/main" id="{124154D1-4C0B-B182-845A-CF33F29ECBBF}"/>
              </a:ext>
            </a:extLst>
          </p:cNvPr>
          <p:cNvSpPr>
            <a:spLocks noGrp="1"/>
          </p:cNvSpPr>
          <p:nvPr>
            <p:ph type="sldNum" sz="quarter" idx="12"/>
          </p:nvPr>
        </p:nvSpPr>
        <p:spPr/>
        <p:txBody>
          <a:bodyPr/>
          <a:lstStyle/>
          <a:p>
            <a:fld id="{AAB2C436-2398-F34B-A706-69BC3409080B}" type="slidenum">
              <a:rPr lang="en-GB" smtClean="0"/>
              <a:t>8</a:t>
            </a:fld>
            <a:endParaRPr lang="en-GB"/>
          </a:p>
        </p:txBody>
      </p:sp>
      <p:pic>
        <p:nvPicPr>
          <p:cNvPr id="28" name="Picture 27">
            <a:extLst>
              <a:ext uri="{FF2B5EF4-FFF2-40B4-BE49-F238E27FC236}">
                <a16:creationId xmlns:a16="http://schemas.microsoft.com/office/drawing/2014/main" id="{39C4182A-3339-6616-5C6C-39B4EED370BD}"/>
              </a:ext>
            </a:extLst>
          </p:cNvPr>
          <p:cNvPicPr>
            <a:picLocks noChangeAspect="1"/>
          </p:cNvPicPr>
          <p:nvPr/>
        </p:nvPicPr>
        <p:blipFill>
          <a:blip r:embed="rId5"/>
          <a:srcRect l="86385" t="52917"/>
          <a:stretch>
            <a:fillRect/>
          </a:stretch>
        </p:blipFill>
        <p:spPr>
          <a:xfrm>
            <a:off x="9128973" y="2471981"/>
            <a:ext cx="1439880" cy="3485554"/>
          </a:xfrm>
          <a:prstGeom prst="rect">
            <a:avLst/>
          </a:prstGeom>
        </p:spPr>
      </p:pic>
    </p:spTree>
    <p:extLst>
      <p:ext uri="{BB962C8B-B14F-4D97-AF65-F5344CB8AC3E}">
        <p14:creationId xmlns:p14="http://schemas.microsoft.com/office/powerpoint/2010/main" val="17355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9" presetClass="emph" presetSubtype="0" nodeType="withEffect">
                                  <p:stCondLst>
                                    <p:cond delay="0"/>
                                  </p:stCondLst>
                                  <p:childTnLst>
                                    <p:set>
                                      <p:cBhvr>
                                        <p:cTn id="14" dur="indefinite"/>
                                        <p:tgtEl>
                                          <p:spTgt spid="8"/>
                                        </p:tgtEl>
                                        <p:attrNameLst>
                                          <p:attrName>style.opacity</p:attrName>
                                        </p:attrNameLst>
                                      </p:cBhvr>
                                      <p:to>
                                        <p:strVal val="0.5"/>
                                      </p:to>
                                    </p:set>
                                    <p:animEffect filter="image" prLst="opacity: 0.5">
                                      <p:cBhvr rctx="IE">
                                        <p:cTn id="15" dur="indefinite"/>
                                        <p:tgtEl>
                                          <p:spTgt spid="8"/>
                                        </p:tgtEl>
                                      </p:cBhvr>
                                    </p:animEffect>
                                  </p:childTnLst>
                                </p:cTn>
                              </p:par>
                              <p:par>
                                <p:cTn id="16" presetID="9" presetClass="emph" presetSubtype="0" nodeType="withEffect">
                                  <p:stCondLst>
                                    <p:cond delay="0"/>
                                  </p:stCondLst>
                                  <p:childTnLst>
                                    <p:set>
                                      <p:cBhvr>
                                        <p:cTn id="17" dur="indefinite"/>
                                        <p:tgtEl>
                                          <p:spTgt spid="9"/>
                                        </p:tgtEl>
                                        <p:attrNameLst>
                                          <p:attrName>style.opacity</p:attrName>
                                        </p:attrNameLst>
                                      </p:cBhvr>
                                      <p:to>
                                        <p:strVal val="0.5"/>
                                      </p:to>
                                    </p:set>
                                    <p:animEffect filter="image" prLst="opacity: 0.5">
                                      <p:cBhvr rctx="IE">
                                        <p:cTn id="18" dur="indefinite"/>
                                        <p:tgtEl>
                                          <p:spTgt spid="9"/>
                                        </p:tgtEl>
                                      </p:cBhvr>
                                    </p:animEffect>
                                  </p:childTnLst>
                                </p:cTn>
                              </p:par>
                              <p:par>
                                <p:cTn id="19" presetID="9" presetClass="emph" presetSubtype="0" grpId="0" nodeType="withEffect">
                                  <p:stCondLst>
                                    <p:cond delay="0"/>
                                  </p:stCondLst>
                                  <p:childTnLst>
                                    <p:set>
                                      <p:cBhvr>
                                        <p:cTn id="20" dur="indefinite"/>
                                        <p:tgtEl>
                                          <p:spTgt spid="10"/>
                                        </p:tgtEl>
                                        <p:attrNameLst>
                                          <p:attrName>style.opacity</p:attrName>
                                        </p:attrNameLst>
                                      </p:cBhvr>
                                      <p:to>
                                        <p:strVal val="0.5"/>
                                      </p:to>
                                    </p:set>
                                    <p:animEffect filter="image" prLst="opacity: 0.5">
                                      <p:cBhvr rctx="IE">
                                        <p:cTn id="21" dur="indefinite"/>
                                        <p:tgtEl>
                                          <p:spTgt spid="10"/>
                                        </p:tgtEl>
                                      </p:cBhvr>
                                    </p:animEffect>
                                  </p:childTnLst>
                                </p:cTn>
                              </p:par>
                              <p:par>
                                <p:cTn id="22" presetID="9" presetClass="emph" presetSubtype="0" grpId="0" nodeType="withEffect">
                                  <p:stCondLst>
                                    <p:cond delay="0"/>
                                  </p:stCondLst>
                                  <p:childTnLst>
                                    <p:set>
                                      <p:cBhvr>
                                        <p:cTn id="23" dur="indefinite"/>
                                        <p:tgtEl>
                                          <p:spTgt spid="11"/>
                                        </p:tgtEl>
                                        <p:attrNameLst>
                                          <p:attrName>style.opacity</p:attrName>
                                        </p:attrNameLst>
                                      </p:cBhvr>
                                      <p:to>
                                        <p:strVal val="0.5"/>
                                      </p:to>
                                    </p:set>
                                    <p:animEffect filter="image" prLst="opacity: 0.5">
                                      <p:cBhvr rctx="IE">
                                        <p:cTn id="24" dur="indefinite"/>
                                        <p:tgtEl>
                                          <p:spTgt spid="11"/>
                                        </p:tgtEl>
                                      </p:cBhvr>
                                    </p:animEffect>
                                  </p:childTnLst>
                                </p:cTn>
                              </p:par>
                              <p:par>
                                <p:cTn id="25" presetID="9" presetClass="emph" presetSubtype="0" nodeType="withEffect">
                                  <p:stCondLst>
                                    <p:cond delay="0"/>
                                  </p:stCondLst>
                                  <p:childTnLst>
                                    <p:set>
                                      <p:cBhvr>
                                        <p:cTn id="26" dur="indefinite"/>
                                        <p:tgtEl>
                                          <p:spTgt spid="13"/>
                                        </p:tgtEl>
                                        <p:attrNameLst>
                                          <p:attrName>style.opacity</p:attrName>
                                        </p:attrNameLst>
                                      </p:cBhvr>
                                      <p:to>
                                        <p:strVal val="0.5"/>
                                      </p:to>
                                    </p:set>
                                    <p:animEffect filter="image" prLst="opacity: 0.5">
                                      <p:cBhvr rctx="IE">
                                        <p:cTn id="27" dur="indefinite"/>
                                        <p:tgtEl>
                                          <p:spTgt spid="13"/>
                                        </p:tgtEl>
                                      </p:cBhvr>
                                    </p:animEffect>
                                  </p:childTnLst>
                                </p:cTn>
                              </p:par>
                              <p:par>
                                <p:cTn id="28" presetID="9" presetClass="emph" presetSubtype="0" nodeType="withEffect">
                                  <p:stCondLst>
                                    <p:cond delay="0"/>
                                  </p:stCondLst>
                                  <p:childTnLst>
                                    <p:set>
                                      <p:cBhvr>
                                        <p:cTn id="29" dur="indefinite"/>
                                        <p:tgtEl>
                                          <p:spTgt spid="22"/>
                                        </p:tgtEl>
                                        <p:attrNameLst>
                                          <p:attrName>style.opacity</p:attrName>
                                        </p:attrNameLst>
                                      </p:cBhvr>
                                      <p:to>
                                        <p:strVal val="0.5"/>
                                      </p:to>
                                    </p:set>
                                    <p:animEffect filter="image" prLst="opacity: 0.5">
                                      <p:cBhvr rctx="IE">
                                        <p:cTn id="30" dur="indefinite"/>
                                        <p:tgtEl>
                                          <p:spTgt spid="22"/>
                                        </p:tgtEl>
                                      </p:cBhvr>
                                    </p:animEffect>
                                  </p:childTnLst>
                                </p:cTn>
                              </p:par>
                              <p:par>
                                <p:cTn id="31" presetID="9" presetClass="emph" presetSubtype="0" grpId="0" nodeType="withEffect">
                                  <p:stCondLst>
                                    <p:cond delay="0"/>
                                  </p:stCondLst>
                                  <p:childTnLst>
                                    <p:set>
                                      <p:cBhvr>
                                        <p:cTn id="32" dur="indefinite"/>
                                        <p:tgtEl>
                                          <p:spTgt spid="23"/>
                                        </p:tgtEl>
                                        <p:attrNameLst>
                                          <p:attrName>style.opacity</p:attrName>
                                        </p:attrNameLst>
                                      </p:cBhvr>
                                      <p:to>
                                        <p:strVal val="0.5"/>
                                      </p:to>
                                    </p:set>
                                    <p:animEffect filter="image" prLst="opacity: 0.5">
                                      <p:cBhvr rctx="IE">
                                        <p:cTn id="33" dur="indefinite"/>
                                        <p:tgtEl>
                                          <p:spTgt spid="23"/>
                                        </p:tgtEl>
                                      </p:cBhvr>
                                    </p:animEffect>
                                  </p:childTnLst>
                                </p:cTn>
                              </p:par>
                              <p:par>
                                <p:cTn id="34" presetID="9" presetClass="emph" presetSubtype="0" grpId="1" nodeType="withEffect">
                                  <p:stCondLst>
                                    <p:cond delay="0"/>
                                  </p:stCondLst>
                                  <p:childTnLst>
                                    <p:set>
                                      <p:cBhvr>
                                        <p:cTn id="35" dur="indefinite"/>
                                        <p:tgtEl>
                                          <p:spTgt spid="24"/>
                                        </p:tgtEl>
                                        <p:attrNameLst>
                                          <p:attrName>style.opacity</p:attrName>
                                        </p:attrNameLst>
                                      </p:cBhvr>
                                      <p:to>
                                        <p:strVal val="0.5"/>
                                      </p:to>
                                    </p:set>
                                    <p:animEffect filter="image" prLst="opacity: 0.5">
                                      <p:cBhvr rctx="IE">
                                        <p:cTn id="36" dur="indefinite"/>
                                        <p:tgtEl>
                                          <p:spTgt spid="24"/>
                                        </p:tgtEl>
                                      </p:cBhvr>
                                    </p:animEffect>
                                  </p:childTnLst>
                                </p:cTn>
                              </p:par>
                              <p:par>
                                <p:cTn id="37" presetID="9" presetClass="emph" presetSubtype="0" nodeType="withEffect">
                                  <p:stCondLst>
                                    <p:cond delay="0"/>
                                  </p:stCondLst>
                                  <p:childTnLst>
                                    <p:set>
                                      <p:cBhvr>
                                        <p:cTn id="38" dur="indefinite"/>
                                        <p:tgtEl>
                                          <p:spTgt spid="28"/>
                                        </p:tgtEl>
                                        <p:attrNameLst>
                                          <p:attrName>style.opacity</p:attrName>
                                        </p:attrNameLst>
                                      </p:cBhvr>
                                      <p:to>
                                        <p:strVal val="0.5"/>
                                      </p:to>
                                    </p:set>
                                    <p:animEffect filter="image" prLst="opacity: 0.5">
                                      <p:cBhvr rctx="IE">
                                        <p:cTn id="39" dur="indefinite"/>
                                        <p:tgtEl>
                                          <p:spTgt spid="28"/>
                                        </p:tgtEl>
                                      </p:cBhvr>
                                    </p:animEffect>
                                  </p:childTnLst>
                                </p:cTn>
                              </p:par>
                              <p:par>
                                <p:cTn id="40" presetID="9" presetClass="emph" presetSubtype="0" nodeType="withEffect">
                                  <p:stCondLst>
                                    <p:cond delay="0"/>
                                  </p:stCondLst>
                                  <p:childTnLst>
                                    <p:set>
                                      <p:cBhvr>
                                        <p:cTn id="41" dur="indefinite"/>
                                        <p:tgtEl>
                                          <p:spTgt spid="27"/>
                                        </p:tgtEl>
                                        <p:attrNameLst>
                                          <p:attrName>style.opacity</p:attrName>
                                        </p:attrNameLst>
                                      </p:cBhvr>
                                      <p:to>
                                        <p:strVal val="0.5"/>
                                      </p:to>
                                    </p:set>
                                    <p:animEffect filter="image" prLst="opacity: 0.5">
                                      <p:cBhvr rctx="IE">
                                        <p:cTn id="42" dur="indefinite"/>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3" grpId="0"/>
      <p:bldP spid="24" grpId="0" animBg="1"/>
      <p:bldP spid="24"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89A89-64A9-24C2-41DC-CAA6F5ADED30}"/>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13B61B55-BD7D-73C0-FA4B-7E8FAA25A487}"/>
              </a:ext>
            </a:extLst>
          </p:cNvPr>
          <p:cNvSpPr txBox="1"/>
          <p:nvPr/>
        </p:nvSpPr>
        <p:spPr>
          <a:xfrm>
            <a:off x="3215640" y="421479"/>
            <a:ext cx="1343359" cy="338554"/>
          </a:xfrm>
          <a:prstGeom prst="rect">
            <a:avLst/>
          </a:prstGeom>
          <a:noFill/>
          <a:ln w="38100">
            <a:solidFill>
              <a:schemeClr val="accent2"/>
            </a:solidFill>
          </a:ln>
        </p:spPr>
        <p:txBody>
          <a:bodyPr wrap="square" rtlCol="0">
            <a:spAutoFit/>
          </a:bodyPr>
          <a:lstStyle/>
          <a:p>
            <a:r>
              <a:rPr lang="en-GB" sz="1600" b="1" dirty="0" err="1"/>
              <a:t>Padj</a:t>
            </a:r>
            <a:r>
              <a:rPr lang="en-GB" sz="1600" b="1" dirty="0"/>
              <a:t>. &lt; 0.02</a:t>
            </a:r>
          </a:p>
        </p:txBody>
      </p:sp>
      <p:sp>
        <p:nvSpPr>
          <p:cNvPr id="17" name="TextBox 16">
            <a:extLst>
              <a:ext uri="{FF2B5EF4-FFF2-40B4-BE49-F238E27FC236}">
                <a16:creationId xmlns:a16="http://schemas.microsoft.com/office/drawing/2014/main" id="{2DF0CACE-4ABE-6FE9-0085-44C04DD36AD1}"/>
              </a:ext>
            </a:extLst>
          </p:cNvPr>
          <p:cNvSpPr txBox="1"/>
          <p:nvPr/>
        </p:nvSpPr>
        <p:spPr>
          <a:xfrm>
            <a:off x="9039202" y="422008"/>
            <a:ext cx="1343359" cy="338554"/>
          </a:xfrm>
          <a:prstGeom prst="rect">
            <a:avLst/>
          </a:prstGeom>
          <a:noFill/>
          <a:ln w="38100">
            <a:solidFill>
              <a:srgbClr val="FFC000"/>
            </a:solidFill>
          </a:ln>
        </p:spPr>
        <p:txBody>
          <a:bodyPr wrap="square" rtlCol="0">
            <a:spAutoFit/>
          </a:bodyPr>
          <a:lstStyle/>
          <a:p>
            <a:r>
              <a:rPr lang="en-GB" sz="1600" b="1" dirty="0" err="1"/>
              <a:t>Padj</a:t>
            </a:r>
            <a:r>
              <a:rPr lang="en-GB" sz="1600" b="1" dirty="0"/>
              <a:t>. &lt; 0.05</a:t>
            </a:r>
          </a:p>
        </p:txBody>
      </p:sp>
      <p:sp>
        <p:nvSpPr>
          <p:cNvPr id="2" name="TextBox 1">
            <a:extLst>
              <a:ext uri="{FF2B5EF4-FFF2-40B4-BE49-F238E27FC236}">
                <a16:creationId xmlns:a16="http://schemas.microsoft.com/office/drawing/2014/main" id="{D061CCF4-8F48-847C-CC2E-229F633B6D08}"/>
              </a:ext>
            </a:extLst>
          </p:cNvPr>
          <p:cNvSpPr txBox="1"/>
          <p:nvPr/>
        </p:nvSpPr>
        <p:spPr>
          <a:xfrm>
            <a:off x="304800" y="228600"/>
            <a:ext cx="2910840" cy="461665"/>
          </a:xfrm>
          <a:prstGeom prst="rect">
            <a:avLst/>
          </a:prstGeom>
          <a:noFill/>
        </p:spPr>
        <p:txBody>
          <a:bodyPr wrap="square" rtlCol="0">
            <a:spAutoFit/>
          </a:bodyPr>
          <a:lstStyle/>
          <a:p>
            <a:r>
              <a:rPr lang="en-GB" sz="2400" b="1" dirty="0"/>
              <a:t>Results (3)</a:t>
            </a:r>
          </a:p>
        </p:txBody>
      </p:sp>
      <p:graphicFrame>
        <p:nvGraphicFramePr>
          <p:cNvPr id="3" name="Table 2">
            <a:extLst>
              <a:ext uri="{FF2B5EF4-FFF2-40B4-BE49-F238E27FC236}">
                <a16:creationId xmlns:a16="http://schemas.microsoft.com/office/drawing/2014/main" id="{526586B3-F006-96E6-0CF5-543E5AFB98CC}"/>
              </a:ext>
            </a:extLst>
          </p:cNvPr>
          <p:cNvGraphicFramePr>
            <a:graphicFrameLocks noGrp="1"/>
          </p:cNvGraphicFramePr>
          <p:nvPr>
            <p:extLst>
              <p:ext uri="{D42A27DB-BD31-4B8C-83A1-F6EECF244321}">
                <p14:modId xmlns:p14="http://schemas.microsoft.com/office/powerpoint/2010/main" val="1594144987"/>
              </p:ext>
            </p:extLst>
          </p:nvPr>
        </p:nvGraphicFramePr>
        <p:xfrm>
          <a:off x="7331242" y="4365666"/>
          <a:ext cx="4617715" cy="1744847"/>
        </p:xfrm>
        <a:graphic>
          <a:graphicData uri="http://schemas.openxmlformats.org/drawingml/2006/table">
            <a:tbl>
              <a:tblPr firstRow="1" bandRow="1">
                <a:tableStyleId>{F2DE63D5-997A-4646-A377-4702673A728D}</a:tableStyleId>
              </a:tblPr>
              <a:tblGrid>
                <a:gridCol w="4617715">
                  <a:extLst>
                    <a:ext uri="{9D8B030D-6E8A-4147-A177-3AD203B41FA5}">
                      <a16:colId xmlns:a16="http://schemas.microsoft.com/office/drawing/2014/main" val="3859239714"/>
                    </a:ext>
                  </a:extLst>
                </a:gridCol>
              </a:tblGrid>
              <a:tr h="490817">
                <a:tc>
                  <a:txBody>
                    <a:bodyPr/>
                    <a:lstStyle/>
                    <a:p>
                      <a:r>
                        <a:rPr lang="en-GB" dirty="0"/>
                        <a:t>Summary</a:t>
                      </a:r>
                    </a:p>
                  </a:txBody>
                  <a:tcPr/>
                </a:tc>
                <a:extLst>
                  <a:ext uri="{0D108BD9-81ED-4DB2-BD59-A6C34878D82A}">
                    <a16:rowId xmlns:a16="http://schemas.microsoft.com/office/drawing/2014/main" val="1484715783"/>
                  </a:ext>
                </a:extLst>
              </a:tr>
              <a:tr h="763213">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More pathways from target gene-level enrichment</a:t>
                      </a:r>
                    </a:p>
                  </a:txBody>
                  <a:tcPr/>
                </a:tc>
                <a:extLst>
                  <a:ext uri="{0D108BD9-81ED-4DB2-BD59-A6C34878D82A}">
                    <a16:rowId xmlns:a16="http://schemas.microsoft.com/office/drawing/2014/main" val="943029511"/>
                  </a:ext>
                </a:extLst>
              </a:tr>
              <a:tr h="490817">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lang="en-GB" dirty="0"/>
                        <a:t>Biologically relevant pathways</a:t>
                      </a:r>
                      <a:endParaRPr lang="en-GB" dirty="0">
                        <a:solidFill>
                          <a:schemeClr val="tx1"/>
                        </a:solidFill>
                      </a:endParaRPr>
                    </a:p>
                  </a:txBody>
                  <a:tcPr/>
                </a:tc>
                <a:extLst>
                  <a:ext uri="{0D108BD9-81ED-4DB2-BD59-A6C34878D82A}">
                    <a16:rowId xmlns:a16="http://schemas.microsoft.com/office/drawing/2014/main" val="3547405829"/>
                  </a:ext>
                </a:extLst>
              </a:tr>
            </a:tbl>
          </a:graphicData>
        </a:graphic>
      </p:graphicFrame>
      <p:grpSp>
        <p:nvGrpSpPr>
          <p:cNvPr id="27" name="Group 26">
            <a:extLst>
              <a:ext uri="{FF2B5EF4-FFF2-40B4-BE49-F238E27FC236}">
                <a16:creationId xmlns:a16="http://schemas.microsoft.com/office/drawing/2014/main" id="{C0EE851C-AF4A-40E3-B03C-4E9997135662}"/>
              </a:ext>
            </a:extLst>
          </p:cNvPr>
          <p:cNvGrpSpPr/>
          <p:nvPr/>
        </p:nvGrpSpPr>
        <p:grpSpPr>
          <a:xfrm>
            <a:off x="7418174" y="761999"/>
            <a:ext cx="6907280" cy="3120189"/>
            <a:chOff x="7418174" y="761999"/>
            <a:chExt cx="6907280" cy="3120189"/>
          </a:xfrm>
        </p:grpSpPr>
        <p:pic>
          <p:nvPicPr>
            <p:cNvPr id="14" name="Picture 13">
              <a:extLst>
                <a:ext uri="{FF2B5EF4-FFF2-40B4-BE49-F238E27FC236}">
                  <a16:creationId xmlns:a16="http://schemas.microsoft.com/office/drawing/2014/main" id="{5B483B91-FF3E-8C86-7540-AEDB32D0A72A}"/>
                </a:ext>
              </a:extLst>
            </p:cNvPr>
            <p:cNvPicPr>
              <a:picLocks noChangeAspect="1"/>
            </p:cNvPicPr>
            <p:nvPr/>
          </p:nvPicPr>
          <p:blipFill>
            <a:blip r:embed="rId3"/>
            <a:srcRect l="25300" t="48946" r="26257" b="45666"/>
            <a:stretch>
              <a:fillRect/>
            </a:stretch>
          </p:blipFill>
          <p:spPr>
            <a:xfrm>
              <a:off x="7418176" y="2662269"/>
              <a:ext cx="3765176" cy="242047"/>
            </a:xfrm>
            <a:prstGeom prst="rect">
              <a:avLst/>
            </a:prstGeom>
          </p:spPr>
        </p:pic>
        <p:pic>
          <p:nvPicPr>
            <p:cNvPr id="15" name="Picture 14">
              <a:extLst>
                <a:ext uri="{FF2B5EF4-FFF2-40B4-BE49-F238E27FC236}">
                  <a16:creationId xmlns:a16="http://schemas.microsoft.com/office/drawing/2014/main" id="{3DDD751C-FD97-43B6-CBD2-834AEA107CC7}"/>
                </a:ext>
              </a:extLst>
            </p:cNvPr>
            <p:cNvPicPr>
              <a:picLocks noChangeAspect="1"/>
            </p:cNvPicPr>
            <p:nvPr/>
          </p:nvPicPr>
          <p:blipFill>
            <a:blip r:embed="rId3"/>
            <a:srcRect l="73512" t="3742" r="22884" b="12388"/>
            <a:stretch>
              <a:fillRect/>
            </a:stretch>
          </p:blipFill>
          <p:spPr>
            <a:xfrm rot="16200000">
              <a:off x="9838243" y="467532"/>
              <a:ext cx="280147" cy="3767418"/>
            </a:xfrm>
            <a:prstGeom prst="rect">
              <a:avLst/>
            </a:prstGeom>
          </p:spPr>
        </p:pic>
        <p:sp>
          <p:nvSpPr>
            <p:cNvPr id="20" name="TextBox 19">
              <a:extLst>
                <a:ext uri="{FF2B5EF4-FFF2-40B4-BE49-F238E27FC236}">
                  <a16:creationId xmlns:a16="http://schemas.microsoft.com/office/drawing/2014/main" id="{C93B3372-7A35-9E22-56C8-5D06910CD850}"/>
                </a:ext>
              </a:extLst>
            </p:cNvPr>
            <p:cNvSpPr txBox="1"/>
            <p:nvPr/>
          </p:nvSpPr>
          <p:spPr>
            <a:xfrm>
              <a:off x="7519335" y="864327"/>
              <a:ext cx="4764506" cy="368968"/>
            </a:xfrm>
            <a:prstGeom prst="rect">
              <a:avLst/>
            </a:prstGeom>
            <a:noFill/>
          </p:spPr>
          <p:txBody>
            <a:bodyPr wrap="square" rtlCol="0">
              <a:spAutoFit/>
            </a:bodyPr>
            <a:lstStyle/>
            <a:p>
              <a:r>
                <a:rPr lang="en-GB" u="sng" dirty="0"/>
                <a:t>miRNA-level enrichment</a:t>
              </a:r>
              <a:r>
                <a:rPr lang="en-GB" dirty="0"/>
                <a:t> (ORA/miRNA-SEA)</a:t>
              </a:r>
            </a:p>
          </p:txBody>
        </p:sp>
        <p:sp>
          <p:nvSpPr>
            <p:cNvPr id="22" name="TextBox 21">
              <a:extLst>
                <a:ext uri="{FF2B5EF4-FFF2-40B4-BE49-F238E27FC236}">
                  <a16:creationId xmlns:a16="http://schemas.microsoft.com/office/drawing/2014/main" id="{42F55B53-3747-28F2-0CD4-7140F36D4A02}"/>
                </a:ext>
              </a:extLst>
            </p:cNvPr>
            <p:cNvSpPr txBox="1"/>
            <p:nvPr/>
          </p:nvSpPr>
          <p:spPr>
            <a:xfrm>
              <a:off x="9114897" y="1347804"/>
              <a:ext cx="1219828" cy="523220"/>
            </a:xfrm>
            <a:prstGeom prst="rect">
              <a:avLst/>
            </a:prstGeom>
            <a:solidFill>
              <a:schemeClr val="bg1"/>
            </a:solidFill>
            <a:ln w="19050">
              <a:solidFill>
                <a:schemeClr val="bg2">
                  <a:lumMod val="50000"/>
                </a:schemeClr>
              </a:solidFill>
            </a:ln>
          </p:spPr>
          <p:txBody>
            <a:bodyPr wrap="square" rtlCol="0">
              <a:spAutoFit/>
            </a:bodyPr>
            <a:lstStyle/>
            <a:p>
              <a:r>
                <a:rPr lang="en-GB" sz="1400" b="1" dirty="0"/>
                <a:t>Upregulated</a:t>
              </a:r>
            </a:p>
            <a:p>
              <a:r>
                <a:rPr lang="en-GB" sz="1400" b="1" dirty="0"/>
                <a:t>N = 2</a:t>
              </a:r>
            </a:p>
          </p:txBody>
        </p:sp>
        <p:sp>
          <p:nvSpPr>
            <p:cNvPr id="23" name="Rectangle 22">
              <a:extLst>
                <a:ext uri="{FF2B5EF4-FFF2-40B4-BE49-F238E27FC236}">
                  <a16:creationId xmlns:a16="http://schemas.microsoft.com/office/drawing/2014/main" id="{E079FDD3-7632-CE2F-2052-7A5885E871EB}"/>
                </a:ext>
              </a:extLst>
            </p:cNvPr>
            <p:cNvSpPr/>
            <p:nvPr/>
          </p:nvSpPr>
          <p:spPr>
            <a:xfrm>
              <a:off x="7418174" y="761999"/>
              <a:ext cx="4530783" cy="3120189"/>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30F70C95-BD47-8C3E-8755-60487F5D9319}"/>
                </a:ext>
              </a:extLst>
            </p:cNvPr>
            <p:cNvSpPr txBox="1"/>
            <p:nvPr/>
          </p:nvSpPr>
          <p:spPr>
            <a:xfrm>
              <a:off x="7418175" y="3596807"/>
              <a:ext cx="6907279" cy="246221"/>
            </a:xfrm>
            <a:prstGeom prst="rect">
              <a:avLst/>
            </a:prstGeom>
            <a:noFill/>
          </p:spPr>
          <p:txBody>
            <a:bodyPr wrap="square" rtlCol="0">
              <a:spAutoFit/>
            </a:bodyPr>
            <a:lstStyle/>
            <a:p>
              <a:r>
                <a:rPr lang="en-GB" sz="1000" dirty="0"/>
                <a:t>Figure generated by </a:t>
              </a:r>
              <a:r>
                <a:rPr lang="en-GB" sz="1000" dirty="0" err="1"/>
                <a:t>miEAA</a:t>
              </a:r>
              <a:r>
                <a:rPr lang="en-GB" sz="1000" dirty="0"/>
                <a:t> 2.0: </a:t>
              </a:r>
              <a:r>
                <a:rPr lang="en-GB" sz="900" dirty="0"/>
                <a:t>https://ccb-compute2.cs.uni-saarland.de/mieaa2/</a:t>
              </a:r>
              <a:endParaRPr lang="en-GB" sz="1000" dirty="0"/>
            </a:p>
          </p:txBody>
        </p:sp>
      </p:grpSp>
      <p:sp>
        <p:nvSpPr>
          <p:cNvPr id="4" name="Slide Number Placeholder 3">
            <a:extLst>
              <a:ext uri="{FF2B5EF4-FFF2-40B4-BE49-F238E27FC236}">
                <a16:creationId xmlns:a16="http://schemas.microsoft.com/office/drawing/2014/main" id="{1C3763F7-3E7B-F6F1-2A75-04B443728180}"/>
              </a:ext>
            </a:extLst>
          </p:cNvPr>
          <p:cNvSpPr>
            <a:spLocks noGrp="1"/>
          </p:cNvSpPr>
          <p:nvPr>
            <p:ph type="sldNum" sz="quarter" idx="12"/>
          </p:nvPr>
        </p:nvSpPr>
        <p:spPr/>
        <p:txBody>
          <a:bodyPr/>
          <a:lstStyle/>
          <a:p>
            <a:fld id="{AAB2C436-2398-F34B-A706-69BC3409080B}" type="slidenum">
              <a:rPr lang="en-GB" smtClean="0"/>
              <a:t>9</a:t>
            </a:fld>
            <a:endParaRPr lang="en-GB"/>
          </a:p>
        </p:txBody>
      </p:sp>
      <p:grpSp>
        <p:nvGrpSpPr>
          <p:cNvPr id="28" name="Group 27">
            <a:extLst>
              <a:ext uri="{FF2B5EF4-FFF2-40B4-BE49-F238E27FC236}">
                <a16:creationId xmlns:a16="http://schemas.microsoft.com/office/drawing/2014/main" id="{067A3BA4-5EF3-BCCD-A794-6B4BE883FB08}"/>
              </a:ext>
            </a:extLst>
          </p:cNvPr>
          <p:cNvGrpSpPr/>
          <p:nvPr/>
        </p:nvGrpSpPr>
        <p:grpSpPr>
          <a:xfrm>
            <a:off x="394783" y="762000"/>
            <a:ext cx="7023392" cy="5594350"/>
            <a:chOff x="394783" y="762000"/>
            <a:chExt cx="7023392" cy="5594350"/>
          </a:xfrm>
        </p:grpSpPr>
        <p:pic>
          <p:nvPicPr>
            <p:cNvPr id="9" name="Picture 8">
              <a:extLst>
                <a:ext uri="{FF2B5EF4-FFF2-40B4-BE49-F238E27FC236}">
                  <a16:creationId xmlns:a16="http://schemas.microsoft.com/office/drawing/2014/main" id="{67700573-3E17-D876-5C89-760B1A2E5BCF}"/>
                </a:ext>
              </a:extLst>
            </p:cNvPr>
            <p:cNvPicPr>
              <a:picLocks noChangeAspect="1"/>
            </p:cNvPicPr>
            <p:nvPr/>
          </p:nvPicPr>
          <p:blipFill>
            <a:blip r:embed="rId4"/>
            <a:srcRect t="5111" r="58558" b="3303"/>
            <a:stretch>
              <a:fillRect/>
            </a:stretch>
          </p:blipFill>
          <p:spPr>
            <a:xfrm>
              <a:off x="394783" y="1940224"/>
              <a:ext cx="2653219" cy="3909033"/>
            </a:xfrm>
            <a:prstGeom prst="rect">
              <a:avLst/>
            </a:prstGeom>
          </p:spPr>
        </p:pic>
        <p:pic>
          <p:nvPicPr>
            <p:cNvPr id="11" name="Picture 10">
              <a:extLst>
                <a:ext uri="{FF2B5EF4-FFF2-40B4-BE49-F238E27FC236}">
                  <a16:creationId xmlns:a16="http://schemas.microsoft.com/office/drawing/2014/main" id="{5F9B68DA-A349-C45B-9E2B-AA62D5EA5637}"/>
                </a:ext>
              </a:extLst>
            </p:cNvPr>
            <p:cNvPicPr>
              <a:picLocks noChangeAspect="1"/>
            </p:cNvPicPr>
            <p:nvPr/>
          </p:nvPicPr>
          <p:blipFill>
            <a:blip r:embed="rId4"/>
            <a:srcRect l="77494" t="97201" r="15224" b="958"/>
            <a:stretch>
              <a:fillRect/>
            </a:stretch>
          </p:blipFill>
          <p:spPr>
            <a:xfrm>
              <a:off x="1931126" y="5918457"/>
              <a:ext cx="793285" cy="133698"/>
            </a:xfrm>
            <a:prstGeom prst="rect">
              <a:avLst/>
            </a:prstGeom>
          </p:spPr>
        </p:pic>
        <p:grpSp>
          <p:nvGrpSpPr>
            <p:cNvPr id="10" name="Group 9">
              <a:extLst>
                <a:ext uri="{FF2B5EF4-FFF2-40B4-BE49-F238E27FC236}">
                  <a16:creationId xmlns:a16="http://schemas.microsoft.com/office/drawing/2014/main" id="{80152A4C-E47F-C1F4-6537-03D775FC68CC}"/>
                </a:ext>
              </a:extLst>
            </p:cNvPr>
            <p:cNvGrpSpPr/>
            <p:nvPr/>
          </p:nvGrpSpPr>
          <p:grpSpPr>
            <a:xfrm>
              <a:off x="3600101" y="1940224"/>
              <a:ext cx="3265213" cy="3909033"/>
              <a:chOff x="3600101" y="1940224"/>
              <a:chExt cx="3265213" cy="3909033"/>
            </a:xfrm>
          </p:grpSpPr>
          <p:pic>
            <p:nvPicPr>
              <p:cNvPr id="7" name="Picture 6">
                <a:extLst>
                  <a:ext uri="{FF2B5EF4-FFF2-40B4-BE49-F238E27FC236}">
                    <a16:creationId xmlns:a16="http://schemas.microsoft.com/office/drawing/2014/main" id="{FB30B29F-77E9-8B01-0B76-E78BA571009F}"/>
                  </a:ext>
                </a:extLst>
              </p:cNvPr>
              <p:cNvPicPr>
                <a:picLocks noChangeAspect="1"/>
              </p:cNvPicPr>
              <p:nvPr/>
            </p:nvPicPr>
            <p:blipFill>
              <a:blip r:embed="rId4"/>
              <a:srcRect l="49847" t="5111" r="7735" b="3303"/>
              <a:stretch>
                <a:fillRect/>
              </a:stretch>
            </p:blipFill>
            <p:spPr>
              <a:xfrm>
                <a:off x="3600101" y="1940224"/>
                <a:ext cx="2715698" cy="3909033"/>
              </a:xfrm>
              <a:prstGeom prst="rect">
                <a:avLst/>
              </a:prstGeom>
            </p:spPr>
          </p:pic>
          <p:pic>
            <p:nvPicPr>
              <p:cNvPr id="8" name="Picture 7">
                <a:extLst>
                  <a:ext uri="{FF2B5EF4-FFF2-40B4-BE49-F238E27FC236}">
                    <a16:creationId xmlns:a16="http://schemas.microsoft.com/office/drawing/2014/main" id="{EE8C92C0-35D3-5AA0-D1CB-BE565CC85D2F}"/>
                  </a:ext>
                </a:extLst>
              </p:cNvPr>
              <p:cNvPicPr>
                <a:picLocks noChangeAspect="1"/>
              </p:cNvPicPr>
              <p:nvPr/>
            </p:nvPicPr>
            <p:blipFill>
              <a:blip r:embed="rId4"/>
              <a:srcRect l="92244" t="27641" r="848" b="30878"/>
              <a:stretch>
                <a:fillRect/>
              </a:stretch>
            </p:blipFill>
            <p:spPr>
              <a:xfrm>
                <a:off x="6285620" y="2418354"/>
                <a:ext cx="579694" cy="2320794"/>
              </a:xfrm>
              <a:prstGeom prst="rect">
                <a:avLst/>
              </a:prstGeom>
            </p:spPr>
          </p:pic>
        </p:grpSp>
        <p:pic>
          <p:nvPicPr>
            <p:cNvPr id="12" name="Picture 11">
              <a:extLst>
                <a:ext uri="{FF2B5EF4-FFF2-40B4-BE49-F238E27FC236}">
                  <a16:creationId xmlns:a16="http://schemas.microsoft.com/office/drawing/2014/main" id="{07DF23D4-D488-F024-2D62-5CB246E0DABE}"/>
                </a:ext>
              </a:extLst>
            </p:cNvPr>
            <p:cNvPicPr>
              <a:picLocks noChangeAspect="1"/>
            </p:cNvPicPr>
            <p:nvPr/>
          </p:nvPicPr>
          <p:blipFill>
            <a:blip r:embed="rId4"/>
            <a:srcRect l="77494" t="97201" r="15224" b="958"/>
            <a:stretch>
              <a:fillRect/>
            </a:stretch>
          </p:blipFill>
          <p:spPr>
            <a:xfrm>
              <a:off x="5243199" y="5918457"/>
              <a:ext cx="793285" cy="133698"/>
            </a:xfrm>
            <a:prstGeom prst="rect">
              <a:avLst/>
            </a:prstGeom>
          </p:spPr>
        </p:pic>
        <p:sp>
          <p:nvSpPr>
            <p:cNvPr id="6" name="TextBox 5">
              <a:extLst>
                <a:ext uri="{FF2B5EF4-FFF2-40B4-BE49-F238E27FC236}">
                  <a16:creationId xmlns:a16="http://schemas.microsoft.com/office/drawing/2014/main" id="{9DDA9307-EECF-949C-0848-7ACAF256E9E7}"/>
                </a:ext>
              </a:extLst>
            </p:cNvPr>
            <p:cNvSpPr txBox="1"/>
            <p:nvPr/>
          </p:nvSpPr>
          <p:spPr>
            <a:xfrm>
              <a:off x="510896" y="6096646"/>
              <a:ext cx="6907279" cy="246221"/>
            </a:xfrm>
            <a:prstGeom prst="rect">
              <a:avLst/>
            </a:prstGeom>
            <a:noFill/>
          </p:spPr>
          <p:txBody>
            <a:bodyPr wrap="square" rtlCol="0">
              <a:spAutoFit/>
            </a:bodyPr>
            <a:lstStyle/>
            <a:p>
              <a:r>
                <a:rPr lang="en-GB" sz="1000" dirty="0"/>
                <a:t>Figure derived from thesis Figure 6</a:t>
              </a:r>
            </a:p>
          </p:txBody>
        </p:sp>
        <p:sp>
          <p:nvSpPr>
            <p:cNvPr id="16" name="TextBox 15">
              <a:extLst>
                <a:ext uri="{FF2B5EF4-FFF2-40B4-BE49-F238E27FC236}">
                  <a16:creationId xmlns:a16="http://schemas.microsoft.com/office/drawing/2014/main" id="{73DCA59B-616D-EE34-C254-A0592C88CC8C}"/>
                </a:ext>
              </a:extLst>
            </p:cNvPr>
            <p:cNvSpPr txBox="1"/>
            <p:nvPr/>
          </p:nvSpPr>
          <p:spPr>
            <a:xfrm>
              <a:off x="1699088" y="1347804"/>
              <a:ext cx="1219828" cy="523220"/>
            </a:xfrm>
            <a:prstGeom prst="rect">
              <a:avLst/>
            </a:prstGeom>
            <a:solidFill>
              <a:schemeClr val="bg1"/>
            </a:solidFill>
            <a:ln w="19050">
              <a:solidFill>
                <a:schemeClr val="bg2">
                  <a:lumMod val="50000"/>
                </a:schemeClr>
              </a:solidFill>
            </a:ln>
          </p:spPr>
          <p:txBody>
            <a:bodyPr wrap="square" rtlCol="0">
              <a:spAutoFit/>
            </a:bodyPr>
            <a:lstStyle/>
            <a:p>
              <a:r>
                <a:rPr lang="en-GB" sz="1400" b="1" dirty="0"/>
                <a:t>Upregulated</a:t>
              </a:r>
            </a:p>
            <a:p>
              <a:r>
                <a:rPr lang="en-GB" sz="1400" b="1" dirty="0"/>
                <a:t>N = 164</a:t>
              </a:r>
            </a:p>
          </p:txBody>
        </p:sp>
        <p:sp>
          <p:nvSpPr>
            <p:cNvPr id="19" name="TextBox 18">
              <a:extLst>
                <a:ext uri="{FF2B5EF4-FFF2-40B4-BE49-F238E27FC236}">
                  <a16:creationId xmlns:a16="http://schemas.microsoft.com/office/drawing/2014/main" id="{E564C4DD-2DD3-BDE7-B539-7703F1E5479C}"/>
                </a:ext>
              </a:extLst>
            </p:cNvPr>
            <p:cNvSpPr txBox="1"/>
            <p:nvPr/>
          </p:nvSpPr>
          <p:spPr>
            <a:xfrm>
              <a:off x="539119" y="839300"/>
              <a:ext cx="4764506" cy="368968"/>
            </a:xfrm>
            <a:prstGeom prst="rect">
              <a:avLst/>
            </a:prstGeom>
            <a:noFill/>
          </p:spPr>
          <p:txBody>
            <a:bodyPr wrap="square" rtlCol="0">
              <a:spAutoFit/>
            </a:bodyPr>
            <a:lstStyle/>
            <a:p>
              <a:r>
                <a:rPr lang="en-GB" u="sng" dirty="0"/>
                <a:t>Target gene-level enrichment</a:t>
              </a:r>
              <a:r>
                <a:rPr lang="en-GB" dirty="0"/>
                <a:t> (ORA)</a:t>
              </a:r>
            </a:p>
          </p:txBody>
        </p:sp>
        <p:sp>
          <p:nvSpPr>
            <p:cNvPr id="21" name="TextBox 20">
              <a:extLst>
                <a:ext uri="{FF2B5EF4-FFF2-40B4-BE49-F238E27FC236}">
                  <a16:creationId xmlns:a16="http://schemas.microsoft.com/office/drawing/2014/main" id="{66482765-1934-6857-DD0F-85CB6C3EA706}"/>
                </a:ext>
              </a:extLst>
            </p:cNvPr>
            <p:cNvSpPr txBox="1"/>
            <p:nvPr/>
          </p:nvSpPr>
          <p:spPr>
            <a:xfrm>
              <a:off x="4898820" y="1347804"/>
              <a:ext cx="1443530" cy="523220"/>
            </a:xfrm>
            <a:prstGeom prst="rect">
              <a:avLst/>
            </a:prstGeom>
            <a:solidFill>
              <a:schemeClr val="bg1"/>
            </a:solidFill>
            <a:ln w="19050">
              <a:solidFill>
                <a:schemeClr val="bg2">
                  <a:lumMod val="50000"/>
                </a:schemeClr>
              </a:solidFill>
            </a:ln>
          </p:spPr>
          <p:txBody>
            <a:bodyPr wrap="square" rtlCol="0">
              <a:spAutoFit/>
            </a:bodyPr>
            <a:lstStyle/>
            <a:p>
              <a:r>
                <a:rPr lang="en-GB" sz="1400" b="1" dirty="0"/>
                <a:t>Downregulated</a:t>
              </a:r>
            </a:p>
            <a:p>
              <a:r>
                <a:rPr lang="en-GB" sz="1400" b="1" dirty="0"/>
                <a:t>N = 464</a:t>
              </a:r>
            </a:p>
          </p:txBody>
        </p:sp>
        <p:sp>
          <p:nvSpPr>
            <p:cNvPr id="24" name="Rectangle 23">
              <a:extLst>
                <a:ext uri="{FF2B5EF4-FFF2-40B4-BE49-F238E27FC236}">
                  <a16:creationId xmlns:a16="http://schemas.microsoft.com/office/drawing/2014/main" id="{ECBAFA34-2F5F-CF97-C13D-BE5EAB1AB7B9}"/>
                </a:ext>
              </a:extLst>
            </p:cNvPr>
            <p:cNvSpPr/>
            <p:nvPr/>
          </p:nvSpPr>
          <p:spPr>
            <a:xfrm>
              <a:off x="446124" y="762000"/>
              <a:ext cx="6495242" cy="559435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 name="Picture 4">
              <a:extLst>
                <a:ext uri="{FF2B5EF4-FFF2-40B4-BE49-F238E27FC236}">
                  <a16:creationId xmlns:a16="http://schemas.microsoft.com/office/drawing/2014/main" id="{A337A656-C50E-9692-B81C-E8D5D9DAE135}"/>
                </a:ext>
              </a:extLst>
            </p:cNvPr>
            <p:cNvPicPr>
              <a:picLocks noChangeAspect="1"/>
            </p:cNvPicPr>
            <p:nvPr/>
          </p:nvPicPr>
          <p:blipFill>
            <a:blip r:embed="rId4"/>
            <a:srcRect l="41047" t="33797" r="51522" b="36551"/>
            <a:stretch>
              <a:fillRect/>
            </a:stretch>
          </p:blipFill>
          <p:spPr>
            <a:xfrm>
              <a:off x="3033488" y="2688877"/>
              <a:ext cx="623730" cy="1659379"/>
            </a:xfrm>
            <a:prstGeom prst="rect">
              <a:avLst/>
            </a:prstGeom>
          </p:spPr>
        </p:pic>
      </p:grpSp>
    </p:spTree>
    <p:extLst>
      <p:ext uri="{BB962C8B-B14F-4D97-AF65-F5344CB8AC3E}">
        <p14:creationId xmlns:p14="http://schemas.microsoft.com/office/powerpoint/2010/main" val="155065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9" presetClass="emph" presetSubtype="0" nodeType="withEffect">
                                  <p:stCondLst>
                                    <p:cond delay="0"/>
                                  </p:stCondLst>
                                  <p:childTnLst>
                                    <p:set>
                                      <p:cBhvr>
                                        <p:cTn id="14" dur="indefinite"/>
                                        <p:tgtEl>
                                          <p:spTgt spid="27"/>
                                        </p:tgtEl>
                                        <p:attrNameLst>
                                          <p:attrName>style.opacity</p:attrName>
                                        </p:attrNameLst>
                                      </p:cBhvr>
                                      <p:to>
                                        <p:strVal val="0.5"/>
                                      </p:to>
                                    </p:set>
                                    <p:animEffect filter="image" prLst="opacity: 0.5">
                                      <p:cBhvr rctx="IE">
                                        <p:cTn id="15" dur="indefinite"/>
                                        <p:tgtEl>
                                          <p:spTgt spid="27"/>
                                        </p:tgtEl>
                                      </p:cBhvr>
                                    </p:animEffect>
                                  </p:childTnLst>
                                </p:cTn>
                              </p:par>
                              <p:par>
                                <p:cTn id="16" presetID="9" presetClass="emph" presetSubtype="0" nodeType="withEffect">
                                  <p:stCondLst>
                                    <p:cond delay="0"/>
                                  </p:stCondLst>
                                  <p:childTnLst>
                                    <p:set>
                                      <p:cBhvr>
                                        <p:cTn id="17" dur="indefinite"/>
                                        <p:tgtEl>
                                          <p:spTgt spid="28"/>
                                        </p:tgtEl>
                                        <p:attrNameLst>
                                          <p:attrName>style.opacity</p:attrName>
                                        </p:attrNameLst>
                                      </p:cBhvr>
                                      <p:to>
                                        <p:strVal val="0.5"/>
                                      </p:to>
                                    </p:set>
                                    <p:animEffect filter="image" prLst="opacity: 0.5">
                                      <p:cBhvr rctx="IE">
                                        <p:cTn id="18" dur="indefinite"/>
                                        <p:tgtEl>
                                          <p:spTgt spid="28"/>
                                        </p:tgtEl>
                                      </p:cBhvr>
                                    </p:animEffect>
                                  </p:childTnLst>
                                </p:cTn>
                              </p:par>
                              <p:par>
                                <p:cTn id="19" presetID="9" presetClass="emph" presetSubtype="0" grpId="0" nodeType="withEffect">
                                  <p:stCondLst>
                                    <p:cond delay="0"/>
                                  </p:stCondLst>
                                  <p:childTnLst>
                                    <p:set>
                                      <p:cBhvr>
                                        <p:cTn id="20" dur="indefinite"/>
                                        <p:tgtEl>
                                          <p:spTgt spid="13"/>
                                        </p:tgtEl>
                                        <p:attrNameLst>
                                          <p:attrName>style.opacity</p:attrName>
                                        </p:attrNameLst>
                                      </p:cBhvr>
                                      <p:to>
                                        <p:strVal val="0.5"/>
                                      </p:to>
                                    </p:set>
                                    <p:animEffect filter="image" prLst="opacity: 0.5">
                                      <p:cBhvr rctx="IE">
                                        <p:cTn id="21" dur="indefinite"/>
                                        <p:tgtEl>
                                          <p:spTgt spid="13"/>
                                        </p:tgtEl>
                                      </p:cBhvr>
                                    </p:animEffect>
                                  </p:childTnLst>
                                </p:cTn>
                              </p:par>
                              <p:par>
                                <p:cTn id="22" presetID="9" presetClass="emph" presetSubtype="0" grpId="1" nodeType="withEffect">
                                  <p:stCondLst>
                                    <p:cond delay="0"/>
                                  </p:stCondLst>
                                  <p:childTnLst>
                                    <p:set>
                                      <p:cBhvr>
                                        <p:cTn id="23" dur="indefinite"/>
                                        <p:tgtEl>
                                          <p:spTgt spid="17"/>
                                        </p:tgtEl>
                                        <p:attrNameLst>
                                          <p:attrName>style.opacity</p:attrName>
                                        </p:attrNameLst>
                                      </p:cBhvr>
                                      <p:to>
                                        <p:strVal val="0.5"/>
                                      </p:to>
                                    </p:set>
                                    <p:animEffect filter="image" prLst="opacity: 0.5">
                                      <p:cBhvr rctx="IE">
                                        <p:cTn id="24" dur="indefinite"/>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17"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A4A2E-97FA-7758-3EF6-AA7DA66739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D782DF-C804-ED49-03A0-F68AC52F46D8}"/>
              </a:ext>
            </a:extLst>
          </p:cNvPr>
          <p:cNvSpPr txBox="1"/>
          <p:nvPr/>
        </p:nvSpPr>
        <p:spPr>
          <a:xfrm>
            <a:off x="304800" y="228600"/>
            <a:ext cx="2910840" cy="461665"/>
          </a:xfrm>
          <a:prstGeom prst="rect">
            <a:avLst/>
          </a:prstGeom>
          <a:noFill/>
        </p:spPr>
        <p:txBody>
          <a:bodyPr wrap="square" rtlCol="0">
            <a:spAutoFit/>
          </a:bodyPr>
          <a:lstStyle/>
          <a:p>
            <a:r>
              <a:rPr lang="en-GB" sz="2400" b="1" dirty="0"/>
              <a:t>Results (4)</a:t>
            </a:r>
          </a:p>
        </p:txBody>
      </p:sp>
      <p:graphicFrame>
        <p:nvGraphicFramePr>
          <p:cNvPr id="4" name="Table 3">
            <a:extLst>
              <a:ext uri="{FF2B5EF4-FFF2-40B4-BE49-F238E27FC236}">
                <a16:creationId xmlns:a16="http://schemas.microsoft.com/office/drawing/2014/main" id="{E95ECD43-FD47-B1C7-211B-8E5CD99A4F46}"/>
              </a:ext>
            </a:extLst>
          </p:cNvPr>
          <p:cNvGraphicFramePr>
            <a:graphicFrameLocks noGrp="1"/>
          </p:cNvGraphicFramePr>
          <p:nvPr>
            <p:extLst>
              <p:ext uri="{D42A27DB-BD31-4B8C-83A1-F6EECF244321}">
                <p14:modId xmlns:p14="http://schemas.microsoft.com/office/powerpoint/2010/main" val="2789212999"/>
              </p:ext>
            </p:extLst>
          </p:nvPr>
        </p:nvGraphicFramePr>
        <p:xfrm>
          <a:off x="4652210" y="244642"/>
          <a:ext cx="6665495" cy="982579"/>
        </p:xfrm>
        <a:graphic>
          <a:graphicData uri="http://schemas.openxmlformats.org/drawingml/2006/table">
            <a:tbl>
              <a:tblPr firstRow="1" bandRow="1">
                <a:tableStyleId>{F2DE63D5-997A-4646-A377-4702673A728D}</a:tableStyleId>
              </a:tblPr>
              <a:tblGrid>
                <a:gridCol w="6665495">
                  <a:extLst>
                    <a:ext uri="{9D8B030D-6E8A-4147-A177-3AD203B41FA5}">
                      <a16:colId xmlns:a16="http://schemas.microsoft.com/office/drawing/2014/main" val="3859239714"/>
                    </a:ext>
                  </a:extLst>
                </a:gridCol>
              </a:tblGrid>
              <a:tr h="384573">
                <a:tc>
                  <a:txBody>
                    <a:bodyPr/>
                    <a:lstStyle/>
                    <a:p>
                      <a:r>
                        <a:rPr lang="en-GB" dirty="0"/>
                        <a:t>Summary</a:t>
                      </a:r>
                    </a:p>
                  </a:txBody>
                  <a:tcPr/>
                </a:tc>
                <a:extLst>
                  <a:ext uri="{0D108BD9-81ED-4DB2-BD59-A6C34878D82A}">
                    <a16:rowId xmlns:a16="http://schemas.microsoft.com/office/drawing/2014/main" val="1484715783"/>
                  </a:ext>
                </a:extLst>
              </a:tr>
              <a:tr h="598006">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Greater research for miR-125b-5p</a:t>
                      </a:r>
                    </a:p>
                  </a:txBody>
                  <a:tcPr/>
                </a:tc>
                <a:extLst>
                  <a:ext uri="{0D108BD9-81ED-4DB2-BD59-A6C34878D82A}">
                    <a16:rowId xmlns:a16="http://schemas.microsoft.com/office/drawing/2014/main" val="943029511"/>
                  </a:ext>
                </a:extLst>
              </a:tr>
            </a:tbl>
          </a:graphicData>
        </a:graphic>
      </p:graphicFrame>
      <p:sp>
        <p:nvSpPr>
          <p:cNvPr id="21" name="TextBox 20">
            <a:extLst>
              <a:ext uri="{FF2B5EF4-FFF2-40B4-BE49-F238E27FC236}">
                <a16:creationId xmlns:a16="http://schemas.microsoft.com/office/drawing/2014/main" id="{3FB7EC29-FD23-EA16-0E00-259F60C2ADD0}"/>
              </a:ext>
            </a:extLst>
          </p:cNvPr>
          <p:cNvSpPr txBox="1"/>
          <p:nvPr/>
        </p:nvSpPr>
        <p:spPr>
          <a:xfrm>
            <a:off x="453022" y="5965817"/>
            <a:ext cx="6907279" cy="246221"/>
          </a:xfrm>
          <a:prstGeom prst="rect">
            <a:avLst/>
          </a:prstGeom>
          <a:noFill/>
        </p:spPr>
        <p:txBody>
          <a:bodyPr wrap="square" rtlCol="0">
            <a:spAutoFit/>
          </a:bodyPr>
          <a:lstStyle/>
          <a:p>
            <a:r>
              <a:rPr lang="en-GB" sz="1000" dirty="0"/>
              <a:t>Figure created in RStudio</a:t>
            </a:r>
          </a:p>
        </p:txBody>
      </p:sp>
      <p:sp>
        <p:nvSpPr>
          <p:cNvPr id="3" name="Slide Number Placeholder 2">
            <a:extLst>
              <a:ext uri="{FF2B5EF4-FFF2-40B4-BE49-F238E27FC236}">
                <a16:creationId xmlns:a16="http://schemas.microsoft.com/office/drawing/2014/main" id="{42CC71F4-1944-8D0F-D2C4-53DC5125B796}"/>
              </a:ext>
            </a:extLst>
          </p:cNvPr>
          <p:cNvSpPr>
            <a:spLocks noGrp="1"/>
          </p:cNvSpPr>
          <p:nvPr>
            <p:ph type="sldNum" sz="quarter" idx="12"/>
          </p:nvPr>
        </p:nvSpPr>
        <p:spPr/>
        <p:txBody>
          <a:bodyPr/>
          <a:lstStyle/>
          <a:p>
            <a:fld id="{AAB2C436-2398-F34B-A706-69BC3409080B}" type="slidenum">
              <a:rPr lang="en-GB" smtClean="0"/>
              <a:t>10</a:t>
            </a:fld>
            <a:endParaRPr lang="en-GB"/>
          </a:p>
        </p:txBody>
      </p:sp>
      <p:grpSp>
        <p:nvGrpSpPr>
          <p:cNvPr id="46" name="Group 45">
            <a:extLst>
              <a:ext uri="{FF2B5EF4-FFF2-40B4-BE49-F238E27FC236}">
                <a16:creationId xmlns:a16="http://schemas.microsoft.com/office/drawing/2014/main" id="{30FBB012-CFE3-B0A2-6CDF-134482D97AB5}"/>
              </a:ext>
            </a:extLst>
          </p:cNvPr>
          <p:cNvGrpSpPr/>
          <p:nvPr/>
        </p:nvGrpSpPr>
        <p:grpSpPr>
          <a:xfrm>
            <a:off x="1111117" y="1725287"/>
            <a:ext cx="4644114" cy="4366703"/>
            <a:chOff x="1111117" y="1725287"/>
            <a:chExt cx="4644114" cy="4366703"/>
          </a:xfrm>
        </p:grpSpPr>
        <p:sp>
          <p:nvSpPr>
            <p:cNvPr id="19" name="TextBox 18">
              <a:extLst>
                <a:ext uri="{FF2B5EF4-FFF2-40B4-BE49-F238E27FC236}">
                  <a16:creationId xmlns:a16="http://schemas.microsoft.com/office/drawing/2014/main" id="{2E9C96D1-C9E1-6DD7-CCA1-F75E575E787E}"/>
                </a:ext>
              </a:extLst>
            </p:cNvPr>
            <p:cNvSpPr txBox="1"/>
            <p:nvPr/>
          </p:nvSpPr>
          <p:spPr>
            <a:xfrm>
              <a:off x="2466067" y="1725287"/>
              <a:ext cx="2258328" cy="584775"/>
            </a:xfrm>
            <a:prstGeom prst="rect">
              <a:avLst/>
            </a:prstGeom>
            <a:solidFill>
              <a:schemeClr val="bg1"/>
            </a:solidFill>
            <a:ln w="19050">
              <a:solidFill>
                <a:schemeClr val="bg2">
                  <a:lumMod val="50000"/>
                </a:schemeClr>
              </a:solidFill>
            </a:ln>
          </p:spPr>
          <p:txBody>
            <a:bodyPr wrap="square" rtlCol="0">
              <a:spAutoFit/>
            </a:bodyPr>
            <a:lstStyle/>
            <a:p>
              <a:r>
                <a:rPr lang="en-GB" b="1" dirty="0"/>
                <a:t>miR-125b-5p</a:t>
              </a:r>
            </a:p>
            <a:p>
              <a:r>
                <a:rPr lang="en-GB" sz="1400" dirty="0"/>
                <a:t>Total Publications = 324 </a:t>
              </a:r>
            </a:p>
          </p:txBody>
        </p:sp>
        <p:pic>
          <p:nvPicPr>
            <p:cNvPr id="25" name="Picture 24">
              <a:extLst>
                <a:ext uri="{FF2B5EF4-FFF2-40B4-BE49-F238E27FC236}">
                  <a16:creationId xmlns:a16="http://schemas.microsoft.com/office/drawing/2014/main" id="{0A813818-40E1-DC43-D6AE-3DE3953BDE70}"/>
                </a:ext>
              </a:extLst>
            </p:cNvPr>
            <p:cNvPicPr>
              <a:picLocks noChangeAspect="1"/>
            </p:cNvPicPr>
            <p:nvPr/>
          </p:nvPicPr>
          <p:blipFill>
            <a:blip r:embed="rId3"/>
            <a:stretch>
              <a:fillRect/>
            </a:stretch>
          </p:blipFill>
          <p:spPr>
            <a:xfrm>
              <a:off x="5334000" y="2129742"/>
              <a:ext cx="0" cy="0"/>
            </a:xfrm>
            <a:prstGeom prst="rect">
              <a:avLst/>
            </a:prstGeom>
          </p:spPr>
        </p:pic>
        <p:pic>
          <p:nvPicPr>
            <p:cNvPr id="31" name="Picture 30">
              <a:extLst>
                <a:ext uri="{FF2B5EF4-FFF2-40B4-BE49-F238E27FC236}">
                  <a16:creationId xmlns:a16="http://schemas.microsoft.com/office/drawing/2014/main" id="{BC0681AB-2C68-92B5-FEE9-41E6D606B56B}"/>
                </a:ext>
              </a:extLst>
            </p:cNvPr>
            <p:cNvPicPr>
              <a:picLocks noChangeAspect="1"/>
            </p:cNvPicPr>
            <p:nvPr/>
          </p:nvPicPr>
          <p:blipFill>
            <a:blip r:embed="rId4"/>
            <a:stretch>
              <a:fillRect/>
            </a:stretch>
          </p:blipFill>
          <p:spPr>
            <a:xfrm>
              <a:off x="1435231" y="1771990"/>
              <a:ext cx="4320000" cy="4320000"/>
            </a:xfrm>
            <a:prstGeom prst="rect">
              <a:avLst/>
            </a:prstGeom>
          </p:spPr>
        </p:pic>
        <p:sp>
          <p:nvSpPr>
            <p:cNvPr id="37" name="Rectangle 36">
              <a:extLst>
                <a:ext uri="{FF2B5EF4-FFF2-40B4-BE49-F238E27FC236}">
                  <a16:creationId xmlns:a16="http://schemas.microsoft.com/office/drawing/2014/main" id="{4F47742C-FFF0-0174-93DB-70A6F3E67E33}"/>
                </a:ext>
              </a:extLst>
            </p:cNvPr>
            <p:cNvSpPr/>
            <p:nvPr/>
          </p:nvSpPr>
          <p:spPr>
            <a:xfrm>
              <a:off x="1367999" y="2923199"/>
              <a:ext cx="1098067" cy="2031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Picture 34">
              <a:extLst>
                <a:ext uri="{FF2B5EF4-FFF2-40B4-BE49-F238E27FC236}">
                  <a16:creationId xmlns:a16="http://schemas.microsoft.com/office/drawing/2014/main" id="{BEE01010-8F8A-03AE-25F9-9F7726F6234D}"/>
                </a:ext>
              </a:extLst>
            </p:cNvPr>
            <p:cNvPicPr>
              <a:picLocks noChangeAspect="1"/>
            </p:cNvPicPr>
            <p:nvPr/>
          </p:nvPicPr>
          <p:blipFill>
            <a:blip r:embed="rId5"/>
            <a:srcRect l="69522" t="70392" r="-220" b="24370"/>
            <a:stretch>
              <a:fillRect/>
            </a:stretch>
          </p:blipFill>
          <p:spPr>
            <a:xfrm>
              <a:off x="1111117" y="2900042"/>
              <a:ext cx="1326149" cy="226315"/>
            </a:xfrm>
            <a:prstGeom prst="rect">
              <a:avLst/>
            </a:prstGeom>
          </p:spPr>
        </p:pic>
      </p:grpSp>
      <p:grpSp>
        <p:nvGrpSpPr>
          <p:cNvPr id="45" name="Group 44">
            <a:extLst>
              <a:ext uri="{FF2B5EF4-FFF2-40B4-BE49-F238E27FC236}">
                <a16:creationId xmlns:a16="http://schemas.microsoft.com/office/drawing/2014/main" id="{D10E332E-1FD6-6754-8A50-94CC95A9A7AC}"/>
              </a:ext>
            </a:extLst>
          </p:cNvPr>
          <p:cNvGrpSpPr/>
          <p:nvPr/>
        </p:nvGrpSpPr>
        <p:grpSpPr>
          <a:xfrm>
            <a:off x="5898367" y="1725287"/>
            <a:ext cx="5030000" cy="4363640"/>
            <a:chOff x="5898367" y="1725287"/>
            <a:chExt cx="5030000" cy="4363640"/>
          </a:xfrm>
        </p:grpSpPr>
        <p:pic>
          <p:nvPicPr>
            <p:cNvPr id="33" name="Picture 32">
              <a:extLst>
                <a:ext uri="{FF2B5EF4-FFF2-40B4-BE49-F238E27FC236}">
                  <a16:creationId xmlns:a16="http://schemas.microsoft.com/office/drawing/2014/main" id="{1F7EC720-5EE6-4434-37A8-339414076438}"/>
                </a:ext>
              </a:extLst>
            </p:cNvPr>
            <p:cNvPicPr>
              <a:picLocks noChangeAspect="1"/>
            </p:cNvPicPr>
            <p:nvPr/>
          </p:nvPicPr>
          <p:blipFill>
            <a:blip r:embed="rId6"/>
            <a:stretch>
              <a:fillRect/>
            </a:stretch>
          </p:blipFill>
          <p:spPr>
            <a:xfrm>
              <a:off x="6293634" y="1768927"/>
              <a:ext cx="4320000" cy="4320000"/>
            </a:xfrm>
            <a:prstGeom prst="rect">
              <a:avLst/>
            </a:prstGeom>
          </p:spPr>
        </p:pic>
        <p:sp>
          <p:nvSpPr>
            <p:cNvPr id="20" name="TextBox 19">
              <a:extLst>
                <a:ext uri="{FF2B5EF4-FFF2-40B4-BE49-F238E27FC236}">
                  <a16:creationId xmlns:a16="http://schemas.microsoft.com/office/drawing/2014/main" id="{79EDB33A-14B7-F1B2-56B5-B7D9FA52A179}"/>
                </a:ext>
              </a:extLst>
            </p:cNvPr>
            <p:cNvSpPr txBox="1"/>
            <p:nvPr/>
          </p:nvSpPr>
          <p:spPr>
            <a:xfrm>
              <a:off x="7640741" y="1725287"/>
              <a:ext cx="2258328" cy="584775"/>
            </a:xfrm>
            <a:prstGeom prst="rect">
              <a:avLst/>
            </a:prstGeom>
            <a:solidFill>
              <a:schemeClr val="bg1"/>
            </a:solidFill>
            <a:ln w="19050">
              <a:solidFill>
                <a:schemeClr val="bg2">
                  <a:lumMod val="50000"/>
                </a:schemeClr>
              </a:solidFill>
            </a:ln>
          </p:spPr>
          <p:txBody>
            <a:bodyPr wrap="square" rtlCol="0">
              <a:spAutoFit/>
            </a:bodyPr>
            <a:lstStyle/>
            <a:p>
              <a:r>
                <a:rPr lang="en-GB" b="1" dirty="0"/>
                <a:t>miR-574-5p</a:t>
              </a:r>
            </a:p>
            <a:p>
              <a:r>
                <a:rPr lang="en-GB" sz="1400" dirty="0"/>
                <a:t>Total Publications = 65 </a:t>
              </a:r>
            </a:p>
          </p:txBody>
        </p:sp>
        <p:sp>
          <p:nvSpPr>
            <p:cNvPr id="38" name="Rectangle 37">
              <a:extLst>
                <a:ext uri="{FF2B5EF4-FFF2-40B4-BE49-F238E27FC236}">
                  <a16:creationId xmlns:a16="http://schemas.microsoft.com/office/drawing/2014/main" id="{9485AB33-6E47-BC7D-0A88-C5BBF3C516F9}"/>
                </a:ext>
              </a:extLst>
            </p:cNvPr>
            <p:cNvSpPr/>
            <p:nvPr/>
          </p:nvSpPr>
          <p:spPr>
            <a:xfrm>
              <a:off x="6155249" y="3036357"/>
              <a:ext cx="1098067" cy="151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9" name="Picture 38">
              <a:extLst>
                <a:ext uri="{FF2B5EF4-FFF2-40B4-BE49-F238E27FC236}">
                  <a16:creationId xmlns:a16="http://schemas.microsoft.com/office/drawing/2014/main" id="{D30F2B95-5A8D-4764-FBE9-97D6BDAB6B81}"/>
                </a:ext>
              </a:extLst>
            </p:cNvPr>
            <p:cNvPicPr>
              <a:picLocks noChangeAspect="1"/>
            </p:cNvPicPr>
            <p:nvPr/>
          </p:nvPicPr>
          <p:blipFill>
            <a:blip r:embed="rId5"/>
            <a:srcRect l="69522" t="70392" r="-220" b="24370"/>
            <a:stretch>
              <a:fillRect/>
            </a:stretch>
          </p:blipFill>
          <p:spPr>
            <a:xfrm>
              <a:off x="5898367" y="3013199"/>
              <a:ext cx="1326149" cy="226315"/>
            </a:xfrm>
            <a:prstGeom prst="rect">
              <a:avLst/>
            </a:prstGeom>
          </p:spPr>
        </p:pic>
        <p:sp>
          <p:nvSpPr>
            <p:cNvPr id="43" name="Rectangle 42">
              <a:extLst>
                <a:ext uri="{FF2B5EF4-FFF2-40B4-BE49-F238E27FC236}">
                  <a16:creationId xmlns:a16="http://schemas.microsoft.com/office/drawing/2014/main" id="{1003A3E3-3A9B-457E-5EF0-00BA74C17F9F}"/>
                </a:ext>
              </a:extLst>
            </p:cNvPr>
            <p:cNvSpPr/>
            <p:nvPr/>
          </p:nvSpPr>
          <p:spPr>
            <a:xfrm>
              <a:off x="10498975" y="4468767"/>
              <a:ext cx="429392"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 name="Picture 39">
              <a:extLst>
                <a:ext uri="{FF2B5EF4-FFF2-40B4-BE49-F238E27FC236}">
                  <a16:creationId xmlns:a16="http://schemas.microsoft.com/office/drawing/2014/main" id="{F7F6FA08-286D-83C8-5328-30E4F10900F8}"/>
                </a:ext>
              </a:extLst>
            </p:cNvPr>
            <p:cNvPicPr>
              <a:picLocks noChangeAspect="1"/>
            </p:cNvPicPr>
            <p:nvPr/>
          </p:nvPicPr>
          <p:blipFill>
            <a:blip r:embed="rId5"/>
            <a:srcRect l="29585" t="21565" r="64377" b="74216"/>
            <a:stretch>
              <a:fillRect/>
            </a:stretch>
          </p:blipFill>
          <p:spPr>
            <a:xfrm>
              <a:off x="10510150" y="4503116"/>
              <a:ext cx="260850" cy="182285"/>
            </a:xfrm>
            <a:prstGeom prst="rect">
              <a:avLst/>
            </a:prstGeom>
          </p:spPr>
        </p:pic>
      </p:grpSp>
    </p:spTree>
    <p:extLst>
      <p:ext uri="{BB962C8B-B14F-4D97-AF65-F5344CB8AC3E}">
        <p14:creationId xmlns:p14="http://schemas.microsoft.com/office/powerpoint/2010/main" val="2473047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9" presetClass="emph" presetSubtype="0" grpId="0" nodeType="withEffect">
                                  <p:stCondLst>
                                    <p:cond delay="0"/>
                                  </p:stCondLst>
                                  <p:childTnLst>
                                    <p:set>
                                      <p:cBhvr>
                                        <p:cTn id="8" dur="indefinite"/>
                                        <p:tgtEl>
                                          <p:spTgt spid="21"/>
                                        </p:tgtEl>
                                        <p:attrNameLst>
                                          <p:attrName>style.opacity</p:attrName>
                                        </p:attrNameLst>
                                      </p:cBhvr>
                                      <p:to>
                                        <p:strVal val="0.5"/>
                                      </p:to>
                                    </p:set>
                                    <p:animEffect filter="image" prLst="opacity: 0.5">
                                      <p:cBhvr rctx="IE">
                                        <p:cTn id="9" dur="indefinite"/>
                                        <p:tgtEl>
                                          <p:spTgt spid="21"/>
                                        </p:tgtEl>
                                      </p:cBhvr>
                                    </p:animEffect>
                                  </p:childTnLst>
                                </p:cTn>
                              </p:par>
                              <p:par>
                                <p:cTn id="10" presetID="9" presetClass="emph" presetSubtype="0" nodeType="withEffect">
                                  <p:stCondLst>
                                    <p:cond delay="0"/>
                                  </p:stCondLst>
                                  <p:childTnLst>
                                    <p:set>
                                      <p:cBhvr>
                                        <p:cTn id="11" dur="indefinite"/>
                                        <p:tgtEl>
                                          <p:spTgt spid="46"/>
                                        </p:tgtEl>
                                        <p:attrNameLst>
                                          <p:attrName>style.opacity</p:attrName>
                                        </p:attrNameLst>
                                      </p:cBhvr>
                                      <p:to>
                                        <p:strVal val="0.5"/>
                                      </p:to>
                                    </p:set>
                                    <p:animEffect filter="image" prLst="opacity: 0.5">
                                      <p:cBhvr rctx="IE">
                                        <p:cTn id="12" dur="indefinite"/>
                                        <p:tgtEl>
                                          <p:spTgt spid="46"/>
                                        </p:tgtEl>
                                      </p:cBhvr>
                                    </p:animEffect>
                                  </p:childTnLst>
                                </p:cTn>
                              </p:par>
                              <p:par>
                                <p:cTn id="13" presetID="9" presetClass="emph" presetSubtype="0" nodeType="withEffect">
                                  <p:stCondLst>
                                    <p:cond delay="0"/>
                                  </p:stCondLst>
                                  <p:childTnLst>
                                    <p:set>
                                      <p:cBhvr>
                                        <p:cTn id="14" dur="indefinite"/>
                                        <p:tgtEl>
                                          <p:spTgt spid="45"/>
                                        </p:tgtEl>
                                        <p:attrNameLst>
                                          <p:attrName>style.opacity</p:attrName>
                                        </p:attrNameLst>
                                      </p:cBhvr>
                                      <p:to>
                                        <p:strVal val="0.5"/>
                                      </p:to>
                                    </p:set>
                                    <p:animEffect filter="image" prLst="opacity: 0.5">
                                      <p:cBhvr rctx="IE">
                                        <p:cTn id="15" dur="indefinite"/>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F49F3-23B2-EA8B-70CD-E643F55F7EB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21A446-84CF-A2AC-B983-6786FE723B61}"/>
              </a:ext>
            </a:extLst>
          </p:cNvPr>
          <p:cNvSpPr txBox="1"/>
          <p:nvPr/>
        </p:nvSpPr>
        <p:spPr>
          <a:xfrm>
            <a:off x="304800" y="228600"/>
            <a:ext cx="2910840" cy="461665"/>
          </a:xfrm>
          <a:prstGeom prst="rect">
            <a:avLst/>
          </a:prstGeom>
          <a:noFill/>
        </p:spPr>
        <p:txBody>
          <a:bodyPr wrap="square" rtlCol="0">
            <a:spAutoFit/>
          </a:bodyPr>
          <a:lstStyle/>
          <a:p>
            <a:r>
              <a:rPr lang="en-GB" sz="2400" b="1" dirty="0"/>
              <a:t>Interpretation</a:t>
            </a:r>
          </a:p>
        </p:txBody>
      </p:sp>
      <p:graphicFrame>
        <p:nvGraphicFramePr>
          <p:cNvPr id="5" name="Table 4">
            <a:extLst>
              <a:ext uri="{FF2B5EF4-FFF2-40B4-BE49-F238E27FC236}">
                <a16:creationId xmlns:a16="http://schemas.microsoft.com/office/drawing/2014/main" id="{DE0D600F-E290-B368-DA21-F2CD20E0FFE0}"/>
              </a:ext>
            </a:extLst>
          </p:cNvPr>
          <p:cNvGraphicFramePr>
            <a:graphicFrameLocks noGrp="1"/>
          </p:cNvGraphicFramePr>
          <p:nvPr>
            <p:extLst>
              <p:ext uri="{D42A27DB-BD31-4B8C-83A1-F6EECF244321}">
                <p14:modId xmlns:p14="http://schemas.microsoft.com/office/powerpoint/2010/main" val="753839539"/>
              </p:ext>
            </p:extLst>
          </p:nvPr>
        </p:nvGraphicFramePr>
        <p:xfrm>
          <a:off x="482600" y="1478662"/>
          <a:ext cx="8128000" cy="1307748"/>
        </p:xfrm>
        <a:graphic>
          <a:graphicData uri="http://schemas.openxmlformats.org/drawingml/2006/table">
            <a:tbl>
              <a:tblPr firstRow="1" bandRow="1">
                <a:tableStyleId>{17292A2E-F333-43FB-9621-5CBBE7FDCDCB}</a:tableStyleId>
              </a:tblPr>
              <a:tblGrid>
                <a:gridCol w="8128000">
                  <a:extLst>
                    <a:ext uri="{9D8B030D-6E8A-4147-A177-3AD203B41FA5}">
                      <a16:colId xmlns:a16="http://schemas.microsoft.com/office/drawing/2014/main" val="3308488454"/>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dirty="0">
                          <a:solidFill>
                            <a:schemeClr val="bg1"/>
                          </a:solidFill>
                        </a:rPr>
                        <a:t>Aim: Create transcriptomics workflow using primary HBECs</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654714239"/>
                  </a:ext>
                </a:extLst>
              </a:tr>
              <a:tr h="455754">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2000" dirty="0"/>
                        <a:t>Target gene-level enrichment more informative than miRNA-level </a:t>
                      </a:r>
                    </a:p>
                  </a:txBody>
                  <a:tcPr>
                    <a:lnL w="12700" cap="flat" cmpd="sng" algn="ctr">
                      <a:noFill/>
                      <a:prstDash val="solid"/>
                      <a:miter lim="800000"/>
                    </a:lnL>
                    <a:lnR w="12700" cap="flat" cmpd="sng" algn="ctr">
                      <a:noFill/>
                      <a:prstDash val="solid"/>
                      <a:miter lim="800000"/>
                    </a:lnR>
                    <a:lnT w="12700" cap="flat" cmpd="sng" algn="ctr">
                      <a:solidFill>
                        <a:schemeClr val="accent1">
                          <a:lumMod val="75000"/>
                        </a:schemeClr>
                      </a:solidFill>
                      <a:prstDash val="solid"/>
                      <a:round/>
                      <a:headEnd type="none" w="med" len="med"/>
                      <a:tailEnd type="none" w="med" len="med"/>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577245567"/>
                  </a:ext>
                </a:extLst>
              </a:tr>
              <a:tr h="455754">
                <a:tc>
                  <a:txBody>
                    <a:bodyPr/>
                    <a:lstStyle/>
                    <a:p>
                      <a:pPr marL="342900" indent="-342900">
                        <a:buFont typeface="+mj-lt"/>
                        <a:buAutoNum type="arabicPeriod" startAt="2"/>
                      </a:pPr>
                      <a:r>
                        <a:rPr lang="en-GB" sz="2000" kern="1200" dirty="0">
                          <a:solidFill>
                            <a:schemeClr val="tx1"/>
                          </a:solidFill>
                          <a:effectLst/>
                        </a:rPr>
                        <a:t>Detected pathways relevant to airway inflammation</a:t>
                      </a:r>
                      <a:endParaRPr lang="en-GB" sz="2000" dirty="0"/>
                    </a:p>
                  </a:txBody>
                  <a:tcPr>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681379381"/>
                  </a:ext>
                </a:extLst>
              </a:tr>
            </a:tbl>
          </a:graphicData>
        </a:graphic>
      </p:graphicFrame>
      <p:graphicFrame>
        <p:nvGraphicFramePr>
          <p:cNvPr id="8" name="Table 7">
            <a:extLst>
              <a:ext uri="{FF2B5EF4-FFF2-40B4-BE49-F238E27FC236}">
                <a16:creationId xmlns:a16="http://schemas.microsoft.com/office/drawing/2014/main" id="{581C6A90-1B30-C2FB-258F-E8BCE7D8F4BA}"/>
              </a:ext>
            </a:extLst>
          </p:cNvPr>
          <p:cNvGraphicFramePr>
            <a:graphicFrameLocks noGrp="1"/>
          </p:cNvGraphicFramePr>
          <p:nvPr>
            <p:extLst>
              <p:ext uri="{D42A27DB-BD31-4B8C-83A1-F6EECF244321}">
                <p14:modId xmlns:p14="http://schemas.microsoft.com/office/powerpoint/2010/main" val="2603730538"/>
              </p:ext>
            </p:extLst>
          </p:nvPr>
        </p:nvGraphicFramePr>
        <p:xfrm>
          <a:off x="482600" y="3576210"/>
          <a:ext cx="8128000" cy="1307748"/>
        </p:xfrm>
        <a:graphic>
          <a:graphicData uri="http://schemas.openxmlformats.org/drawingml/2006/table">
            <a:tbl>
              <a:tblPr firstRow="1" bandRow="1">
                <a:tableStyleId>{912C8C85-51F0-491E-9774-3900AFEF0FD7}</a:tableStyleId>
              </a:tblPr>
              <a:tblGrid>
                <a:gridCol w="8128000">
                  <a:extLst>
                    <a:ext uri="{9D8B030D-6E8A-4147-A177-3AD203B41FA5}">
                      <a16:colId xmlns:a16="http://schemas.microsoft.com/office/drawing/2014/main" val="3308488454"/>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solidFill>
                            <a:schemeClr val="bg1"/>
                          </a:solidFill>
                        </a:rPr>
                        <a:t>Aim: Apply the workflow to the Calu-3 dataset</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extLst>
                  <a:ext uri="{0D108BD9-81ED-4DB2-BD59-A6C34878D82A}">
                    <a16:rowId xmlns:a16="http://schemas.microsoft.com/office/drawing/2014/main" val="2654714239"/>
                  </a:ext>
                </a:extLst>
              </a:tr>
              <a:tr h="455754">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2000" kern="1200" dirty="0">
                          <a:solidFill>
                            <a:schemeClr val="tx1"/>
                          </a:solidFill>
                          <a:effectLst/>
                        </a:rPr>
                        <a:t>Limited miRNA abundance constrained analyses</a:t>
                      </a:r>
                      <a:endParaRPr lang="en-GB" sz="2000" kern="1200" dirty="0">
                        <a:solidFill>
                          <a:schemeClr val="tx1"/>
                        </a:solidFill>
                        <a:effectLst/>
                        <a:latin typeface="+mn-lt"/>
                        <a:ea typeface="+mn-ea"/>
                        <a:cs typeface="+mn-cs"/>
                      </a:endParaRPr>
                    </a:p>
                  </a:txBody>
                  <a:tcPr>
                    <a:lnL w="12700" cap="flat" cmpd="sng" algn="ctr">
                      <a:noFill/>
                      <a:prstDash val="solid"/>
                      <a:miter lim="800000"/>
                    </a:lnL>
                    <a:lnR w="12700" cap="flat" cmpd="sng" algn="ctr">
                      <a:noFill/>
                      <a:prstDash val="solid"/>
                      <a:miter lim="800000"/>
                    </a:lnR>
                    <a:lnT w="12700" cap="flat" cmpd="sng" algn="ctr">
                      <a:solidFill>
                        <a:schemeClr val="accent3">
                          <a:lumMod val="75000"/>
                        </a:schemeClr>
                      </a:solidFill>
                      <a:prstDash val="solid"/>
                      <a:round/>
                      <a:headEnd type="none" w="med" len="med"/>
                      <a:tailEnd type="none" w="med" len="med"/>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577245567"/>
                  </a:ext>
                </a:extLst>
              </a:tr>
              <a:tr h="455754">
                <a:tc>
                  <a:txBody>
                    <a:bodyPr/>
                    <a:lstStyle/>
                    <a:p>
                      <a:pPr marL="342900" indent="-342900">
                        <a:buFont typeface="+mj-lt"/>
                        <a:buAutoNum type="arabicPeriod" startAt="2"/>
                      </a:pPr>
                      <a:r>
                        <a:rPr lang="en-GB" sz="2000" kern="1200" dirty="0">
                          <a:solidFill>
                            <a:schemeClr val="tx1"/>
                          </a:solidFill>
                          <a:effectLst/>
                        </a:rPr>
                        <a:t>Greater potential role </a:t>
                      </a:r>
                      <a:r>
                        <a:rPr lang="en-GB" sz="2000" dirty="0"/>
                        <a:t>for miR-125b-5p than </a:t>
                      </a:r>
                      <a:r>
                        <a:rPr lang="en-GB" sz="2000" kern="1200" dirty="0">
                          <a:solidFill>
                            <a:schemeClr val="tx1"/>
                          </a:solidFill>
                          <a:effectLst/>
                        </a:rPr>
                        <a:t>miR-574-5p </a:t>
                      </a:r>
                      <a:endParaRPr lang="en-GB" sz="2000" dirty="0"/>
                    </a:p>
                  </a:txBody>
                  <a:tcPr>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681379381"/>
                  </a:ext>
                </a:extLst>
              </a:tr>
            </a:tbl>
          </a:graphicData>
        </a:graphic>
      </p:graphicFrame>
      <p:sp>
        <p:nvSpPr>
          <p:cNvPr id="3" name="Slide Number Placeholder 2">
            <a:extLst>
              <a:ext uri="{FF2B5EF4-FFF2-40B4-BE49-F238E27FC236}">
                <a16:creationId xmlns:a16="http://schemas.microsoft.com/office/drawing/2014/main" id="{C2473108-2E5D-9FFB-04AF-F08848412375}"/>
              </a:ext>
            </a:extLst>
          </p:cNvPr>
          <p:cNvSpPr>
            <a:spLocks noGrp="1"/>
          </p:cNvSpPr>
          <p:nvPr>
            <p:ph type="sldNum" sz="quarter" idx="12"/>
          </p:nvPr>
        </p:nvSpPr>
        <p:spPr/>
        <p:txBody>
          <a:bodyPr/>
          <a:lstStyle/>
          <a:p>
            <a:fld id="{AAB2C436-2398-F34B-A706-69BC3409080B}" type="slidenum">
              <a:rPr lang="en-GB" smtClean="0"/>
              <a:t>11</a:t>
            </a:fld>
            <a:endParaRPr lang="en-GB"/>
          </a:p>
        </p:txBody>
      </p:sp>
    </p:spTree>
    <p:extLst>
      <p:ext uri="{BB962C8B-B14F-4D97-AF65-F5344CB8AC3E}">
        <p14:creationId xmlns:p14="http://schemas.microsoft.com/office/powerpoint/2010/main" val="366794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9" presetClass="emph" presetSubtype="0" nodeType="withEffect">
                                  <p:stCondLst>
                                    <p:cond delay="0"/>
                                  </p:stCondLst>
                                  <p:childTnLst>
                                    <p:set>
                                      <p:cBhvr>
                                        <p:cTn id="12" dur="indefinite"/>
                                        <p:tgtEl>
                                          <p:spTgt spid="5"/>
                                        </p:tgtEl>
                                        <p:attrNameLst>
                                          <p:attrName>style.opacity</p:attrName>
                                        </p:attrNameLst>
                                      </p:cBhvr>
                                      <p:to>
                                        <p:strVal val="0.5"/>
                                      </p:to>
                                    </p:set>
                                    <p:animEffect filter="image" prLst="opacity: 0.5">
                                      <p:cBhvr rctx="IE">
                                        <p:cTn id="13" dur="indefinite"/>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066DA-B016-3649-BE34-0AAEB67A1D38}"/>
            </a:ext>
          </a:extLst>
        </p:cNvPr>
        <p:cNvGrpSpPr/>
        <p:nvPr/>
      </p:nvGrpSpPr>
      <p:grpSpPr>
        <a:xfrm>
          <a:off x="0" y="0"/>
          <a:ext cx="0" cy="0"/>
          <a:chOff x="0" y="0"/>
          <a:chExt cx="0" cy="0"/>
        </a:xfrm>
      </p:grpSpPr>
      <p:sp>
        <p:nvSpPr>
          <p:cNvPr id="59" name="Freeform 58">
            <a:extLst>
              <a:ext uri="{FF2B5EF4-FFF2-40B4-BE49-F238E27FC236}">
                <a16:creationId xmlns:a16="http://schemas.microsoft.com/office/drawing/2014/main" id="{4D82814D-250B-8D48-ACB3-4704EC7EFC20}"/>
              </a:ext>
            </a:extLst>
          </p:cNvPr>
          <p:cNvSpPr/>
          <p:nvPr/>
        </p:nvSpPr>
        <p:spPr>
          <a:xfrm>
            <a:off x="1236208" y="1822109"/>
            <a:ext cx="4373946" cy="1178718"/>
          </a:xfrm>
          <a:custGeom>
            <a:avLst/>
            <a:gdLst>
              <a:gd name="csX0" fmla="*/ 774553 w 4373946"/>
              <a:gd name="csY0" fmla="*/ 0 h 1178718"/>
              <a:gd name="csX1" fmla="*/ 4373946 w 4373946"/>
              <a:gd name="csY1" fmla="*/ 0 h 1178718"/>
              <a:gd name="csX2" fmla="*/ 4373946 w 4373946"/>
              <a:gd name="csY2" fmla="*/ 1178718 h 1178718"/>
              <a:gd name="csX3" fmla="*/ 0 w 4373946"/>
              <a:gd name="csY3" fmla="*/ 1178718 h 1178718"/>
              <a:gd name="csX4" fmla="*/ 0 w 4373946"/>
              <a:gd name="csY4" fmla="*/ 1067395 h 1178718"/>
              <a:gd name="csX5" fmla="*/ 774553 w 4373946"/>
              <a:gd name="csY5" fmla="*/ 1067395 h 1178718"/>
              <a:gd name="csX6" fmla="*/ 774553 w 4373946"/>
              <a:gd name="csY6" fmla="*/ 0 h 117871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73946" h="1178718">
                <a:moveTo>
                  <a:pt x="774553" y="0"/>
                </a:moveTo>
                <a:lnTo>
                  <a:pt x="4373946" y="0"/>
                </a:lnTo>
                <a:lnTo>
                  <a:pt x="4373946" y="1178718"/>
                </a:lnTo>
                <a:lnTo>
                  <a:pt x="0" y="1178718"/>
                </a:lnTo>
                <a:lnTo>
                  <a:pt x="0" y="1067395"/>
                </a:lnTo>
                <a:lnTo>
                  <a:pt x="774553" y="1067395"/>
                </a:lnTo>
                <a:lnTo>
                  <a:pt x="774553" y="0"/>
                </a:lnTo>
                <a:close/>
              </a:path>
            </a:pathLst>
          </a:custGeom>
          <a:noFill/>
          <a:ln>
            <a:solidFill>
              <a:schemeClr val="tx2"/>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wrap="square" lIns="3600" anchor="ctr">
            <a:noAutofit/>
          </a:bodyPr>
          <a:lstStyle/>
          <a:p>
            <a:pPr lvl="3" defTabSz="2400300">
              <a:lnSpc>
                <a:spcPct val="90000"/>
              </a:lnSpc>
              <a:spcBef>
                <a:spcPct val="0"/>
              </a:spcBef>
              <a:spcAft>
                <a:spcPct val="35000"/>
              </a:spcAft>
            </a:pPr>
            <a:r>
              <a:rPr lang="en-GB" sz="2000" dirty="0">
                <a:solidFill>
                  <a:schemeClr val="tx1"/>
                </a:solidFill>
              </a:rPr>
              <a:t>Low Calu-3 miRNA abundance</a:t>
            </a:r>
          </a:p>
        </p:txBody>
      </p:sp>
      <p:sp>
        <p:nvSpPr>
          <p:cNvPr id="51" name="Freeform 50">
            <a:extLst>
              <a:ext uri="{FF2B5EF4-FFF2-40B4-BE49-F238E27FC236}">
                <a16:creationId xmlns:a16="http://schemas.microsoft.com/office/drawing/2014/main" id="{D825FC62-C9E4-4D8B-FE00-E107B55DC091}"/>
              </a:ext>
            </a:extLst>
          </p:cNvPr>
          <p:cNvSpPr/>
          <p:nvPr/>
        </p:nvSpPr>
        <p:spPr>
          <a:xfrm>
            <a:off x="6721408" y="3703970"/>
            <a:ext cx="4373946" cy="1178718"/>
          </a:xfrm>
          <a:custGeom>
            <a:avLst/>
            <a:gdLst>
              <a:gd name="csX0" fmla="*/ 774553 w 4373946"/>
              <a:gd name="csY0" fmla="*/ 0 h 1178718"/>
              <a:gd name="csX1" fmla="*/ 4373946 w 4373946"/>
              <a:gd name="csY1" fmla="*/ 0 h 1178718"/>
              <a:gd name="csX2" fmla="*/ 4373946 w 4373946"/>
              <a:gd name="csY2" fmla="*/ 1178718 h 1178718"/>
              <a:gd name="csX3" fmla="*/ 0 w 4373946"/>
              <a:gd name="csY3" fmla="*/ 1178718 h 1178718"/>
              <a:gd name="csX4" fmla="*/ 0 w 4373946"/>
              <a:gd name="csY4" fmla="*/ 1067395 h 1178718"/>
              <a:gd name="csX5" fmla="*/ 774553 w 4373946"/>
              <a:gd name="csY5" fmla="*/ 1067395 h 1178718"/>
              <a:gd name="csX6" fmla="*/ 774553 w 4373946"/>
              <a:gd name="csY6" fmla="*/ 0 h 117871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73946" h="1178718">
                <a:moveTo>
                  <a:pt x="774553" y="0"/>
                </a:moveTo>
                <a:lnTo>
                  <a:pt x="4373946" y="0"/>
                </a:lnTo>
                <a:lnTo>
                  <a:pt x="4373946" y="1178718"/>
                </a:lnTo>
                <a:lnTo>
                  <a:pt x="0" y="1178718"/>
                </a:lnTo>
                <a:lnTo>
                  <a:pt x="0" y="1067395"/>
                </a:lnTo>
                <a:lnTo>
                  <a:pt x="774553" y="1067395"/>
                </a:lnTo>
                <a:lnTo>
                  <a:pt x="774553" y="0"/>
                </a:lnTo>
                <a:close/>
              </a:path>
            </a:pathLst>
          </a:custGeom>
          <a:noFill/>
          <a:ln>
            <a:solidFill>
              <a:schemeClr val="tx2"/>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wrap="square" lIns="3600" anchor="ctr">
            <a:noAutofit/>
          </a:bodyPr>
          <a:lstStyle/>
          <a:p>
            <a:pPr lvl="3"/>
            <a:r>
              <a:rPr lang="en-GB" sz="2000" dirty="0">
                <a:solidFill>
                  <a:schemeClr val="tx1"/>
                </a:solidFill>
              </a:rPr>
              <a:t>No network-based enrichment</a:t>
            </a:r>
          </a:p>
        </p:txBody>
      </p:sp>
      <p:sp>
        <p:nvSpPr>
          <p:cNvPr id="43" name="Freeform 42">
            <a:extLst>
              <a:ext uri="{FF2B5EF4-FFF2-40B4-BE49-F238E27FC236}">
                <a16:creationId xmlns:a16="http://schemas.microsoft.com/office/drawing/2014/main" id="{31F752C2-68C5-9DCF-AD99-8F78FED06B08}"/>
              </a:ext>
            </a:extLst>
          </p:cNvPr>
          <p:cNvSpPr/>
          <p:nvPr/>
        </p:nvSpPr>
        <p:spPr>
          <a:xfrm>
            <a:off x="1116322" y="3703970"/>
            <a:ext cx="4493831" cy="1178718"/>
          </a:xfrm>
          <a:custGeom>
            <a:avLst/>
            <a:gdLst>
              <a:gd name="csX0" fmla="*/ 865212 w 4373946"/>
              <a:gd name="csY0" fmla="*/ 0 h 1178718"/>
              <a:gd name="csX1" fmla="*/ 4373946 w 4373946"/>
              <a:gd name="csY1" fmla="*/ 0 h 1178718"/>
              <a:gd name="csX2" fmla="*/ 4373946 w 4373946"/>
              <a:gd name="csY2" fmla="*/ 1178718 h 1178718"/>
              <a:gd name="csX3" fmla="*/ 0 w 4373946"/>
              <a:gd name="csY3" fmla="*/ 1178718 h 1178718"/>
              <a:gd name="csX4" fmla="*/ 0 w 4373946"/>
              <a:gd name="csY4" fmla="*/ 1067395 h 1178718"/>
              <a:gd name="csX5" fmla="*/ 865212 w 4373946"/>
              <a:gd name="csY5" fmla="*/ 1067395 h 1178718"/>
              <a:gd name="csX6" fmla="*/ 865212 w 4373946"/>
              <a:gd name="csY6" fmla="*/ 0 h 117871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73946" h="1178718">
                <a:moveTo>
                  <a:pt x="865212" y="0"/>
                </a:moveTo>
                <a:lnTo>
                  <a:pt x="4373946" y="0"/>
                </a:lnTo>
                <a:lnTo>
                  <a:pt x="4373946" y="1178718"/>
                </a:lnTo>
                <a:lnTo>
                  <a:pt x="0" y="1178718"/>
                </a:lnTo>
                <a:lnTo>
                  <a:pt x="0" y="1067395"/>
                </a:lnTo>
                <a:lnTo>
                  <a:pt x="865212" y="1067395"/>
                </a:lnTo>
                <a:lnTo>
                  <a:pt x="865212" y="0"/>
                </a:lnTo>
                <a:close/>
              </a:path>
            </a:pathLst>
          </a:custGeom>
          <a:noFill/>
          <a:ln>
            <a:solidFill>
              <a:schemeClr val="tx2"/>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wrap="square" lIns="3600" anchor="ctr">
            <a:noAutofit/>
          </a:bodyPr>
          <a:lstStyle/>
          <a:p>
            <a:pPr lvl="3" defTabSz="2400300">
              <a:lnSpc>
                <a:spcPct val="90000"/>
              </a:lnSpc>
              <a:spcBef>
                <a:spcPct val="0"/>
              </a:spcBef>
              <a:spcAft>
                <a:spcPct val="35000"/>
              </a:spcAft>
            </a:pPr>
            <a:r>
              <a:rPr lang="en-GB" sz="2000" dirty="0">
                <a:solidFill>
                  <a:schemeClr val="tx1"/>
                </a:solidFill>
              </a:rPr>
              <a:t>  No context-specific </a:t>
            </a:r>
          </a:p>
          <a:p>
            <a:pPr lvl="3" defTabSz="2400300">
              <a:lnSpc>
                <a:spcPct val="90000"/>
              </a:lnSpc>
              <a:spcBef>
                <a:spcPct val="0"/>
              </a:spcBef>
              <a:spcAft>
                <a:spcPct val="35000"/>
              </a:spcAft>
            </a:pPr>
            <a:r>
              <a:rPr lang="en-GB" sz="2000" dirty="0">
                <a:solidFill>
                  <a:schemeClr val="tx1"/>
                </a:solidFill>
              </a:rPr>
              <a:t>  filtering</a:t>
            </a:r>
          </a:p>
        </p:txBody>
      </p:sp>
      <p:sp>
        <p:nvSpPr>
          <p:cNvPr id="55" name="Freeform 54">
            <a:extLst>
              <a:ext uri="{FF2B5EF4-FFF2-40B4-BE49-F238E27FC236}">
                <a16:creationId xmlns:a16="http://schemas.microsoft.com/office/drawing/2014/main" id="{F0A4BBD5-64A1-E241-9E4E-28319B93789F}"/>
              </a:ext>
            </a:extLst>
          </p:cNvPr>
          <p:cNvSpPr/>
          <p:nvPr/>
        </p:nvSpPr>
        <p:spPr>
          <a:xfrm>
            <a:off x="6623785" y="1818496"/>
            <a:ext cx="4373946" cy="1178718"/>
          </a:xfrm>
          <a:custGeom>
            <a:avLst/>
            <a:gdLst>
              <a:gd name="csX0" fmla="*/ 872176 w 4373946"/>
              <a:gd name="csY0" fmla="*/ 0 h 1178718"/>
              <a:gd name="csX1" fmla="*/ 4373946 w 4373946"/>
              <a:gd name="csY1" fmla="*/ 0 h 1178718"/>
              <a:gd name="csX2" fmla="*/ 4373946 w 4373946"/>
              <a:gd name="csY2" fmla="*/ 1178718 h 1178718"/>
              <a:gd name="csX3" fmla="*/ 0 w 4373946"/>
              <a:gd name="csY3" fmla="*/ 1178718 h 1178718"/>
              <a:gd name="csX4" fmla="*/ 0 w 4373946"/>
              <a:gd name="csY4" fmla="*/ 1067395 h 1178718"/>
              <a:gd name="csX5" fmla="*/ 872176 w 4373946"/>
              <a:gd name="csY5" fmla="*/ 1067395 h 1178718"/>
              <a:gd name="csX6" fmla="*/ 872176 w 4373946"/>
              <a:gd name="csY6" fmla="*/ 0 h 117871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73946" h="1178718">
                <a:moveTo>
                  <a:pt x="872176" y="0"/>
                </a:moveTo>
                <a:lnTo>
                  <a:pt x="4373946" y="0"/>
                </a:lnTo>
                <a:lnTo>
                  <a:pt x="4373946" y="1178718"/>
                </a:lnTo>
                <a:lnTo>
                  <a:pt x="0" y="1178718"/>
                </a:lnTo>
                <a:lnTo>
                  <a:pt x="0" y="1067395"/>
                </a:lnTo>
                <a:lnTo>
                  <a:pt x="872176" y="1067395"/>
                </a:lnTo>
                <a:lnTo>
                  <a:pt x="872176" y="0"/>
                </a:lnTo>
                <a:close/>
              </a:path>
            </a:pathLst>
          </a:custGeom>
          <a:noFill/>
          <a:ln>
            <a:solidFill>
              <a:schemeClr val="tx2"/>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wrap="square" lIns="3600" anchor="ctr">
            <a:noAutofit/>
          </a:bodyPr>
          <a:lstStyle/>
          <a:p>
            <a:pPr lvl="3" defTabSz="2400300">
              <a:lnSpc>
                <a:spcPct val="90000"/>
              </a:lnSpc>
              <a:spcBef>
                <a:spcPct val="0"/>
              </a:spcBef>
              <a:spcAft>
                <a:spcPct val="35000"/>
              </a:spcAft>
            </a:pPr>
            <a:r>
              <a:rPr lang="en-GB" sz="2000" dirty="0">
                <a:solidFill>
                  <a:schemeClr val="tx1"/>
                </a:solidFill>
              </a:rPr>
              <a:t> No outlier sample </a:t>
            </a:r>
          </a:p>
          <a:p>
            <a:pPr lvl="3" defTabSz="2400300">
              <a:lnSpc>
                <a:spcPct val="90000"/>
              </a:lnSpc>
              <a:spcBef>
                <a:spcPct val="0"/>
              </a:spcBef>
              <a:spcAft>
                <a:spcPct val="35000"/>
              </a:spcAft>
            </a:pPr>
            <a:r>
              <a:rPr lang="en-GB" sz="2000" dirty="0">
                <a:solidFill>
                  <a:schemeClr val="tx1"/>
                </a:solidFill>
              </a:rPr>
              <a:t> filtering</a:t>
            </a:r>
          </a:p>
        </p:txBody>
      </p:sp>
      <p:sp>
        <p:nvSpPr>
          <p:cNvPr id="62" name="Rectangle 61">
            <a:extLst>
              <a:ext uri="{FF2B5EF4-FFF2-40B4-BE49-F238E27FC236}">
                <a16:creationId xmlns:a16="http://schemas.microsoft.com/office/drawing/2014/main" id="{4BC5680C-EE5D-FDFB-24CB-046F0929EDD3}"/>
              </a:ext>
            </a:extLst>
          </p:cNvPr>
          <p:cNvSpPr/>
          <p:nvPr/>
        </p:nvSpPr>
        <p:spPr>
          <a:xfrm>
            <a:off x="876985" y="1651850"/>
            <a:ext cx="1133776" cy="1237654"/>
          </a:xfrm>
          <a:prstGeom prst="rect">
            <a:avLst/>
          </a:prstGeom>
          <a:solidFill>
            <a:schemeClr val="dk2">
              <a:tint val="50000"/>
              <a:hueOff val="0"/>
              <a:satOff val="0"/>
              <a:lumOff val="0"/>
              <a:alpha val="77000"/>
            </a:schemeClr>
          </a:solidFill>
          <a:ln>
            <a:solidFill>
              <a:srgbClr val="215F9A">
                <a:alpha val="60000"/>
              </a:srgbClr>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p>
        </p:txBody>
      </p:sp>
      <p:sp>
        <p:nvSpPr>
          <p:cNvPr id="58" name="Rectangle 57">
            <a:extLst>
              <a:ext uri="{FF2B5EF4-FFF2-40B4-BE49-F238E27FC236}">
                <a16:creationId xmlns:a16="http://schemas.microsoft.com/office/drawing/2014/main" id="{D11EA39B-0055-BD92-FC99-A0C51A0C7C64}"/>
              </a:ext>
            </a:extLst>
          </p:cNvPr>
          <p:cNvSpPr/>
          <p:nvPr/>
        </p:nvSpPr>
        <p:spPr>
          <a:xfrm>
            <a:off x="6362185" y="1648237"/>
            <a:ext cx="1133776" cy="1237654"/>
          </a:xfrm>
          <a:prstGeom prst="rect">
            <a:avLst/>
          </a:prstGeom>
          <a:solidFill>
            <a:schemeClr val="dk2">
              <a:tint val="50000"/>
              <a:hueOff val="0"/>
              <a:satOff val="0"/>
              <a:lumOff val="0"/>
              <a:alpha val="77000"/>
            </a:schemeClr>
          </a:solidFill>
          <a:ln>
            <a:solidFill>
              <a:srgbClr val="215F9A">
                <a:alpha val="60000"/>
              </a:srgbClr>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p>
        </p:txBody>
      </p:sp>
      <p:sp>
        <p:nvSpPr>
          <p:cNvPr id="54" name="Rectangle 53">
            <a:extLst>
              <a:ext uri="{FF2B5EF4-FFF2-40B4-BE49-F238E27FC236}">
                <a16:creationId xmlns:a16="http://schemas.microsoft.com/office/drawing/2014/main" id="{70D4C7C3-27F5-8767-BFA8-38435615F7D9}"/>
              </a:ext>
            </a:extLst>
          </p:cNvPr>
          <p:cNvSpPr/>
          <p:nvPr/>
        </p:nvSpPr>
        <p:spPr>
          <a:xfrm>
            <a:off x="6362185" y="3533711"/>
            <a:ext cx="1133776" cy="1237654"/>
          </a:xfrm>
          <a:prstGeom prst="rect">
            <a:avLst/>
          </a:prstGeom>
          <a:solidFill>
            <a:schemeClr val="dk2">
              <a:tint val="50000"/>
              <a:hueOff val="0"/>
              <a:satOff val="0"/>
              <a:lumOff val="0"/>
              <a:alpha val="77000"/>
            </a:schemeClr>
          </a:solidFill>
          <a:ln>
            <a:solidFill>
              <a:srgbClr val="215F9A">
                <a:alpha val="60000"/>
              </a:srgbClr>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dirty="0"/>
          </a:p>
        </p:txBody>
      </p:sp>
      <p:sp>
        <p:nvSpPr>
          <p:cNvPr id="2" name="TextBox 1">
            <a:extLst>
              <a:ext uri="{FF2B5EF4-FFF2-40B4-BE49-F238E27FC236}">
                <a16:creationId xmlns:a16="http://schemas.microsoft.com/office/drawing/2014/main" id="{B62C0337-51AF-A9DB-BF15-1AB604179A64}"/>
              </a:ext>
            </a:extLst>
          </p:cNvPr>
          <p:cNvSpPr txBox="1"/>
          <p:nvPr/>
        </p:nvSpPr>
        <p:spPr>
          <a:xfrm>
            <a:off x="304800" y="228600"/>
            <a:ext cx="3352800" cy="461665"/>
          </a:xfrm>
          <a:prstGeom prst="rect">
            <a:avLst/>
          </a:prstGeom>
          <a:noFill/>
        </p:spPr>
        <p:txBody>
          <a:bodyPr wrap="square" rtlCol="0">
            <a:spAutoFit/>
          </a:bodyPr>
          <a:lstStyle/>
          <a:p>
            <a:r>
              <a:rPr lang="en-GB" sz="2400" b="1" dirty="0"/>
              <a:t>Limitations</a:t>
            </a:r>
          </a:p>
        </p:txBody>
      </p:sp>
      <p:pic>
        <p:nvPicPr>
          <p:cNvPr id="33" name="Picture 32">
            <a:extLst>
              <a:ext uri="{FF2B5EF4-FFF2-40B4-BE49-F238E27FC236}">
                <a16:creationId xmlns:a16="http://schemas.microsoft.com/office/drawing/2014/main" id="{D767F8D2-FECB-2EB9-DB80-88A89E20A4F1}"/>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100000"/>
                    </a14:imgEffect>
                  </a14:imgLayer>
                </a14:imgProps>
              </a:ext>
            </a:extLst>
          </a:blip>
          <a:stretch/>
        </p:blipFill>
        <p:spPr>
          <a:xfrm>
            <a:off x="6445880" y="1799393"/>
            <a:ext cx="952457" cy="935339"/>
          </a:xfrm>
          <a:prstGeom prst="rect">
            <a:avLst/>
          </a:prstGeom>
        </p:spPr>
      </p:pic>
      <p:sp>
        <p:nvSpPr>
          <p:cNvPr id="46" name="Rectangle 45">
            <a:extLst>
              <a:ext uri="{FF2B5EF4-FFF2-40B4-BE49-F238E27FC236}">
                <a16:creationId xmlns:a16="http://schemas.microsoft.com/office/drawing/2014/main" id="{D50D367E-2042-21E9-6E39-2B138E565F0D}"/>
              </a:ext>
            </a:extLst>
          </p:cNvPr>
          <p:cNvSpPr/>
          <p:nvPr/>
        </p:nvSpPr>
        <p:spPr>
          <a:xfrm>
            <a:off x="876986" y="3533711"/>
            <a:ext cx="1133776" cy="1237654"/>
          </a:xfrm>
          <a:prstGeom prst="rect">
            <a:avLst/>
          </a:prstGeom>
          <a:solidFill>
            <a:schemeClr val="dk2">
              <a:tint val="50000"/>
              <a:hueOff val="0"/>
              <a:satOff val="0"/>
              <a:lumOff val="0"/>
              <a:alpha val="77000"/>
            </a:schemeClr>
          </a:solidFill>
          <a:ln>
            <a:solidFill>
              <a:srgbClr val="215F9A">
                <a:alpha val="60000"/>
              </a:srgbClr>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p>
        </p:txBody>
      </p:sp>
      <p:pic>
        <p:nvPicPr>
          <p:cNvPr id="64" name="Picture 63">
            <a:extLst>
              <a:ext uri="{FF2B5EF4-FFF2-40B4-BE49-F238E27FC236}">
                <a16:creationId xmlns:a16="http://schemas.microsoft.com/office/drawing/2014/main" id="{8806550B-FA0F-49CD-B13F-816EE6E39379}"/>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100000"/>
                    </a14:imgEffect>
                  </a14:imgLayer>
                </a14:imgProps>
              </a:ext>
            </a:extLst>
          </a:blip>
          <a:stretch/>
        </p:blipFill>
        <p:spPr>
          <a:xfrm>
            <a:off x="876985" y="1869828"/>
            <a:ext cx="430177" cy="570166"/>
          </a:xfrm>
          <a:prstGeom prst="rect">
            <a:avLst/>
          </a:prstGeom>
        </p:spPr>
      </p:pic>
      <p:pic>
        <p:nvPicPr>
          <p:cNvPr id="65" name="Picture 64">
            <a:extLst>
              <a:ext uri="{FF2B5EF4-FFF2-40B4-BE49-F238E27FC236}">
                <a16:creationId xmlns:a16="http://schemas.microsoft.com/office/drawing/2014/main" id="{B6696A67-3F44-E2BE-2F25-A4DC9358804C}"/>
              </a:ext>
            </a:extLst>
          </p:cNvPr>
          <p:cNvPicPr>
            <a:picLocks noChangeAspect="1"/>
          </p:cNvPicPr>
          <p:nvPr/>
        </p:nvPicPr>
        <p:blipFill>
          <a:blip r:embed="rId5">
            <a:extLst>
              <a:ext uri="{BEBA8EAE-BF5A-486C-A8C5-ECC9F3942E4B}">
                <a14:imgProps xmlns:a14="http://schemas.microsoft.com/office/drawing/2010/main">
                  <a14:imgLayer r:embed="rId7">
                    <a14:imgEffect>
                      <a14:sharpenSoften amount="100000"/>
                    </a14:imgEffect>
                  </a14:imgLayer>
                </a14:imgProps>
              </a:ext>
            </a:extLst>
          </a:blip>
          <a:stretch/>
        </p:blipFill>
        <p:spPr>
          <a:xfrm>
            <a:off x="1207817" y="1869828"/>
            <a:ext cx="430177" cy="570166"/>
          </a:xfrm>
          <a:prstGeom prst="rect">
            <a:avLst/>
          </a:prstGeom>
        </p:spPr>
      </p:pic>
      <p:pic>
        <p:nvPicPr>
          <p:cNvPr id="66" name="Picture 65">
            <a:extLst>
              <a:ext uri="{FF2B5EF4-FFF2-40B4-BE49-F238E27FC236}">
                <a16:creationId xmlns:a16="http://schemas.microsoft.com/office/drawing/2014/main" id="{A2807D5E-7788-AE98-AFB3-4B7B665D5DC9}"/>
              </a:ext>
            </a:extLst>
          </p:cNvPr>
          <p:cNvPicPr>
            <a:picLocks noChangeAspect="1"/>
          </p:cNvPicPr>
          <p:nvPr/>
        </p:nvPicPr>
        <p:blipFill>
          <a:blip r:embed="rId5">
            <a:extLst>
              <a:ext uri="{BEBA8EAE-BF5A-486C-A8C5-ECC9F3942E4B}">
                <a14:imgProps xmlns:a14="http://schemas.microsoft.com/office/drawing/2010/main">
                  <a14:imgLayer r:embed="rId8">
                    <a14:imgEffect>
                      <a14:sharpenSoften amount="100000"/>
                    </a14:imgEffect>
                  </a14:imgLayer>
                </a14:imgProps>
              </a:ext>
            </a:extLst>
          </a:blip>
          <a:stretch/>
        </p:blipFill>
        <p:spPr>
          <a:xfrm>
            <a:off x="1538648" y="1869828"/>
            <a:ext cx="430177" cy="570166"/>
          </a:xfrm>
          <a:prstGeom prst="rect">
            <a:avLst/>
          </a:prstGeom>
        </p:spPr>
      </p:pic>
      <p:pic>
        <p:nvPicPr>
          <p:cNvPr id="69" name="Picture 68">
            <a:extLst>
              <a:ext uri="{FF2B5EF4-FFF2-40B4-BE49-F238E27FC236}">
                <a16:creationId xmlns:a16="http://schemas.microsoft.com/office/drawing/2014/main" id="{72024E70-A5FF-1E97-D2D9-33399C54A24A}"/>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100000"/>
                    </a14:imgEffect>
                  </a14:imgLayer>
                </a14:imgProps>
              </a:ext>
            </a:extLst>
          </a:blip>
          <a:srcRect l="19213" t="71274" r="23376"/>
          <a:stretch>
            <a:fillRect/>
          </a:stretch>
        </p:blipFill>
        <p:spPr>
          <a:xfrm>
            <a:off x="835048" y="2439994"/>
            <a:ext cx="1133777" cy="379171"/>
          </a:xfrm>
          <a:prstGeom prst="rect">
            <a:avLst/>
          </a:prstGeom>
        </p:spPr>
      </p:pic>
      <p:pic>
        <p:nvPicPr>
          <p:cNvPr id="31" name="Picture 30">
            <a:extLst>
              <a:ext uri="{FF2B5EF4-FFF2-40B4-BE49-F238E27FC236}">
                <a16:creationId xmlns:a16="http://schemas.microsoft.com/office/drawing/2014/main" id="{58572A19-8B99-E9AA-4349-8BAE48A62283}"/>
              </a:ext>
            </a:extLst>
          </p:cNvPr>
          <p:cNvPicPr>
            <a:picLocks noChangeAspect="1"/>
          </p:cNvPicPr>
          <p:nvPr/>
        </p:nvPicPr>
        <p:blipFill>
          <a:blip r:embed="rId11">
            <a:extLst>
              <a:ext uri="{BEBA8EAE-BF5A-486C-A8C5-ECC9F3942E4B}">
                <a14:imgProps xmlns:a14="http://schemas.microsoft.com/office/drawing/2010/main">
                  <a14:imgLayer r:embed="rId12">
                    <a14:imgEffect>
                      <a14:sharpenSoften amount="100000"/>
                    </a14:imgEffect>
                  </a14:imgLayer>
                </a14:imgProps>
              </a:ext>
            </a:extLst>
          </a:blip>
          <a:stretch/>
        </p:blipFill>
        <p:spPr>
          <a:xfrm>
            <a:off x="1038516" y="3752217"/>
            <a:ext cx="810713" cy="760908"/>
          </a:xfrm>
          <a:prstGeom prst="rect">
            <a:avLst/>
          </a:prstGeom>
        </p:spPr>
      </p:pic>
      <p:pic>
        <p:nvPicPr>
          <p:cNvPr id="3" name="Picture 2">
            <a:extLst>
              <a:ext uri="{FF2B5EF4-FFF2-40B4-BE49-F238E27FC236}">
                <a16:creationId xmlns:a16="http://schemas.microsoft.com/office/drawing/2014/main" id="{58FC696C-B573-DE30-CB4F-BE11C6368FC6}"/>
              </a:ext>
            </a:extLst>
          </p:cNvPr>
          <p:cNvPicPr>
            <a:picLocks noChangeAspect="1"/>
          </p:cNvPicPr>
          <p:nvPr/>
        </p:nvPicPr>
        <p:blipFill>
          <a:blip r:embed="rId13">
            <a:extLst>
              <a:ext uri="{BEBA8EAE-BF5A-486C-A8C5-ECC9F3942E4B}">
                <a14:imgProps xmlns:a14="http://schemas.microsoft.com/office/drawing/2010/main">
                  <a14:imgLayer r:embed="rId14">
                    <a14:imgEffect>
                      <a14:sharpenSoften amount="100000"/>
                    </a14:imgEffect>
                  </a14:imgLayer>
                </a14:imgProps>
              </a:ext>
            </a:extLst>
          </a:blip>
          <a:stretch/>
        </p:blipFill>
        <p:spPr>
          <a:xfrm>
            <a:off x="6362185" y="3666826"/>
            <a:ext cx="1133776" cy="862750"/>
          </a:xfrm>
          <a:prstGeom prst="rect">
            <a:avLst/>
          </a:prstGeom>
        </p:spPr>
      </p:pic>
      <p:sp>
        <p:nvSpPr>
          <p:cNvPr id="10" name="Slide Number Placeholder 9">
            <a:extLst>
              <a:ext uri="{FF2B5EF4-FFF2-40B4-BE49-F238E27FC236}">
                <a16:creationId xmlns:a16="http://schemas.microsoft.com/office/drawing/2014/main" id="{2F573643-69D7-76AB-2835-6046A41AD453}"/>
              </a:ext>
            </a:extLst>
          </p:cNvPr>
          <p:cNvSpPr>
            <a:spLocks noGrp="1"/>
          </p:cNvSpPr>
          <p:nvPr>
            <p:ph type="sldNum" sz="quarter" idx="12"/>
          </p:nvPr>
        </p:nvSpPr>
        <p:spPr/>
        <p:txBody>
          <a:bodyPr/>
          <a:lstStyle/>
          <a:p>
            <a:fld id="{AAB2C436-2398-F34B-A706-69BC3409080B}" type="slidenum">
              <a:rPr lang="en-GB" smtClean="0"/>
              <a:t>12</a:t>
            </a:fld>
            <a:endParaRPr lang="en-GB"/>
          </a:p>
        </p:txBody>
      </p:sp>
      <p:sp>
        <p:nvSpPr>
          <p:cNvPr id="4" name="Rounded Rectangle 3">
            <a:extLst>
              <a:ext uri="{FF2B5EF4-FFF2-40B4-BE49-F238E27FC236}">
                <a16:creationId xmlns:a16="http://schemas.microsoft.com/office/drawing/2014/main" id="{71FCDC61-DA37-7358-81E3-5C8B8EEF44DF}"/>
              </a:ext>
            </a:extLst>
          </p:cNvPr>
          <p:cNvSpPr/>
          <p:nvPr/>
        </p:nvSpPr>
        <p:spPr>
          <a:xfrm>
            <a:off x="2085488" y="1868660"/>
            <a:ext cx="393552" cy="34622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1</a:t>
            </a:r>
          </a:p>
        </p:txBody>
      </p:sp>
      <p:sp>
        <p:nvSpPr>
          <p:cNvPr id="7" name="Rounded Rectangle 6">
            <a:extLst>
              <a:ext uri="{FF2B5EF4-FFF2-40B4-BE49-F238E27FC236}">
                <a16:creationId xmlns:a16="http://schemas.microsoft.com/office/drawing/2014/main" id="{F286F11C-0FD7-9EBA-013B-0DE792297E8D}"/>
              </a:ext>
            </a:extLst>
          </p:cNvPr>
          <p:cNvSpPr/>
          <p:nvPr/>
        </p:nvSpPr>
        <p:spPr>
          <a:xfrm>
            <a:off x="2085488" y="3752217"/>
            <a:ext cx="393552" cy="34622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3</a:t>
            </a:r>
          </a:p>
        </p:txBody>
      </p:sp>
      <p:sp>
        <p:nvSpPr>
          <p:cNvPr id="11" name="Rounded Rectangle 10">
            <a:extLst>
              <a:ext uri="{FF2B5EF4-FFF2-40B4-BE49-F238E27FC236}">
                <a16:creationId xmlns:a16="http://schemas.microsoft.com/office/drawing/2014/main" id="{7860B00C-0FC7-F507-E917-BD9766403CD8}"/>
              </a:ext>
            </a:extLst>
          </p:cNvPr>
          <p:cNvSpPr/>
          <p:nvPr/>
        </p:nvSpPr>
        <p:spPr>
          <a:xfrm>
            <a:off x="7576242" y="1868660"/>
            <a:ext cx="393552" cy="34622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2</a:t>
            </a:r>
          </a:p>
        </p:txBody>
      </p:sp>
      <p:sp>
        <p:nvSpPr>
          <p:cNvPr id="12" name="Rounded Rectangle 11">
            <a:extLst>
              <a:ext uri="{FF2B5EF4-FFF2-40B4-BE49-F238E27FC236}">
                <a16:creationId xmlns:a16="http://schemas.microsoft.com/office/drawing/2014/main" id="{63F64073-423C-C2A3-10C6-84AACDFCE6D9}"/>
              </a:ext>
            </a:extLst>
          </p:cNvPr>
          <p:cNvSpPr/>
          <p:nvPr/>
        </p:nvSpPr>
        <p:spPr>
          <a:xfrm>
            <a:off x="7576242" y="3752217"/>
            <a:ext cx="393552" cy="34622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4</a:t>
            </a:r>
          </a:p>
        </p:txBody>
      </p:sp>
      <p:sp>
        <p:nvSpPr>
          <p:cNvPr id="5" name="TextBox 4">
            <a:extLst>
              <a:ext uri="{FF2B5EF4-FFF2-40B4-BE49-F238E27FC236}">
                <a16:creationId xmlns:a16="http://schemas.microsoft.com/office/drawing/2014/main" id="{8847B535-5981-0FED-2D4C-8D598032C545}"/>
              </a:ext>
            </a:extLst>
          </p:cNvPr>
          <p:cNvSpPr txBox="1"/>
          <p:nvPr/>
        </p:nvSpPr>
        <p:spPr>
          <a:xfrm>
            <a:off x="141340" y="6383179"/>
            <a:ext cx="6907279" cy="246221"/>
          </a:xfrm>
          <a:prstGeom prst="rect">
            <a:avLst/>
          </a:prstGeom>
          <a:noFill/>
        </p:spPr>
        <p:txBody>
          <a:bodyPr wrap="square" rtlCol="0">
            <a:spAutoFit/>
          </a:bodyPr>
          <a:lstStyle/>
          <a:p>
            <a:r>
              <a:rPr lang="en-GB" sz="1000" dirty="0"/>
              <a:t>Figure created in </a:t>
            </a:r>
            <a:r>
              <a:rPr lang="en-GB" sz="1000" dirty="0" err="1"/>
              <a:t>BioRender</a:t>
            </a:r>
            <a:r>
              <a:rPr lang="en-GB" sz="1000" dirty="0"/>
              <a:t>: https://</a:t>
            </a:r>
            <a:r>
              <a:rPr lang="en-GB" sz="1000" dirty="0" err="1"/>
              <a:t>BioRender.com</a:t>
            </a:r>
            <a:r>
              <a:rPr lang="en-GB" sz="1000" dirty="0">
                <a:effectLst/>
              </a:rPr>
              <a:t> </a:t>
            </a:r>
            <a:endParaRPr lang="en-GB" sz="1000" dirty="0"/>
          </a:p>
        </p:txBody>
      </p:sp>
    </p:spTree>
    <p:extLst>
      <p:ext uri="{BB962C8B-B14F-4D97-AF65-F5344CB8AC3E}">
        <p14:creationId xmlns:p14="http://schemas.microsoft.com/office/powerpoint/2010/main" val="3540355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DB389-642D-EDE5-F95A-DF66B187D22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4590515-21AB-7481-23DC-9F7A44CA938E}"/>
              </a:ext>
            </a:extLst>
          </p:cNvPr>
          <p:cNvSpPr txBox="1"/>
          <p:nvPr/>
        </p:nvSpPr>
        <p:spPr>
          <a:xfrm>
            <a:off x="304799" y="228600"/>
            <a:ext cx="5507840" cy="461665"/>
          </a:xfrm>
          <a:prstGeom prst="rect">
            <a:avLst/>
          </a:prstGeom>
          <a:noFill/>
        </p:spPr>
        <p:txBody>
          <a:bodyPr wrap="square" rtlCol="0">
            <a:spAutoFit/>
          </a:bodyPr>
          <a:lstStyle/>
          <a:p>
            <a:r>
              <a:rPr lang="en-GB" sz="2400" b="1" dirty="0"/>
              <a:t>Experimental Design Optimisations</a:t>
            </a:r>
          </a:p>
        </p:txBody>
      </p:sp>
      <p:grpSp>
        <p:nvGrpSpPr>
          <p:cNvPr id="167" name="Group 166">
            <a:extLst>
              <a:ext uri="{FF2B5EF4-FFF2-40B4-BE49-F238E27FC236}">
                <a16:creationId xmlns:a16="http://schemas.microsoft.com/office/drawing/2014/main" id="{7930E269-D74F-AF76-B617-7CC74B9BEBA0}"/>
              </a:ext>
            </a:extLst>
          </p:cNvPr>
          <p:cNvGrpSpPr/>
          <p:nvPr/>
        </p:nvGrpSpPr>
        <p:grpSpPr>
          <a:xfrm>
            <a:off x="833274" y="1898185"/>
            <a:ext cx="3151327" cy="3123406"/>
            <a:chOff x="833274" y="1898185"/>
            <a:chExt cx="3151327" cy="3123406"/>
          </a:xfrm>
        </p:grpSpPr>
        <p:grpSp>
          <p:nvGrpSpPr>
            <p:cNvPr id="136" name="Group 135">
              <a:extLst>
                <a:ext uri="{FF2B5EF4-FFF2-40B4-BE49-F238E27FC236}">
                  <a16:creationId xmlns:a16="http://schemas.microsoft.com/office/drawing/2014/main" id="{E8806DFD-8FA2-9AB4-58A6-3066A93B0369}"/>
                </a:ext>
              </a:extLst>
            </p:cNvPr>
            <p:cNvGrpSpPr/>
            <p:nvPr/>
          </p:nvGrpSpPr>
          <p:grpSpPr>
            <a:xfrm>
              <a:off x="861195" y="1898185"/>
              <a:ext cx="3123406" cy="3123406"/>
              <a:chOff x="4676730" y="1797059"/>
              <a:chExt cx="3123406" cy="3123406"/>
            </a:xfrm>
          </p:grpSpPr>
          <p:sp>
            <p:nvSpPr>
              <p:cNvPr id="137" name="Freeform 136">
                <a:extLst>
                  <a:ext uri="{FF2B5EF4-FFF2-40B4-BE49-F238E27FC236}">
                    <a16:creationId xmlns:a16="http://schemas.microsoft.com/office/drawing/2014/main" id="{349EB149-2A86-896D-DDD8-6B75C40FEEE6}"/>
                  </a:ext>
                </a:extLst>
              </p:cNvPr>
              <p:cNvSpPr/>
              <p:nvPr/>
            </p:nvSpPr>
            <p:spPr>
              <a:xfrm>
                <a:off x="4676730" y="1797059"/>
                <a:ext cx="3123406" cy="3123406"/>
              </a:xfrm>
              <a:custGeom>
                <a:avLst/>
                <a:gdLst>
                  <a:gd name="csX0" fmla="*/ 0 w 3123406"/>
                  <a:gd name="csY0" fmla="*/ 1561703 h 3123406"/>
                  <a:gd name="csX1" fmla="*/ 1561703 w 3123406"/>
                  <a:gd name="csY1" fmla="*/ 0 h 3123406"/>
                  <a:gd name="csX2" fmla="*/ 3123406 w 3123406"/>
                  <a:gd name="csY2" fmla="*/ 1561703 h 3123406"/>
                  <a:gd name="csX3" fmla="*/ 1561703 w 3123406"/>
                  <a:gd name="csY3" fmla="*/ 3123406 h 3123406"/>
                  <a:gd name="csX4" fmla="*/ 0 w 3123406"/>
                  <a:gd name="csY4" fmla="*/ 1561703 h 3123406"/>
                </a:gdLst>
                <a:ahLst/>
                <a:cxnLst>
                  <a:cxn ang="0">
                    <a:pos x="csX0" y="csY0"/>
                  </a:cxn>
                  <a:cxn ang="0">
                    <a:pos x="csX1" y="csY1"/>
                  </a:cxn>
                  <a:cxn ang="0">
                    <a:pos x="csX2" y="csY2"/>
                  </a:cxn>
                  <a:cxn ang="0">
                    <a:pos x="csX3" y="csY3"/>
                  </a:cxn>
                  <a:cxn ang="0">
                    <a:pos x="csX4" y="csY4"/>
                  </a:cxn>
                </a:cxnLst>
                <a:rect l="l" t="t" r="r" b="b"/>
                <a:pathLst>
                  <a:path w="3123406" h="3123406">
                    <a:moveTo>
                      <a:pt x="0" y="1561703"/>
                    </a:moveTo>
                    <a:cubicBezTo>
                      <a:pt x="0" y="699198"/>
                      <a:pt x="699198" y="0"/>
                      <a:pt x="1561703" y="0"/>
                    </a:cubicBezTo>
                    <a:cubicBezTo>
                      <a:pt x="2424208" y="0"/>
                      <a:pt x="3123406" y="699198"/>
                      <a:pt x="3123406" y="1561703"/>
                    </a:cubicBezTo>
                    <a:cubicBezTo>
                      <a:pt x="3123406" y="2424208"/>
                      <a:pt x="2424208" y="3123406"/>
                      <a:pt x="1561703" y="3123406"/>
                    </a:cubicBezTo>
                    <a:cubicBezTo>
                      <a:pt x="699198" y="3123406"/>
                      <a:pt x="0" y="2424208"/>
                      <a:pt x="0" y="1561703"/>
                    </a:cubicBezTo>
                    <a:close/>
                  </a:path>
                </a:pathLst>
              </a:custGeom>
              <a:noFill/>
              <a:ln w="28575">
                <a:solidFill>
                  <a:schemeClr val="tx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629303" tIns="538692" rIns="629303" bIns="538692" numCol="1" spcCol="1270" anchor="ctr" anchorCtr="0">
                <a:noAutofit/>
              </a:bodyPr>
              <a:lstStyle/>
              <a:p>
                <a:pPr marL="0" lvl="0" indent="0" algn="ctr" defTabSz="2844800">
                  <a:lnSpc>
                    <a:spcPct val="90000"/>
                  </a:lnSpc>
                  <a:spcBef>
                    <a:spcPct val="0"/>
                  </a:spcBef>
                  <a:spcAft>
                    <a:spcPct val="35000"/>
                  </a:spcAft>
                  <a:buNone/>
                </a:pPr>
                <a:endParaRPr lang="en-GB" sz="6400" kern="1200" dirty="0"/>
              </a:p>
            </p:txBody>
          </p:sp>
          <p:sp>
            <p:nvSpPr>
              <p:cNvPr id="138" name="Freeform 137">
                <a:extLst>
                  <a:ext uri="{FF2B5EF4-FFF2-40B4-BE49-F238E27FC236}">
                    <a16:creationId xmlns:a16="http://schemas.microsoft.com/office/drawing/2014/main" id="{2C4F4F3F-85F0-A844-2252-6E3DD645EACE}"/>
                  </a:ext>
                </a:extLst>
              </p:cNvPr>
              <p:cNvSpPr/>
              <p:nvPr/>
            </p:nvSpPr>
            <p:spPr>
              <a:xfrm>
                <a:off x="4719022" y="3714584"/>
                <a:ext cx="3038822" cy="1205881"/>
              </a:xfrm>
              <a:custGeom>
                <a:avLst/>
                <a:gdLst>
                  <a:gd name="csX0" fmla="*/ 0 w 3038822"/>
                  <a:gd name="csY0" fmla="*/ 0 h 1205881"/>
                  <a:gd name="csX1" fmla="*/ 3038822 w 3038822"/>
                  <a:gd name="csY1" fmla="*/ 0 h 1205881"/>
                  <a:gd name="csX2" fmla="*/ 3010903 w 3038822"/>
                  <a:gd name="csY2" fmla="*/ 108581 h 1205881"/>
                  <a:gd name="csX3" fmla="*/ 1519411 w 3038822"/>
                  <a:gd name="csY3" fmla="*/ 1205881 h 1205881"/>
                  <a:gd name="csX4" fmla="*/ 27919 w 3038822"/>
                  <a:gd name="csY4" fmla="*/ 108581 h 1205881"/>
                </a:gdLst>
                <a:ahLst/>
                <a:cxnLst>
                  <a:cxn ang="0">
                    <a:pos x="csX0" y="csY0"/>
                  </a:cxn>
                  <a:cxn ang="0">
                    <a:pos x="csX1" y="csY1"/>
                  </a:cxn>
                  <a:cxn ang="0">
                    <a:pos x="csX2" y="csY2"/>
                  </a:cxn>
                  <a:cxn ang="0">
                    <a:pos x="csX3" y="csY3"/>
                  </a:cxn>
                  <a:cxn ang="0">
                    <a:pos x="csX4" y="csY4"/>
                  </a:cxn>
                </a:cxnLst>
                <a:rect l="l" t="t" r="r" b="b"/>
                <a:pathLst>
                  <a:path w="3038822" h="1205881">
                    <a:moveTo>
                      <a:pt x="0" y="0"/>
                    </a:moveTo>
                    <a:lnTo>
                      <a:pt x="3038822" y="0"/>
                    </a:lnTo>
                    <a:lnTo>
                      <a:pt x="3010903" y="108581"/>
                    </a:lnTo>
                    <a:cubicBezTo>
                      <a:pt x="2813174" y="744301"/>
                      <a:pt x="2220196" y="1205881"/>
                      <a:pt x="1519411" y="1205881"/>
                    </a:cubicBezTo>
                    <a:cubicBezTo>
                      <a:pt x="818626" y="1205881"/>
                      <a:pt x="225649" y="744301"/>
                      <a:pt x="27919" y="108581"/>
                    </a:cubicBezTo>
                    <a:close/>
                  </a:path>
                </a:pathLst>
              </a:cu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139" name="TextBox 138">
              <a:extLst>
                <a:ext uri="{FF2B5EF4-FFF2-40B4-BE49-F238E27FC236}">
                  <a16:creationId xmlns:a16="http://schemas.microsoft.com/office/drawing/2014/main" id="{5621EF58-E706-10BB-8FF9-DA584A940799}"/>
                </a:ext>
              </a:extLst>
            </p:cNvPr>
            <p:cNvSpPr txBox="1"/>
            <p:nvPr/>
          </p:nvSpPr>
          <p:spPr>
            <a:xfrm>
              <a:off x="1241835" y="3998088"/>
              <a:ext cx="2613068" cy="369332"/>
            </a:xfrm>
            <a:prstGeom prst="rect">
              <a:avLst/>
            </a:prstGeom>
            <a:noFill/>
          </p:spPr>
          <p:txBody>
            <a:bodyPr wrap="square" rtlCol="0">
              <a:spAutoFit/>
            </a:bodyPr>
            <a:lstStyle/>
            <a:p>
              <a:r>
                <a:rPr lang="en-GB" b="1" dirty="0"/>
                <a:t>Increase sample size</a:t>
              </a:r>
            </a:p>
          </p:txBody>
        </p:sp>
        <p:grpSp>
          <p:nvGrpSpPr>
            <p:cNvPr id="140" name="Group 139">
              <a:extLst>
                <a:ext uri="{FF2B5EF4-FFF2-40B4-BE49-F238E27FC236}">
                  <a16:creationId xmlns:a16="http://schemas.microsoft.com/office/drawing/2014/main" id="{70BBDEE2-470C-298C-9016-D7120B571086}"/>
                </a:ext>
              </a:extLst>
            </p:cNvPr>
            <p:cNvGrpSpPr/>
            <p:nvPr/>
          </p:nvGrpSpPr>
          <p:grpSpPr>
            <a:xfrm>
              <a:off x="1704991" y="2183791"/>
              <a:ext cx="1435814" cy="1398040"/>
              <a:chOff x="1754231" y="1813275"/>
              <a:chExt cx="1435814" cy="1398040"/>
            </a:xfrm>
          </p:grpSpPr>
          <p:pic>
            <p:nvPicPr>
              <p:cNvPr id="141" name="Picture 140">
                <a:extLst>
                  <a:ext uri="{FF2B5EF4-FFF2-40B4-BE49-F238E27FC236}">
                    <a16:creationId xmlns:a16="http://schemas.microsoft.com/office/drawing/2014/main" id="{2E32CF04-DAE3-5890-1605-730822775090}"/>
                  </a:ext>
                </a:extLst>
              </p:cNvPr>
              <p:cNvPicPr>
                <a:picLocks noChangeAspect="1"/>
              </p:cNvPicPr>
              <p:nvPr/>
            </p:nvPicPr>
            <p:blipFill>
              <a:blip r:embed="rId3"/>
              <a:stretch>
                <a:fillRect/>
              </a:stretch>
            </p:blipFill>
            <p:spPr>
              <a:xfrm>
                <a:off x="1754231" y="1813275"/>
                <a:ext cx="350265" cy="1398040"/>
              </a:xfrm>
              <a:prstGeom prst="rect">
                <a:avLst/>
              </a:prstGeom>
            </p:spPr>
          </p:pic>
          <p:pic>
            <p:nvPicPr>
              <p:cNvPr id="142" name="Graphic 141" descr="Group of people with solid fill">
                <a:extLst>
                  <a:ext uri="{FF2B5EF4-FFF2-40B4-BE49-F238E27FC236}">
                    <a16:creationId xmlns:a16="http://schemas.microsoft.com/office/drawing/2014/main" id="{3E437AF1-C3D2-55E5-511E-DD01B80495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77074" y="2096018"/>
                <a:ext cx="1112971" cy="1112971"/>
              </a:xfrm>
              <a:prstGeom prst="rect">
                <a:avLst/>
              </a:prstGeom>
            </p:spPr>
          </p:pic>
        </p:grpSp>
        <p:sp>
          <p:nvSpPr>
            <p:cNvPr id="162" name="Rounded Rectangle 161">
              <a:extLst>
                <a:ext uri="{FF2B5EF4-FFF2-40B4-BE49-F238E27FC236}">
                  <a16:creationId xmlns:a16="http://schemas.microsoft.com/office/drawing/2014/main" id="{D47CEC2D-BBF7-7D2F-356B-2405892585F2}"/>
                </a:ext>
              </a:extLst>
            </p:cNvPr>
            <p:cNvSpPr/>
            <p:nvPr/>
          </p:nvSpPr>
          <p:spPr>
            <a:xfrm>
              <a:off x="833274" y="1898185"/>
              <a:ext cx="408561" cy="40856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grpSp>
      <p:grpSp>
        <p:nvGrpSpPr>
          <p:cNvPr id="168" name="Group 167">
            <a:extLst>
              <a:ext uri="{FF2B5EF4-FFF2-40B4-BE49-F238E27FC236}">
                <a16:creationId xmlns:a16="http://schemas.microsoft.com/office/drawing/2014/main" id="{355132A2-195B-AB50-B6D5-BDCF8B95F402}"/>
              </a:ext>
            </a:extLst>
          </p:cNvPr>
          <p:cNvGrpSpPr/>
          <p:nvPr/>
        </p:nvGrpSpPr>
        <p:grpSpPr>
          <a:xfrm>
            <a:off x="4293908" y="1898185"/>
            <a:ext cx="3123406" cy="3123406"/>
            <a:chOff x="4293908" y="1898185"/>
            <a:chExt cx="3123406" cy="3123406"/>
          </a:xfrm>
        </p:grpSpPr>
        <p:grpSp>
          <p:nvGrpSpPr>
            <p:cNvPr id="143" name="Group 142">
              <a:extLst>
                <a:ext uri="{FF2B5EF4-FFF2-40B4-BE49-F238E27FC236}">
                  <a16:creationId xmlns:a16="http://schemas.microsoft.com/office/drawing/2014/main" id="{2F99D102-B347-C0D4-54CA-1A2D1124D50C}"/>
                </a:ext>
              </a:extLst>
            </p:cNvPr>
            <p:cNvGrpSpPr/>
            <p:nvPr/>
          </p:nvGrpSpPr>
          <p:grpSpPr>
            <a:xfrm>
              <a:off x="4293908" y="1898185"/>
              <a:ext cx="3123406" cy="3123406"/>
              <a:chOff x="4676730" y="1797059"/>
              <a:chExt cx="3123406" cy="3123406"/>
            </a:xfrm>
          </p:grpSpPr>
          <p:sp>
            <p:nvSpPr>
              <p:cNvPr id="144" name="Freeform 143">
                <a:extLst>
                  <a:ext uri="{FF2B5EF4-FFF2-40B4-BE49-F238E27FC236}">
                    <a16:creationId xmlns:a16="http://schemas.microsoft.com/office/drawing/2014/main" id="{5EB69914-1325-FE67-89D1-61E739A9164D}"/>
                  </a:ext>
                </a:extLst>
              </p:cNvPr>
              <p:cNvSpPr/>
              <p:nvPr/>
            </p:nvSpPr>
            <p:spPr>
              <a:xfrm>
                <a:off x="4676730" y="1797059"/>
                <a:ext cx="3123406" cy="3123406"/>
              </a:xfrm>
              <a:custGeom>
                <a:avLst/>
                <a:gdLst>
                  <a:gd name="csX0" fmla="*/ 0 w 3123406"/>
                  <a:gd name="csY0" fmla="*/ 1561703 h 3123406"/>
                  <a:gd name="csX1" fmla="*/ 1561703 w 3123406"/>
                  <a:gd name="csY1" fmla="*/ 0 h 3123406"/>
                  <a:gd name="csX2" fmla="*/ 3123406 w 3123406"/>
                  <a:gd name="csY2" fmla="*/ 1561703 h 3123406"/>
                  <a:gd name="csX3" fmla="*/ 1561703 w 3123406"/>
                  <a:gd name="csY3" fmla="*/ 3123406 h 3123406"/>
                  <a:gd name="csX4" fmla="*/ 0 w 3123406"/>
                  <a:gd name="csY4" fmla="*/ 1561703 h 3123406"/>
                </a:gdLst>
                <a:ahLst/>
                <a:cxnLst>
                  <a:cxn ang="0">
                    <a:pos x="csX0" y="csY0"/>
                  </a:cxn>
                  <a:cxn ang="0">
                    <a:pos x="csX1" y="csY1"/>
                  </a:cxn>
                  <a:cxn ang="0">
                    <a:pos x="csX2" y="csY2"/>
                  </a:cxn>
                  <a:cxn ang="0">
                    <a:pos x="csX3" y="csY3"/>
                  </a:cxn>
                  <a:cxn ang="0">
                    <a:pos x="csX4" y="csY4"/>
                  </a:cxn>
                </a:cxnLst>
                <a:rect l="l" t="t" r="r" b="b"/>
                <a:pathLst>
                  <a:path w="3123406" h="3123406">
                    <a:moveTo>
                      <a:pt x="0" y="1561703"/>
                    </a:moveTo>
                    <a:cubicBezTo>
                      <a:pt x="0" y="699198"/>
                      <a:pt x="699198" y="0"/>
                      <a:pt x="1561703" y="0"/>
                    </a:cubicBezTo>
                    <a:cubicBezTo>
                      <a:pt x="2424208" y="0"/>
                      <a:pt x="3123406" y="699198"/>
                      <a:pt x="3123406" y="1561703"/>
                    </a:cubicBezTo>
                    <a:cubicBezTo>
                      <a:pt x="3123406" y="2424208"/>
                      <a:pt x="2424208" y="3123406"/>
                      <a:pt x="1561703" y="3123406"/>
                    </a:cubicBezTo>
                    <a:cubicBezTo>
                      <a:pt x="699198" y="3123406"/>
                      <a:pt x="0" y="2424208"/>
                      <a:pt x="0" y="1561703"/>
                    </a:cubicBezTo>
                    <a:close/>
                  </a:path>
                </a:pathLst>
              </a:custGeom>
              <a:noFill/>
              <a:ln w="28575">
                <a:solidFill>
                  <a:schemeClr val="tx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629303" tIns="538692" rIns="629303" bIns="538692" numCol="1" spcCol="1270" anchor="ctr" anchorCtr="0">
                <a:noAutofit/>
              </a:bodyPr>
              <a:lstStyle/>
              <a:p>
                <a:pPr marL="0" lvl="0" indent="0" algn="ctr" defTabSz="2844800">
                  <a:lnSpc>
                    <a:spcPct val="90000"/>
                  </a:lnSpc>
                  <a:spcBef>
                    <a:spcPct val="0"/>
                  </a:spcBef>
                  <a:spcAft>
                    <a:spcPct val="35000"/>
                  </a:spcAft>
                  <a:buNone/>
                </a:pPr>
                <a:endParaRPr lang="en-GB" sz="6400" kern="1200" dirty="0"/>
              </a:p>
            </p:txBody>
          </p:sp>
          <p:sp>
            <p:nvSpPr>
              <p:cNvPr id="145" name="Freeform 144">
                <a:extLst>
                  <a:ext uri="{FF2B5EF4-FFF2-40B4-BE49-F238E27FC236}">
                    <a16:creationId xmlns:a16="http://schemas.microsoft.com/office/drawing/2014/main" id="{A0987705-1C0D-3940-7EB8-1BA6EA211DE1}"/>
                  </a:ext>
                </a:extLst>
              </p:cNvPr>
              <p:cNvSpPr/>
              <p:nvPr/>
            </p:nvSpPr>
            <p:spPr>
              <a:xfrm>
                <a:off x="4719022" y="3714584"/>
                <a:ext cx="3038822" cy="1205881"/>
              </a:xfrm>
              <a:custGeom>
                <a:avLst/>
                <a:gdLst>
                  <a:gd name="csX0" fmla="*/ 0 w 3038822"/>
                  <a:gd name="csY0" fmla="*/ 0 h 1205881"/>
                  <a:gd name="csX1" fmla="*/ 3038822 w 3038822"/>
                  <a:gd name="csY1" fmla="*/ 0 h 1205881"/>
                  <a:gd name="csX2" fmla="*/ 3010903 w 3038822"/>
                  <a:gd name="csY2" fmla="*/ 108581 h 1205881"/>
                  <a:gd name="csX3" fmla="*/ 1519411 w 3038822"/>
                  <a:gd name="csY3" fmla="*/ 1205881 h 1205881"/>
                  <a:gd name="csX4" fmla="*/ 27919 w 3038822"/>
                  <a:gd name="csY4" fmla="*/ 108581 h 1205881"/>
                </a:gdLst>
                <a:ahLst/>
                <a:cxnLst>
                  <a:cxn ang="0">
                    <a:pos x="csX0" y="csY0"/>
                  </a:cxn>
                  <a:cxn ang="0">
                    <a:pos x="csX1" y="csY1"/>
                  </a:cxn>
                  <a:cxn ang="0">
                    <a:pos x="csX2" y="csY2"/>
                  </a:cxn>
                  <a:cxn ang="0">
                    <a:pos x="csX3" y="csY3"/>
                  </a:cxn>
                  <a:cxn ang="0">
                    <a:pos x="csX4" y="csY4"/>
                  </a:cxn>
                </a:cxnLst>
                <a:rect l="l" t="t" r="r" b="b"/>
                <a:pathLst>
                  <a:path w="3038822" h="1205881">
                    <a:moveTo>
                      <a:pt x="0" y="0"/>
                    </a:moveTo>
                    <a:lnTo>
                      <a:pt x="3038822" y="0"/>
                    </a:lnTo>
                    <a:lnTo>
                      <a:pt x="3010903" y="108581"/>
                    </a:lnTo>
                    <a:cubicBezTo>
                      <a:pt x="2813174" y="744301"/>
                      <a:pt x="2220196" y="1205881"/>
                      <a:pt x="1519411" y="1205881"/>
                    </a:cubicBezTo>
                    <a:cubicBezTo>
                      <a:pt x="818626" y="1205881"/>
                      <a:pt x="225649" y="744301"/>
                      <a:pt x="27919" y="108581"/>
                    </a:cubicBezTo>
                    <a:close/>
                  </a:path>
                </a:pathLst>
              </a:cu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146" name="TextBox 145">
              <a:extLst>
                <a:ext uri="{FF2B5EF4-FFF2-40B4-BE49-F238E27FC236}">
                  <a16:creationId xmlns:a16="http://schemas.microsoft.com/office/drawing/2014/main" id="{0B17AF89-ED80-71C6-38FE-5AB7BEDD79A6}"/>
                </a:ext>
              </a:extLst>
            </p:cNvPr>
            <p:cNvSpPr txBox="1"/>
            <p:nvPr/>
          </p:nvSpPr>
          <p:spPr>
            <a:xfrm>
              <a:off x="4783100" y="3998088"/>
              <a:ext cx="2613068" cy="369332"/>
            </a:xfrm>
            <a:prstGeom prst="rect">
              <a:avLst/>
            </a:prstGeom>
            <a:noFill/>
          </p:spPr>
          <p:txBody>
            <a:bodyPr wrap="square" rtlCol="0">
              <a:spAutoFit/>
            </a:bodyPr>
            <a:lstStyle/>
            <a:p>
              <a:r>
                <a:rPr lang="en-GB" b="1" dirty="0"/>
                <a:t>Increase EV quantity</a:t>
              </a:r>
            </a:p>
          </p:txBody>
        </p:sp>
        <p:grpSp>
          <p:nvGrpSpPr>
            <p:cNvPr id="151" name="Group 150">
              <a:extLst>
                <a:ext uri="{FF2B5EF4-FFF2-40B4-BE49-F238E27FC236}">
                  <a16:creationId xmlns:a16="http://schemas.microsoft.com/office/drawing/2014/main" id="{6ADE3043-4F6C-F3F4-EE5F-EC07CCFC0B4C}"/>
                </a:ext>
              </a:extLst>
            </p:cNvPr>
            <p:cNvGrpSpPr/>
            <p:nvPr/>
          </p:nvGrpSpPr>
          <p:grpSpPr>
            <a:xfrm>
              <a:off x="5096742" y="2219792"/>
              <a:ext cx="1554097" cy="1398040"/>
              <a:chOff x="5136798" y="2168752"/>
              <a:chExt cx="1554097" cy="1398040"/>
            </a:xfrm>
          </p:grpSpPr>
          <p:pic>
            <p:nvPicPr>
              <p:cNvPr id="156" name="Picture 155">
                <a:extLst>
                  <a:ext uri="{FF2B5EF4-FFF2-40B4-BE49-F238E27FC236}">
                    <a16:creationId xmlns:a16="http://schemas.microsoft.com/office/drawing/2014/main" id="{9227F557-4C3E-8634-2C21-8935F7A19331}"/>
                  </a:ext>
                </a:extLst>
              </p:cNvPr>
              <p:cNvPicPr>
                <a:picLocks noChangeAspect="1"/>
              </p:cNvPicPr>
              <p:nvPr/>
            </p:nvPicPr>
            <p:blipFill>
              <a:blip r:embed="rId5"/>
              <a:stretch>
                <a:fillRect/>
              </a:stretch>
            </p:blipFill>
            <p:spPr>
              <a:xfrm>
                <a:off x="6033169" y="3075364"/>
                <a:ext cx="352926" cy="334696"/>
              </a:xfrm>
              <a:prstGeom prst="rect">
                <a:avLst/>
              </a:prstGeom>
            </p:spPr>
          </p:pic>
          <p:pic>
            <p:nvPicPr>
              <p:cNvPr id="152" name="Picture 151">
                <a:extLst>
                  <a:ext uri="{FF2B5EF4-FFF2-40B4-BE49-F238E27FC236}">
                    <a16:creationId xmlns:a16="http://schemas.microsoft.com/office/drawing/2014/main" id="{AD3C2110-0FC9-6E77-467B-CCD1A3B690F4}"/>
                  </a:ext>
                </a:extLst>
              </p:cNvPr>
              <p:cNvPicPr>
                <a:picLocks noChangeAspect="1"/>
              </p:cNvPicPr>
              <p:nvPr/>
            </p:nvPicPr>
            <p:blipFill>
              <a:blip r:embed="rId3"/>
              <a:stretch>
                <a:fillRect/>
              </a:stretch>
            </p:blipFill>
            <p:spPr>
              <a:xfrm>
                <a:off x="5136798" y="2168752"/>
                <a:ext cx="350265" cy="1398040"/>
              </a:xfrm>
              <a:prstGeom prst="rect">
                <a:avLst/>
              </a:prstGeom>
            </p:spPr>
          </p:pic>
          <p:pic>
            <p:nvPicPr>
              <p:cNvPr id="153" name="Picture 152">
                <a:extLst>
                  <a:ext uri="{FF2B5EF4-FFF2-40B4-BE49-F238E27FC236}">
                    <a16:creationId xmlns:a16="http://schemas.microsoft.com/office/drawing/2014/main" id="{6EBA107E-98DD-639C-1687-163C126EE6A0}"/>
                  </a:ext>
                </a:extLst>
              </p:cNvPr>
              <p:cNvPicPr>
                <a:picLocks noChangeAspect="1"/>
              </p:cNvPicPr>
              <p:nvPr/>
            </p:nvPicPr>
            <p:blipFill>
              <a:blip r:embed="rId5"/>
              <a:stretch>
                <a:fillRect/>
              </a:stretch>
            </p:blipFill>
            <p:spPr>
              <a:xfrm>
                <a:off x="5507798" y="2457084"/>
                <a:ext cx="352926" cy="334696"/>
              </a:xfrm>
              <a:prstGeom prst="rect">
                <a:avLst/>
              </a:prstGeom>
            </p:spPr>
          </p:pic>
          <p:pic>
            <p:nvPicPr>
              <p:cNvPr id="154" name="Picture 153">
                <a:extLst>
                  <a:ext uri="{FF2B5EF4-FFF2-40B4-BE49-F238E27FC236}">
                    <a16:creationId xmlns:a16="http://schemas.microsoft.com/office/drawing/2014/main" id="{0B484996-15E8-446D-90CF-5EE293B4208A}"/>
                  </a:ext>
                </a:extLst>
              </p:cNvPr>
              <p:cNvPicPr>
                <a:picLocks noChangeAspect="1"/>
              </p:cNvPicPr>
              <p:nvPr/>
            </p:nvPicPr>
            <p:blipFill>
              <a:blip r:embed="rId5"/>
              <a:stretch>
                <a:fillRect/>
              </a:stretch>
            </p:blipFill>
            <p:spPr>
              <a:xfrm>
                <a:off x="5704305" y="3173851"/>
                <a:ext cx="352926" cy="334696"/>
              </a:xfrm>
              <a:prstGeom prst="rect">
                <a:avLst/>
              </a:prstGeom>
            </p:spPr>
          </p:pic>
          <p:pic>
            <p:nvPicPr>
              <p:cNvPr id="155" name="Picture 154">
                <a:extLst>
                  <a:ext uri="{FF2B5EF4-FFF2-40B4-BE49-F238E27FC236}">
                    <a16:creationId xmlns:a16="http://schemas.microsoft.com/office/drawing/2014/main" id="{EE5276C8-3618-177B-85D1-1575378DD4DB}"/>
                  </a:ext>
                </a:extLst>
              </p:cNvPr>
              <p:cNvPicPr>
                <a:picLocks noChangeAspect="1"/>
              </p:cNvPicPr>
              <p:nvPr/>
            </p:nvPicPr>
            <p:blipFill>
              <a:blip r:embed="rId5"/>
              <a:stretch>
                <a:fillRect/>
              </a:stretch>
            </p:blipFill>
            <p:spPr>
              <a:xfrm>
                <a:off x="5852695" y="2751789"/>
                <a:ext cx="352926" cy="334696"/>
              </a:xfrm>
              <a:prstGeom prst="rect">
                <a:avLst/>
              </a:prstGeom>
            </p:spPr>
          </p:pic>
          <p:pic>
            <p:nvPicPr>
              <p:cNvPr id="157" name="Picture 156">
                <a:extLst>
                  <a:ext uri="{FF2B5EF4-FFF2-40B4-BE49-F238E27FC236}">
                    <a16:creationId xmlns:a16="http://schemas.microsoft.com/office/drawing/2014/main" id="{E1269030-A996-14A0-A1C5-D39C770CA1CF}"/>
                  </a:ext>
                </a:extLst>
              </p:cNvPr>
              <p:cNvPicPr>
                <a:picLocks noChangeAspect="1"/>
              </p:cNvPicPr>
              <p:nvPr/>
            </p:nvPicPr>
            <p:blipFill>
              <a:blip r:embed="rId5"/>
              <a:stretch>
                <a:fillRect/>
              </a:stretch>
            </p:blipFill>
            <p:spPr>
              <a:xfrm>
                <a:off x="5830641" y="2333419"/>
                <a:ext cx="352926" cy="334696"/>
              </a:xfrm>
              <a:prstGeom prst="rect">
                <a:avLst/>
              </a:prstGeom>
            </p:spPr>
          </p:pic>
          <p:pic>
            <p:nvPicPr>
              <p:cNvPr id="158" name="Picture 157">
                <a:extLst>
                  <a:ext uri="{FF2B5EF4-FFF2-40B4-BE49-F238E27FC236}">
                    <a16:creationId xmlns:a16="http://schemas.microsoft.com/office/drawing/2014/main" id="{FFF71463-632F-62AD-30C9-140FA0AEF035}"/>
                  </a:ext>
                </a:extLst>
              </p:cNvPr>
              <p:cNvPicPr>
                <a:picLocks noChangeAspect="1"/>
              </p:cNvPicPr>
              <p:nvPr/>
            </p:nvPicPr>
            <p:blipFill>
              <a:blip r:embed="rId5"/>
              <a:stretch>
                <a:fillRect/>
              </a:stretch>
            </p:blipFill>
            <p:spPr>
              <a:xfrm>
                <a:off x="6161506" y="2497075"/>
                <a:ext cx="352926" cy="334696"/>
              </a:xfrm>
              <a:prstGeom prst="rect">
                <a:avLst/>
              </a:prstGeom>
            </p:spPr>
          </p:pic>
          <p:pic>
            <p:nvPicPr>
              <p:cNvPr id="159" name="Picture 158">
                <a:extLst>
                  <a:ext uri="{FF2B5EF4-FFF2-40B4-BE49-F238E27FC236}">
                    <a16:creationId xmlns:a16="http://schemas.microsoft.com/office/drawing/2014/main" id="{780E7EFD-DBF8-77BD-3292-05F5A5E90CFB}"/>
                  </a:ext>
                </a:extLst>
              </p:cNvPr>
              <p:cNvPicPr>
                <a:picLocks noChangeAspect="1"/>
              </p:cNvPicPr>
              <p:nvPr/>
            </p:nvPicPr>
            <p:blipFill>
              <a:blip r:embed="rId5"/>
              <a:stretch>
                <a:fillRect/>
              </a:stretch>
            </p:blipFill>
            <p:spPr>
              <a:xfrm>
                <a:off x="6337969" y="2831771"/>
                <a:ext cx="352926" cy="334696"/>
              </a:xfrm>
              <a:prstGeom prst="rect">
                <a:avLst/>
              </a:prstGeom>
            </p:spPr>
          </p:pic>
          <p:pic>
            <p:nvPicPr>
              <p:cNvPr id="160" name="Picture 159">
                <a:extLst>
                  <a:ext uri="{FF2B5EF4-FFF2-40B4-BE49-F238E27FC236}">
                    <a16:creationId xmlns:a16="http://schemas.microsoft.com/office/drawing/2014/main" id="{84F8E324-73DC-53B4-C726-4DC5A3AB5980}"/>
                  </a:ext>
                </a:extLst>
              </p:cNvPr>
              <p:cNvPicPr>
                <a:picLocks noChangeAspect="1"/>
              </p:cNvPicPr>
              <p:nvPr/>
            </p:nvPicPr>
            <p:blipFill>
              <a:blip r:embed="rId5"/>
              <a:stretch>
                <a:fillRect/>
              </a:stretch>
            </p:blipFill>
            <p:spPr>
              <a:xfrm>
                <a:off x="5449648" y="2815467"/>
                <a:ext cx="352926" cy="334696"/>
              </a:xfrm>
              <a:prstGeom prst="rect">
                <a:avLst/>
              </a:prstGeom>
            </p:spPr>
          </p:pic>
        </p:grpSp>
        <p:sp>
          <p:nvSpPr>
            <p:cNvPr id="163" name="Rounded Rectangle 162">
              <a:extLst>
                <a:ext uri="{FF2B5EF4-FFF2-40B4-BE49-F238E27FC236}">
                  <a16:creationId xmlns:a16="http://schemas.microsoft.com/office/drawing/2014/main" id="{C8E5FB25-C034-41B5-6B53-0D650DC0097C}"/>
                </a:ext>
              </a:extLst>
            </p:cNvPr>
            <p:cNvSpPr/>
            <p:nvPr/>
          </p:nvSpPr>
          <p:spPr>
            <a:xfrm>
              <a:off x="4336432" y="1898185"/>
              <a:ext cx="408561" cy="40856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grpSp>
      <p:grpSp>
        <p:nvGrpSpPr>
          <p:cNvPr id="169" name="Group 168">
            <a:extLst>
              <a:ext uri="{FF2B5EF4-FFF2-40B4-BE49-F238E27FC236}">
                <a16:creationId xmlns:a16="http://schemas.microsoft.com/office/drawing/2014/main" id="{7B301E62-ADC7-7F21-0A00-2C76AF077286}"/>
              </a:ext>
            </a:extLst>
          </p:cNvPr>
          <p:cNvGrpSpPr/>
          <p:nvPr/>
        </p:nvGrpSpPr>
        <p:grpSpPr>
          <a:xfrm>
            <a:off x="7699537" y="1894177"/>
            <a:ext cx="3144552" cy="3130041"/>
            <a:chOff x="7699537" y="1894177"/>
            <a:chExt cx="3144552" cy="3130041"/>
          </a:xfrm>
        </p:grpSpPr>
        <p:grpSp>
          <p:nvGrpSpPr>
            <p:cNvPr id="147" name="Group 146">
              <a:extLst>
                <a:ext uri="{FF2B5EF4-FFF2-40B4-BE49-F238E27FC236}">
                  <a16:creationId xmlns:a16="http://schemas.microsoft.com/office/drawing/2014/main" id="{CF9C7ACE-F734-21FE-6B23-AE68A1EFA857}"/>
                </a:ext>
              </a:extLst>
            </p:cNvPr>
            <p:cNvGrpSpPr/>
            <p:nvPr/>
          </p:nvGrpSpPr>
          <p:grpSpPr>
            <a:xfrm>
              <a:off x="7699537" y="1900812"/>
              <a:ext cx="3123406" cy="3123406"/>
              <a:chOff x="4676730" y="1797059"/>
              <a:chExt cx="3123406" cy="3123406"/>
            </a:xfrm>
          </p:grpSpPr>
          <p:sp>
            <p:nvSpPr>
              <p:cNvPr id="148" name="Freeform 147">
                <a:extLst>
                  <a:ext uri="{FF2B5EF4-FFF2-40B4-BE49-F238E27FC236}">
                    <a16:creationId xmlns:a16="http://schemas.microsoft.com/office/drawing/2014/main" id="{5661AE0F-EED8-6F5C-33D8-2C0252ED149B}"/>
                  </a:ext>
                </a:extLst>
              </p:cNvPr>
              <p:cNvSpPr/>
              <p:nvPr/>
            </p:nvSpPr>
            <p:spPr>
              <a:xfrm>
                <a:off x="4676730" y="1797059"/>
                <a:ext cx="3123406" cy="3123406"/>
              </a:xfrm>
              <a:custGeom>
                <a:avLst/>
                <a:gdLst>
                  <a:gd name="csX0" fmla="*/ 0 w 3123406"/>
                  <a:gd name="csY0" fmla="*/ 1561703 h 3123406"/>
                  <a:gd name="csX1" fmla="*/ 1561703 w 3123406"/>
                  <a:gd name="csY1" fmla="*/ 0 h 3123406"/>
                  <a:gd name="csX2" fmla="*/ 3123406 w 3123406"/>
                  <a:gd name="csY2" fmla="*/ 1561703 h 3123406"/>
                  <a:gd name="csX3" fmla="*/ 1561703 w 3123406"/>
                  <a:gd name="csY3" fmla="*/ 3123406 h 3123406"/>
                  <a:gd name="csX4" fmla="*/ 0 w 3123406"/>
                  <a:gd name="csY4" fmla="*/ 1561703 h 3123406"/>
                </a:gdLst>
                <a:ahLst/>
                <a:cxnLst>
                  <a:cxn ang="0">
                    <a:pos x="csX0" y="csY0"/>
                  </a:cxn>
                  <a:cxn ang="0">
                    <a:pos x="csX1" y="csY1"/>
                  </a:cxn>
                  <a:cxn ang="0">
                    <a:pos x="csX2" y="csY2"/>
                  </a:cxn>
                  <a:cxn ang="0">
                    <a:pos x="csX3" y="csY3"/>
                  </a:cxn>
                  <a:cxn ang="0">
                    <a:pos x="csX4" y="csY4"/>
                  </a:cxn>
                </a:cxnLst>
                <a:rect l="l" t="t" r="r" b="b"/>
                <a:pathLst>
                  <a:path w="3123406" h="3123406">
                    <a:moveTo>
                      <a:pt x="0" y="1561703"/>
                    </a:moveTo>
                    <a:cubicBezTo>
                      <a:pt x="0" y="699198"/>
                      <a:pt x="699198" y="0"/>
                      <a:pt x="1561703" y="0"/>
                    </a:cubicBezTo>
                    <a:cubicBezTo>
                      <a:pt x="2424208" y="0"/>
                      <a:pt x="3123406" y="699198"/>
                      <a:pt x="3123406" y="1561703"/>
                    </a:cubicBezTo>
                    <a:cubicBezTo>
                      <a:pt x="3123406" y="2424208"/>
                      <a:pt x="2424208" y="3123406"/>
                      <a:pt x="1561703" y="3123406"/>
                    </a:cubicBezTo>
                    <a:cubicBezTo>
                      <a:pt x="699198" y="3123406"/>
                      <a:pt x="0" y="2424208"/>
                      <a:pt x="0" y="1561703"/>
                    </a:cubicBezTo>
                    <a:close/>
                  </a:path>
                </a:pathLst>
              </a:custGeom>
              <a:noFill/>
              <a:ln w="28575">
                <a:solidFill>
                  <a:schemeClr val="tx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629303" tIns="538692" rIns="629303" bIns="538692" numCol="1" spcCol="1270" anchor="ctr" anchorCtr="0">
                <a:noAutofit/>
              </a:bodyPr>
              <a:lstStyle/>
              <a:p>
                <a:pPr marL="0" lvl="0" indent="0" algn="ctr" defTabSz="2844800">
                  <a:lnSpc>
                    <a:spcPct val="90000"/>
                  </a:lnSpc>
                  <a:spcBef>
                    <a:spcPct val="0"/>
                  </a:spcBef>
                  <a:spcAft>
                    <a:spcPct val="35000"/>
                  </a:spcAft>
                  <a:buNone/>
                </a:pPr>
                <a:endParaRPr lang="en-GB" sz="6400" kern="1200" dirty="0"/>
              </a:p>
            </p:txBody>
          </p:sp>
          <p:sp>
            <p:nvSpPr>
              <p:cNvPr id="149" name="Freeform 148">
                <a:extLst>
                  <a:ext uri="{FF2B5EF4-FFF2-40B4-BE49-F238E27FC236}">
                    <a16:creationId xmlns:a16="http://schemas.microsoft.com/office/drawing/2014/main" id="{9E761FA5-6F07-4E78-1200-01C278392737}"/>
                  </a:ext>
                </a:extLst>
              </p:cNvPr>
              <p:cNvSpPr/>
              <p:nvPr/>
            </p:nvSpPr>
            <p:spPr>
              <a:xfrm>
                <a:off x="4719022" y="3714584"/>
                <a:ext cx="3038822" cy="1205881"/>
              </a:xfrm>
              <a:custGeom>
                <a:avLst/>
                <a:gdLst>
                  <a:gd name="csX0" fmla="*/ 0 w 3038822"/>
                  <a:gd name="csY0" fmla="*/ 0 h 1205881"/>
                  <a:gd name="csX1" fmla="*/ 3038822 w 3038822"/>
                  <a:gd name="csY1" fmla="*/ 0 h 1205881"/>
                  <a:gd name="csX2" fmla="*/ 3010903 w 3038822"/>
                  <a:gd name="csY2" fmla="*/ 108581 h 1205881"/>
                  <a:gd name="csX3" fmla="*/ 1519411 w 3038822"/>
                  <a:gd name="csY3" fmla="*/ 1205881 h 1205881"/>
                  <a:gd name="csX4" fmla="*/ 27919 w 3038822"/>
                  <a:gd name="csY4" fmla="*/ 108581 h 1205881"/>
                </a:gdLst>
                <a:ahLst/>
                <a:cxnLst>
                  <a:cxn ang="0">
                    <a:pos x="csX0" y="csY0"/>
                  </a:cxn>
                  <a:cxn ang="0">
                    <a:pos x="csX1" y="csY1"/>
                  </a:cxn>
                  <a:cxn ang="0">
                    <a:pos x="csX2" y="csY2"/>
                  </a:cxn>
                  <a:cxn ang="0">
                    <a:pos x="csX3" y="csY3"/>
                  </a:cxn>
                  <a:cxn ang="0">
                    <a:pos x="csX4" y="csY4"/>
                  </a:cxn>
                </a:cxnLst>
                <a:rect l="l" t="t" r="r" b="b"/>
                <a:pathLst>
                  <a:path w="3038822" h="1205881">
                    <a:moveTo>
                      <a:pt x="0" y="0"/>
                    </a:moveTo>
                    <a:lnTo>
                      <a:pt x="3038822" y="0"/>
                    </a:lnTo>
                    <a:lnTo>
                      <a:pt x="3010903" y="108581"/>
                    </a:lnTo>
                    <a:cubicBezTo>
                      <a:pt x="2813174" y="744301"/>
                      <a:pt x="2220196" y="1205881"/>
                      <a:pt x="1519411" y="1205881"/>
                    </a:cubicBezTo>
                    <a:cubicBezTo>
                      <a:pt x="818626" y="1205881"/>
                      <a:pt x="225649" y="744301"/>
                      <a:pt x="27919" y="108581"/>
                    </a:cubicBezTo>
                    <a:close/>
                  </a:path>
                </a:pathLst>
              </a:cu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150" name="TextBox 149">
              <a:extLst>
                <a:ext uri="{FF2B5EF4-FFF2-40B4-BE49-F238E27FC236}">
                  <a16:creationId xmlns:a16="http://schemas.microsoft.com/office/drawing/2014/main" id="{2366287D-F23E-BA01-EEEF-D6374792D1C7}"/>
                </a:ext>
              </a:extLst>
            </p:cNvPr>
            <p:cNvSpPr txBox="1"/>
            <p:nvPr/>
          </p:nvSpPr>
          <p:spPr>
            <a:xfrm>
              <a:off x="8231021" y="3979199"/>
              <a:ext cx="2613068" cy="646331"/>
            </a:xfrm>
            <a:prstGeom prst="rect">
              <a:avLst/>
            </a:prstGeom>
            <a:noFill/>
          </p:spPr>
          <p:txBody>
            <a:bodyPr wrap="square" rtlCol="0">
              <a:spAutoFit/>
            </a:bodyPr>
            <a:lstStyle/>
            <a:p>
              <a:r>
                <a:rPr lang="en-GB" b="1" dirty="0"/>
                <a:t>Integrate matched miRNA-mRNA data</a:t>
              </a:r>
            </a:p>
          </p:txBody>
        </p:sp>
        <p:pic>
          <p:nvPicPr>
            <p:cNvPr id="161" name="Picture 160">
              <a:extLst>
                <a:ext uri="{FF2B5EF4-FFF2-40B4-BE49-F238E27FC236}">
                  <a16:creationId xmlns:a16="http://schemas.microsoft.com/office/drawing/2014/main" id="{E89B738E-058E-551C-F350-3B1520EEF444}"/>
                </a:ext>
              </a:extLst>
            </p:cNvPr>
            <p:cNvPicPr>
              <a:picLocks noChangeAspect="1"/>
            </p:cNvPicPr>
            <p:nvPr/>
          </p:nvPicPr>
          <p:blipFill>
            <a:blip r:embed="rId6"/>
            <a:stretch>
              <a:fillRect/>
            </a:stretch>
          </p:blipFill>
          <p:spPr>
            <a:xfrm>
              <a:off x="8036724" y="2704665"/>
              <a:ext cx="2545739" cy="562406"/>
            </a:xfrm>
            <a:prstGeom prst="rect">
              <a:avLst/>
            </a:prstGeom>
          </p:spPr>
        </p:pic>
        <p:sp>
          <p:nvSpPr>
            <p:cNvPr id="164" name="Rounded Rectangle 163">
              <a:extLst>
                <a:ext uri="{FF2B5EF4-FFF2-40B4-BE49-F238E27FC236}">
                  <a16:creationId xmlns:a16="http://schemas.microsoft.com/office/drawing/2014/main" id="{0A789EF7-590A-603D-4BF3-0F73885C7E11}"/>
                </a:ext>
              </a:extLst>
            </p:cNvPr>
            <p:cNvSpPr/>
            <p:nvPr/>
          </p:nvSpPr>
          <p:spPr>
            <a:xfrm>
              <a:off x="7708152" y="1894177"/>
              <a:ext cx="408561" cy="40856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grpSp>
      <p:sp>
        <p:nvSpPr>
          <p:cNvPr id="166" name="TextBox 165">
            <a:extLst>
              <a:ext uri="{FF2B5EF4-FFF2-40B4-BE49-F238E27FC236}">
                <a16:creationId xmlns:a16="http://schemas.microsoft.com/office/drawing/2014/main" id="{0022214B-E338-08F9-420E-FF62B05C1598}"/>
              </a:ext>
            </a:extLst>
          </p:cNvPr>
          <p:cNvSpPr txBox="1"/>
          <p:nvPr/>
        </p:nvSpPr>
        <p:spPr>
          <a:xfrm>
            <a:off x="141340" y="6383179"/>
            <a:ext cx="6907279" cy="246221"/>
          </a:xfrm>
          <a:prstGeom prst="rect">
            <a:avLst/>
          </a:prstGeom>
          <a:noFill/>
        </p:spPr>
        <p:txBody>
          <a:bodyPr wrap="square" rtlCol="0">
            <a:spAutoFit/>
          </a:bodyPr>
          <a:lstStyle/>
          <a:p>
            <a:r>
              <a:rPr lang="en-GB" sz="1000" dirty="0"/>
              <a:t>Figure created in </a:t>
            </a:r>
            <a:r>
              <a:rPr lang="en-GB" sz="1000" dirty="0" err="1"/>
              <a:t>BioRender</a:t>
            </a:r>
            <a:r>
              <a:rPr lang="en-GB" sz="1000" dirty="0"/>
              <a:t>: https://</a:t>
            </a:r>
            <a:r>
              <a:rPr lang="en-GB" sz="1000" dirty="0" err="1"/>
              <a:t>BioRender.com</a:t>
            </a:r>
            <a:r>
              <a:rPr lang="en-GB" sz="1000" dirty="0">
                <a:effectLst/>
              </a:rPr>
              <a:t> </a:t>
            </a:r>
            <a:endParaRPr lang="en-GB" sz="1000" dirty="0"/>
          </a:p>
        </p:txBody>
      </p:sp>
      <p:sp>
        <p:nvSpPr>
          <p:cNvPr id="3" name="Slide Number Placeholder 2">
            <a:extLst>
              <a:ext uri="{FF2B5EF4-FFF2-40B4-BE49-F238E27FC236}">
                <a16:creationId xmlns:a16="http://schemas.microsoft.com/office/drawing/2014/main" id="{B36A4A28-B5AD-7050-9E5A-62676B9F24AC}"/>
              </a:ext>
            </a:extLst>
          </p:cNvPr>
          <p:cNvSpPr>
            <a:spLocks noGrp="1"/>
          </p:cNvSpPr>
          <p:nvPr>
            <p:ph type="sldNum" sz="quarter" idx="12"/>
          </p:nvPr>
        </p:nvSpPr>
        <p:spPr/>
        <p:txBody>
          <a:bodyPr/>
          <a:lstStyle/>
          <a:p>
            <a:fld id="{AAB2C436-2398-F34B-A706-69BC3409080B}" type="slidenum">
              <a:rPr lang="en-GB" smtClean="0"/>
              <a:t>13</a:t>
            </a:fld>
            <a:endParaRPr lang="en-GB"/>
          </a:p>
        </p:txBody>
      </p:sp>
    </p:spTree>
    <p:extLst>
      <p:ext uri="{BB962C8B-B14F-4D97-AF65-F5344CB8AC3E}">
        <p14:creationId xmlns:p14="http://schemas.microsoft.com/office/powerpoint/2010/main" val="44260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8D0AF-5BE3-1C24-61D5-B9FAC3BDCA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80C45F-AFE2-00E2-5D43-E19B329C9F21}"/>
              </a:ext>
            </a:extLst>
          </p:cNvPr>
          <p:cNvSpPr txBox="1"/>
          <p:nvPr/>
        </p:nvSpPr>
        <p:spPr>
          <a:xfrm>
            <a:off x="304799" y="228600"/>
            <a:ext cx="5507840" cy="461665"/>
          </a:xfrm>
          <a:prstGeom prst="rect">
            <a:avLst/>
          </a:prstGeom>
          <a:noFill/>
        </p:spPr>
        <p:txBody>
          <a:bodyPr wrap="square" rtlCol="0">
            <a:spAutoFit/>
          </a:bodyPr>
          <a:lstStyle/>
          <a:p>
            <a:r>
              <a:rPr lang="en-GB" sz="2400" b="1" dirty="0"/>
              <a:t>Significance</a:t>
            </a:r>
          </a:p>
        </p:txBody>
      </p:sp>
      <p:sp>
        <p:nvSpPr>
          <p:cNvPr id="13" name="Triangle 12">
            <a:extLst>
              <a:ext uri="{FF2B5EF4-FFF2-40B4-BE49-F238E27FC236}">
                <a16:creationId xmlns:a16="http://schemas.microsoft.com/office/drawing/2014/main" id="{F8DCD644-4CEE-7C36-260F-9D7B8E5FDB01}"/>
              </a:ext>
            </a:extLst>
          </p:cNvPr>
          <p:cNvSpPr/>
          <p:nvPr/>
        </p:nvSpPr>
        <p:spPr>
          <a:xfrm>
            <a:off x="1338146" y="1345965"/>
            <a:ext cx="4405252" cy="4543748"/>
          </a:xfrm>
          <a:prstGeom prst="triangle">
            <a:avLst/>
          </a:prstGeom>
          <a:ln/>
        </p:spPr>
        <p:style>
          <a:lnRef idx="1">
            <a:schemeClr val="accent3"/>
          </a:lnRef>
          <a:fillRef idx="2">
            <a:schemeClr val="accent3"/>
          </a:fillRef>
          <a:effectRef idx="1">
            <a:schemeClr val="accent3"/>
          </a:effectRef>
          <a:fontRef idx="minor">
            <a:schemeClr val="dk1"/>
          </a:fontRef>
        </p:style>
        <p:txBody>
          <a:bodyPr/>
          <a:lstStyle/>
          <a:p>
            <a:endParaRPr lang="en-GB"/>
          </a:p>
        </p:txBody>
      </p:sp>
      <p:sp>
        <p:nvSpPr>
          <p:cNvPr id="14" name="Freeform 13">
            <a:extLst>
              <a:ext uri="{FF2B5EF4-FFF2-40B4-BE49-F238E27FC236}">
                <a16:creationId xmlns:a16="http://schemas.microsoft.com/office/drawing/2014/main" id="{C4A9ACAE-1554-8E94-4C80-C211F832CBD8}"/>
              </a:ext>
            </a:extLst>
          </p:cNvPr>
          <p:cNvSpPr/>
          <p:nvPr/>
        </p:nvSpPr>
        <p:spPr>
          <a:xfrm>
            <a:off x="4000242" y="1741437"/>
            <a:ext cx="5619544" cy="1075590"/>
          </a:xfrm>
          <a:custGeom>
            <a:avLst/>
            <a:gdLst>
              <a:gd name="csX0" fmla="*/ 0 w 3522133"/>
              <a:gd name="csY0" fmla="*/ 213788 h 1282700"/>
              <a:gd name="csX1" fmla="*/ 213788 w 3522133"/>
              <a:gd name="csY1" fmla="*/ 0 h 1282700"/>
              <a:gd name="csX2" fmla="*/ 3308345 w 3522133"/>
              <a:gd name="csY2" fmla="*/ 0 h 1282700"/>
              <a:gd name="csX3" fmla="*/ 3522133 w 3522133"/>
              <a:gd name="csY3" fmla="*/ 213788 h 1282700"/>
              <a:gd name="csX4" fmla="*/ 3522133 w 3522133"/>
              <a:gd name="csY4" fmla="*/ 1068912 h 1282700"/>
              <a:gd name="csX5" fmla="*/ 3308345 w 3522133"/>
              <a:gd name="csY5" fmla="*/ 1282700 h 1282700"/>
              <a:gd name="csX6" fmla="*/ 213788 w 3522133"/>
              <a:gd name="csY6" fmla="*/ 1282700 h 1282700"/>
              <a:gd name="csX7" fmla="*/ 0 w 3522133"/>
              <a:gd name="csY7" fmla="*/ 1068912 h 1282700"/>
              <a:gd name="csX8" fmla="*/ 0 w 3522133"/>
              <a:gd name="csY8" fmla="*/ 213788 h 1282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2133" h="1282700">
                <a:moveTo>
                  <a:pt x="0" y="213788"/>
                </a:moveTo>
                <a:cubicBezTo>
                  <a:pt x="0" y="95716"/>
                  <a:pt x="95716" y="0"/>
                  <a:pt x="213788" y="0"/>
                </a:cubicBezTo>
                <a:lnTo>
                  <a:pt x="3308345" y="0"/>
                </a:lnTo>
                <a:cubicBezTo>
                  <a:pt x="3426417" y="0"/>
                  <a:pt x="3522133" y="95716"/>
                  <a:pt x="3522133" y="213788"/>
                </a:cubicBezTo>
                <a:lnTo>
                  <a:pt x="3522133" y="1068912"/>
                </a:lnTo>
                <a:cubicBezTo>
                  <a:pt x="3522133" y="1186984"/>
                  <a:pt x="3426417" y="1282700"/>
                  <a:pt x="3308345" y="1282700"/>
                </a:cubicBezTo>
                <a:lnTo>
                  <a:pt x="213788" y="1282700"/>
                </a:lnTo>
                <a:cubicBezTo>
                  <a:pt x="95716" y="1282700"/>
                  <a:pt x="0" y="1186984"/>
                  <a:pt x="0" y="1068912"/>
                </a:cubicBezTo>
                <a:lnTo>
                  <a:pt x="0" y="213788"/>
                </a:lnTo>
                <a:close/>
              </a:path>
            </a:pathLst>
          </a:custGeom>
          <a:solidFill>
            <a:schemeClr val="lt1">
              <a:hueOff val="0"/>
              <a:satOff val="0"/>
              <a:lumOff val="0"/>
            </a:schemeClr>
          </a:solidFill>
          <a:ln>
            <a:solidFill>
              <a:schemeClr val="accent6">
                <a:lumMod val="7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4546" tIns="264546" rIns="264546" bIns="264546" numCol="1" spcCol="1270" anchor="ctr" anchorCtr="0">
            <a:noAutofit/>
          </a:bodyPr>
          <a:lstStyle/>
          <a:p>
            <a:pPr marL="457200" lvl="0" indent="-457200" defTabSz="2355850">
              <a:lnSpc>
                <a:spcPct val="90000"/>
              </a:lnSpc>
              <a:spcBef>
                <a:spcPct val="0"/>
              </a:spcBef>
              <a:spcAft>
                <a:spcPct val="35000"/>
              </a:spcAft>
              <a:buFont typeface="+mj-lt"/>
              <a:buAutoNum type="arabicPeriod"/>
            </a:pPr>
            <a:r>
              <a:rPr lang="en-GB" sz="2000" kern="1200" dirty="0"/>
              <a:t>Detected limitations within a dataset intended for publication</a:t>
            </a:r>
          </a:p>
        </p:txBody>
      </p:sp>
      <p:sp>
        <p:nvSpPr>
          <p:cNvPr id="15" name="Freeform 14">
            <a:extLst>
              <a:ext uri="{FF2B5EF4-FFF2-40B4-BE49-F238E27FC236}">
                <a16:creationId xmlns:a16="http://schemas.microsoft.com/office/drawing/2014/main" id="{7838E64A-D027-4150-A5E8-C5E3F3447CBE}"/>
              </a:ext>
            </a:extLst>
          </p:cNvPr>
          <p:cNvSpPr/>
          <p:nvPr/>
        </p:nvSpPr>
        <p:spPr>
          <a:xfrm>
            <a:off x="4000242" y="2951476"/>
            <a:ext cx="5619544" cy="1075590"/>
          </a:xfrm>
          <a:custGeom>
            <a:avLst/>
            <a:gdLst>
              <a:gd name="csX0" fmla="*/ 0 w 3522133"/>
              <a:gd name="csY0" fmla="*/ 213788 h 1282700"/>
              <a:gd name="csX1" fmla="*/ 213788 w 3522133"/>
              <a:gd name="csY1" fmla="*/ 0 h 1282700"/>
              <a:gd name="csX2" fmla="*/ 3308345 w 3522133"/>
              <a:gd name="csY2" fmla="*/ 0 h 1282700"/>
              <a:gd name="csX3" fmla="*/ 3522133 w 3522133"/>
              <a:gd name="csY3" fmla="*/ 213788 h 1282700"/>
              <a:gd name="csX4" fmla="*/ 3522133 w 3522133"/>
              <a:gd name="csY4" fmla="*/ 1068912 h 1282700"/>
              <a:gd name="csX5" fmla="*/ 3308345 w 3522133"/>
              <a:gd name="csY5" fmla="*/ 1282700 h 1282700"/>
              <a:gd name="csX6" fmla="*/ 213788 w 3522133"/>
              <a:gd name="csY6" fmla="*/ 1282700 h 1282700"/>
              <a:gd name="csX7" fmla="*/ 0 w 3522133"/>
              <a:gd name="csY7" fmla="*/ 1068912 h 1282700"/>
              <a:gd name="csX8" fmla="*/ 0 w 3522133"/>
              <a:gd name="csY8" fmla="*/ 213788 h 1282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2133" h="1282700">
                <a:moveTo>
                  <a:pt x="0" y="213788"/>
                </a:moveTo>
                <a:cubicBezTo>
                  <a:pt x="0" y="95716"/>
                  <a:pt x="95716" y="0"/>
                  <a:pt x="213788" y="0"/>
                </a:cubicBezTo>
                <a:lnTo>
                  <a:pt x="3308345" y="0"/>
                </a:lnTo>
                <a:cubicBezTo>
                  <a:pt x="3426417" y="0"/>
                  <a:pt x="3522133" y="95716"/>
                  <a:pt x="3522133" y="213788"/>
                </a:cubicBezTo>
                <a:lnTo>
                  <a:pt x="3522133" y="1068912"/>
                </a:lnTo>
                <a:cubicBezTo>
                  <a:pt x="3522133" y="1186984"/>
                  <a:pt x="3426417" y="1282700"/>
                  <a:pt x="3308345" y="1282700"/>
                </a:cubicBezTo>
                <a:lnTo>
                  <a:pt x="213788" y="1282700"/>
                </a:lnTo>
                <a:cubicBezTo>
                  <a:pt x="95716" y="1282700"/>
                  <a:pt x="0" y="1186984"/>
                  <a:pt x="0" y="1068912"/>
                </a:cubicBezTo>
                <a:lnTo>
                  <a:pt x="0" y="213788"/>
                </a:lnTo>
                <a:close/>
              </a:path>
            </a:pathLst>
          </a:custGeom>
          <a:solidFill>
            <a:schemeClr val="lt1">
              <a:hueOff val="0"/>
              <a:satOff val="0"/>
              <a:lumOff val="0"/>
            </a:schemeClr>
          </a:solidFill>
          <a:ln>
            <a:solidFill>
              <a:schemeClr val="accent6">
                <a:lumMod val="7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4546" tIns="264546" rIns="264546" bIns="264546" numCol="1" spcCol="1270" anchor="ctr" anchorCtr="0">
            <a:noAutofit/>
          </a:bodyPr>
          <a:lstStyle/>
          <a:p>
            <a:pPr marL="457200" lvl="0" indent="-457200" defTabSz="2355850">
              <a:lnSpc>
                <a:spcPct val="90000"/>
              </a:lnSpc>
              <a:spcBef>
                <a:spcPct val="0"/>
              </a:spcBef>
              <a:spcAft>
                <a:spcPct val="35000"/>
              </a:spcAft>
              <a:buFont typeface="+mj-lt"/>
              <a:buAutoNum type="arabicPeriod" startAt="2"/>
            </a:pPr>
            <a:r>
              <a:rPr lang="en-GB" sz="2000" kern="1200" dirty="0"/>
              <a:t>Optimised future experimental design</a:t>
            </a:r>
          </a:p>
        </p:txBody>
      </p:sp>
      <p:sp>
        <p:nvSpPr>
          <p:cNvPr id="16" name="Freeform 15">
            <a:extLst>
              <a:ext uri="{FF2B5EF4-FFF2-40B4-BE49-F238E27FC236}">
                <a16:creationId xmlns:a16="http://schemas.microsoft.com/office/drawing/2014/main" id="{4DBF85CF-F40A-ACC4-A547-1BE08FDE1E99}"/>
              </a:ext>
            </a:extLst>
          </p:cNvPr>
          <p:cNvSpPr/>
          <p:nvPr/>
        </p:nvSpPr>
        <p:spPr>
          <a:xfrm>
            <a:off x="4000242" y="4161515"/>
            <a:ext cx="5619544" cy="1075590"/>
          </a:xfrm>
          <a:custGeom>
            <a:avLst/>
            <a:gdLst>
              <a:gd name="csX0" fmla="*/ 0 w 3522133"/>
              <a:gd name="csY0" fmla="*/ 213788 h 1282700"/>
              <a:gd name="csX1" fmla="*/ 213788 w 3522133"/>
              <a:gd name="csY1" fmla="*/ 0 h 1282700"/>
              <a:gd name="csX2" fmla="*/ 3308345 w 3522133"/>
              <a:gd name="csY2" fmla="*/ 0 h 1282700"/>
              <a:gd name="csX3" fmla="*/ 3522133 w 3522133"/>
              <a:gd name="csY3" fmla="*/ 213788 h 1282700"/>
              <a:gd name="csX4" fmla="*/ 3522133 w 3522133"/>
              <a:gd name="csY4" fmla="*/ 1068912 h 1282700"/>
              <a:gd name="csX5" fmla="*/ 3308345 w 3522133"/>
              <a:gd name="csY5" fmla="*/ 1282700 h 1282700"/>
              <a:gd name="csX6" fmla="*/ 213788 w 3522133"/>
              <a:gd name="csY6" fmla="*/ 1282700 h 1282700"/>
              <a:gd name="csX7" fmla="*/ 0 w 3522133"/>
              <a:gd name="csY7" fmla="*/ 1068912 h 1282700"/>
              <a:gd name="csX8" fmla="*/ 0 w 3522133"/>
              <a:gd name="csY8" fmla="*/ 213788 h 1282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2133" h="1282700">
                <a:moveTo>
                  <a:pt x="0" y="213788"/>
                </a:moveTo>
                <a:cubicBezTo>
                  <a:pt x="0" y="95716"/>
                  <a:pt x="95716" y="0"/>
                  <a:pt x="213788" y="0"/>
                </a:cubicBezTo>
                <a:lnTo>
                  <a:pt x="3308345" y="0"/>
                </a:lnTo>
                <a:cubicBezTo>
                  <a:pt x="3426417" y="0"/>
                  <a:pt x="3522133" y="95716"/>
                  <a:pt x="3522133" y="213788"/>
                </a:cubicBezTo>
                <a:lnTo>
                  <a:pt x="3522133" y="1068912"/>
                </a:lnTo>
                <a:cubicBezTo>
                  <a:pt x="3522133" y="1186984"/>
                  <a:pt x="3426417" y="1282700"/>
                  <a:pt x="3308345" y="1282700"/>
                </a:cubicBezTo>
                <a:lnTo>
                  <a:pt x="213788" y="1282700"/>
                </a:lnTo>
                <a:cubicBezTo>
                  <a:pt x="95716" y="1282700"/>
                  <a:pt x="0" y="1186984"/>
                  <a:pt x="0" y="1068912"/>
                </a:cubicBezTo>
                <a:lnTo>
                  <a:pt x="0" y="213788"/>
                </a:lnTo>
                <a:close/>
              </a:path>
            </a:pathLst>
          </a:custGeom>
          <a:solidFill>
            <a:schemeClr val="lt1">
              <a:hueOff val="0"/>
              <a:satOff val="0"/>
              <a:lumOff val="0"/>
            </a:schemeClr>
          </a:solidFill>
          <a:ln>
            <a:solidFill>
              <a:schemeClr val="accent6">
                <a:lumMod val="7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4546" tIns="264546" rIns="264546" bIns="264546" numCol="1" spcCol="1270" anchor="ctr" anchorCtr="0">
            <a:noAutofit/>
          </a:bodyPr>
          <a:lstStyle/>
          <a:p>
            <a:pPr marL="457200" lvl="0" indent="-457200" defTabSz="2355850">
              <a:lnSpc>
                <a:spcPct val="90000"/>
              </a:lnSpc>
              <a:spcBef>
                <a:spcPct val="0"/>
              </a:spcBef>
              <a:spcAft>
                <a:spcPct val="35000"/>
              </a:spcAft>
              <a:buFont typeface="+mj-lt"/>
              <a:buAutoNum type="arabicPeriod" startAt="3"/>
            </a:pPr>
            <a:r>
              <a:rPr lang="en-GB" sz="2000" kern="1200" dirty="0"/>
              <a:t>Framework for in-house transcriptomics</a:t>
            </a:r>
          </a:p>
        </p:txBody>
      </p:sp>
      <p:sp>
        <p:nvSpPr>
          <p:cNvPr id="2" name="Slide Number Placeholder 1">
            <a:extLst>
              <a:ext uri="{FF2B5EF4-FFF2-40B4-BE49-F238E27FC236}">
                <a16:creationId xmlns:a16="http://schemas.microsoft.com/office/drawing/2014/main" id="{2A6621DA-06CA-006F-3C95-C7001286B202}"/>
              </a:ext>
            </a:extLst>
          </p:cNvPr>
          <p:cNvSpPr>
            <a:spLocks noGrp="1"/>
          </p:cNvSpPr>
          <p:nvPr>
            <p:ph type="sldNum" sz="quarter" idx="12"/>
          </p:nvPr>
        </p:nvSpPr>
        <p:spPr/>
        <p:txBody>
          <a:bodyPr/>
          <a:lstStyle/>
          <a:p>
            <a:fld id="{AAB2C436-2398-F34B-A706-69BC3409080B}" type="slidenum">
              <a:rPr lang="en-GB" smtClean="0"/>
              <a:t>14</a:t>
            </a:fld>
            <a:endParaRPr lang="en-GB"/>
          </a:p>
        </p:txBody>
      </p:sp>
    </p:spTree>
    <p:extLst>
      <p:ext uri="{BB962C8B-B14F-4D97-AF65-F5344CB8AC3E}">
        <p14:creationId xmlns:p14="http://schemas.microsoft.com/office/powerpoint/2010/main" val="2142870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64699-55B1-FE81-2499-63284075A127}"/>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B3E11F45-239C-7EC7-B666-1281173E4A6D}"/>
              </a:ext>
            </a:extLst>
          </p:cNvPr>
          <p:cNvSpPr/>
          <p:nvPr/>
        </p:nvSpPr>
        <p:spPr>
          <a:xfrm>
            <a:off x="4244721" y="2962573"/>
            <a:ext cx="5920667" cy="204519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p>
        </p:txBody>
      </p:sp>
      <p:sp>
        <p:nvSpPr>
          <p:cNvPr id="3" name="Rounded Rectangle 2">
            <a:extLst>
              <a:ext uri="{FF2B5EF4-FFF2-40B4-BE49-F238E27FC236}">
                <a16:creationId xmlns:a16="http://schemas.microsoft.com/office/drawing/2014/main" id="{250C843E-73E7-DFF1-5BC7-320DABC45C34}"/>
              </a:ext>
            </a:extLst>
          </p:cNvPr>
          <p:cNvSpPr/>
          <p:nvPr/>
        </p:nvSpPr>
        <p:spPr>
          <a:xfrm>
            <a:off x="4260492" y="1960596"/>
            <a:ext cx="5904896" cy="9158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dirty="0"/>
          </a:p>
        </p:txBody>
      </p:sp>
      <p:sp>
        <p:nvSpPr>
          <p:cNvPr id="22" name="Freeform 21">
            <a:extLst>
              <a:ext uri="{FF2B5EF4-FFF2-40B4-BE49-F238E27FC236}">
                <a16:creationId xmlns:a16="http://schemas.microsoft.com/office/drawing/2014/main" id="{DF6007BF-32B8-8E21-8A87-93123499A662}"/>
              </a:ext>
            </a:extLst>
          </p:cNvPr>
          <p:cNvSpPr/>
          <p:nvPr/>
        </p:nvSpPr>
        <p:spPr>
          <a:xfrm>
            <a:off x="4054077" y="2883561"/>
            <a:ext cx="6249251"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b="1" kern="1200" dirty="0">
                <a:solidFill>
                  <a:schemeClr val="tx1">
                    <a:lumMod val="85000"/>
                    <a:lumOff val="15000"/>
                  </a:schemeClr>
                </a:solidFill>
              </a:rPr>
              <a:t>	Calu-3 functional analysis</a:t>
            </a:r>
          </a:p>
        </p:txBody>
      </p:sp>
      <p:sp>
        <p:nvSpPr>
          <p:cNvPr id="2" name="TextBox 1">
            <a:extLst>
              <a:ext uri="{FF2B5EF4-FFF2-40B4-BE49-F238E27FC236}">
                <a16:creationId xmlns:a16="http://schemas.microsoft.com/office/drawing/2014/main" id="{ECC8947B-B1D7-0BFD-929F-FB208DE14511}"/>
              </a:ext>
            </a:extLst>
          </p:cNvPr>
          <p:cNvSpPr txBox="1"/>
          <p:nvPr/>
        </p:nvSpPr>
        <p:spPr>
          <a:xfrm>
            <a:off x="304799" y="228600"/>
            <a:ext cx="5507840" cy="461665"/>
          </a:xfrm>
          <a:prstGeom prst="rect">
            <a:avLst/>
          </a:prstGeom>
          <a:noFill/>
        </p:spPr>
        <p:txBody>
          <a:bodyPr wrap="square" rtlCol="0">
            <a:spAutoFit/>
          </a:bodyPr>
          <a:lstStyle/>
          <a:p>
            <a:r>
              <a:rPr lang="en-GB" sz="2400" b="1" dirty="0"/>
              <a:t>Originality</a:t>
            </a:r>
          </a:p>
        </p:txBody>
      </p:sp>
      <p:sp>
        <p:nvSpPr>
          <p:cNvPr id="12" name="Freeform 11">
            <a:extLst>
              <a:ext uri="{FF2B5EF4-FFF2-40B4-BE49-F238E27FC236}">
                <a16:creationId xmlns:a16="http://schemas.microsoft.com/office/drawing/2014/main" id="{CEB4A2DA-2DE1-09BF-1C21-A2E3C213C4D0}"/>
              </a:ext>
            </a:extLst>
          </p:cNvPr>
          <p:cNvSpPr/>
          <p:nvPr/>
        </p:nvSpPr>
        <p:spPr>
          <a:xfrm rot="2562732">
            <a:off x="3803258" y="3978145"/>
            <a:ext cx="501641" cy="65214"/>
          </a:xfrm>
          <a:custGeom>
            <a:avLst/>
            <a:gdLst/>
            <a:ahLst/>
            <a:cxnLst/>
            <a:rect l="0" t="0" r="0" b="0"/>
            <a:pathLst>
              <a:path>
                <a:moveTo>
                  <a:pt x="0" y="32607"/>
                </a:moveTo>
                <a:lnTo>
                  <a:pt x="501641"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3" name="Freeform 12">
            <a:extLst>
              <a:ext uri="{FF2B5EF4-FFF2-40B4-BE49-F238E27FC236}">
                <a16:creationId xmlns:a16="http://schemas.microsoft.com/office/drawing/2014/main" id="{BD27DD81-31AE-62F1-64F9-77B26B02584F}"/>
              </a:ext>
            </a:extLst>
          </p:cNvPr>
          <p:cNvSpPr/>
          <p:nvPr/>
        </p:nvSpPr>
        <p:spPr>
          <a:xfrm>
            <a:off x="3869783" y="3292314"/>
            <a:ext cx="557977" cy="65214"/>
          </a:xfrm>
          <a:custGeom>
            <a:avLst/>
            <a:gdLst/>
            <a:ahLst/>
            <a:cxnLst/>
            <a:rect l="0" t="0" r="0" b="0"/>
            <a:pathLst>
              <a:path>
                <a:moveTo>
                  <a:pt x="0" y="32607"/>
                </a:moveTo>
                <a:lnTo>
                  <a:pt x="557977"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4" name="Freeform 13">
            <a:extLst>
              <a:ext uri="{FF2B5EF4-FFF2-40B4-BE49-F238E27FC236}">
                <a16:creationId xmlns:a16="http://schemas.microsoft.com/office/drawing/2014/main" id="{E6F137B6-0BCA-FE34-A1F4-2F5913654DFF}"/>
              </a:ext>
            </a:extLst>
          </p:cNvPr>
          <p:cNvSpPr/>
          <p:nvPr/>
        </p:nvSpPr>
        <p:spPr>
          <a:xfrm rot="19037268">
            <a:off x="3803258" y="2606483"/>
            <a:ext cx="501641" cy="65214"/>
          </a:xfrm>
          <a:custGeom>
            <a:avLst/>
            <a:gdLst/>
            <a:ahLst/>
            <a:cxnLst/>
            <a:rect l="0" t="0" r="0" b="0"/>
            <a:pathLst>
              <a:path>
                <a:moveTo>
                  <a:pt x="0" y="32607"/>
                </a:moveTo>
                <a:lnTo>
                  <a:pt x="501641"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5" name="Oval 14">
            <a:extLst>
              <a:ext uri="{FF2B5EF4-FFF2-40B4-BE49-F238E27FC236}">
                <a16:creationId xmlns:a16="http://schemas.microsoft.com/office/drawing/2014/main" id="{2C3F493F-74BA-D4E8-D0A4-5AB0AE30F11F}"/>
              </a:ext>
            </a:extLst>
          </p:cNvPr>
          <p:cNvSpPr/>
          <p:nvPr/>
        </p:nvSpPr>
        <p:spPr>
          <a:xfrm>
            <a:off x="2513146" y="2526900"/>
            <a:ext cx="1596043" cy="1596043"/>
          </a:xfrm>
          <a:prstGeom prst="ellipse">
            <a:avLst/>
          </a:prstGeom>
          <a:solidFill>
            <a:schemeClr val="bg1">
              <a:lumMod val="85000"/>
            </a:schemeClr>
          </a:solidFill>
          <a:ln>
            <a:solidFill>
              <a:schemeClr val="bg1">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dirty="0"/>
          </a:p>
        </p:txBody>
      </p:sp>
      <p:sp>
        <p:nvSpPr>
          <p:cNvPr id="17" name="Freeform 16">
            <a:extLst>
              <a:ext uri="{FF2B5EF4-FFF2-40B4-BE49-F238E27FC236}">
                <a16:creationId xmlns:a16="http://schemas.microsoft.com/office/drawing/2014/main" id="{A58D3093-90AF-C694-A2BD-50253BEE7A9E}"/>
              </a:ext>
            </a:extLst>
          </p:cNvPr>
          <p:cNvSpPr/>
          <p:nvPr/>
        </p:nvSpPr>
        <p:spPr>
          <a:xfrm>
            <a:off x="3847664" y="1874499"/>
            <a:ext cx="5507839"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b="1" kern="1200" dirty="0">
                <a:solidFill>
                  <a:schemeClr val="tx1">
                    <a:lumMod val="85000"/>
                    <a:lumOff val="15000"/>
                  </a:schemeClr>
                </a:solidFill>
              </a:rPr>
              <a:t>	Nebuliser technology</a:t>
            </a:r>
          </a:p>
        </p:txBody>
      </p:sp>
      <p:sp>
        <p:nvSpPr>
          <p:cNvPr id="23" name="Freeform 22">
            <a:extLst>
              <a:ext uri="{FF2B5EF4-FFF2-40B4-BE49-F238E27FC236}">
                <a16:creationId xmlns:a16="http://schemas.microsoft.com/office/drawing/2014/main" id="{33B7DAA0-82ED-E009-F67B-12F95FD97F2E}"/>
              </a:ext>
            </a:extLst>
          </p:cNvPr>
          <p:cNvSpPr/>
          <p:nvPr/>
        </p:nvSpPr>
        <p:spPr>
          <a:xfrm>
            <a:off x="3847665" y="4061656"/>
            <a:ext cx="5920667"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b="1" dirty="0">
                <a:solidFill>
                  <a:schemeClr val="tx1">
                    <a:lumMod val="85000"/>
                    <a:lumOff val="15000"/>
                  </a:schemeClr>
                </a:solidFill>
              </a:rPr>
              <a:t>	Open-access workflow</a:t>
            </a:r>
            <a:endParaRPr lang="en-GB" sz="3100" b="1" kern="1200" dirty="0">
              <a:solidFill>
                <a:schemeClr val="tx1">
                  <a:lumMod val="85000"/>
                  <a:lumOff val="15000"/>
                </a:schemeClr>
              </a:solidFill>
            </a:endParaRPr>
          </a:p>
        </p:txBody>
      </p:sp>
      <p:sp>
        <p:nvSpPr>
          <p:cNvPr id="24" name="Oval 23">
            <a:extLst>
              <a:ext uri="{FF2B5EF4-FFF2-40B4-BE49-F238E27FC236}">
                <a16:creationId xmlns:a16="http://schemas.microsoft.com/office/drawing/2014/main" id="{9D27D0C2-CDC0-D19C-575E-FDCF3B9681FB}"/>
              </a:ext>
            </a:extLst>
          </p:cNvPr>
          <p:cNvSpPr/>
          <p:nvPr/>
        </p:nvSpPr>
        <p:spPr>
          <a:xfrm>
            <a:off x="4402748" y="1995486"/>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1</a:t>
            </a:r>
          </a:p>
        </p:txBody>
      </p:sp>
      <p:sp>
        <p:nvSpPr>
          <p:cNvPr id="25" name="Oval 24">
            <a:extLst>
              <a:ext uri="{FF2B5EF4-FFF2-40B4-BE49-F238E27FC236}">
                <a16:creationId xmlns:a16="http://schemas.microsoft.com/office/drawing/2014/main" id="{D6BB9145-53F4-8689-281E-0C48ADF70646}"/>
              </a:ext>
            </a:extLst>
          </p:cNvPr>
          <p:cNvSpPr/>
          <p:nvPr/>
        </p:nvSpPr>
        <p:spPr>
          <a:xfrm>
            <a:off x="4540576" y="3036501"/>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2</a:t>
            </a:r>
          </a:p>
        </p:txBody>
      </p:sp>
      <p:sp>
        <p:nvSpPr>
          <p:cNvPr id="26" name="Oval 25">
            <a:extLst>
              <a:ext uri="{FF2B5EF4-FFF2-40B4-BE49-F238E27FC236}">
                <a16:creationId xmlns:a16="http://schemas.microsoft.com/office/drawing/2014/main" id="{9D4130BF-B66E-72FF-0C1F-B45B9691BC1D}"/>
              </a:ext>
            </a:extLst>
          </p:cNvPr>
          <p:cNvSpPr/>
          <p:nvPr/>
        </p:nvSpPr>
        <p:spPr>
          <a:xfrm>
            <a:off x="4358439" y="4088228"/>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3</a:t>
            </a:r>
          </a:p>
        </p:txBody>
      </p:sp>
      <p:sp>
        <p:nvSpPr>
          <p:cNvPr id="27" name="Slide Number Placeholder 26">
            <a:extLst>
              <a:ext uri="{FF2B5EF4-FFF2-40B4-BE49-F238E27FC236}">
                <a16:creationId xmlns:a16="http://schemas.microsoft.com/office/drawing/2014/main" id="{32FE05F8-C47A-BA18-7E93-BE7234673D29}"/>
              </a:ext>
            </a:extLst>
          </p:cNvPr>
          <p:cNvSpPr>
            <a:spLocks noGrp="1"/>
          </p:cNvSpPr>
          <p:nvPr>
            <p:ph type="sldNum" sz="quarter" idx="12"/>
          </p:nvPr>
        </p:nvSpPr>
        <p:spPr/>
        <p:txBody>
          <a:bodyPr/>
          <a:lstStyle/>
          <a:p>
            <a:fld id="{AAB2C436-2398-F34B-A706-69BC3409080B}" type="slidenum">
              <a:rPr lang="en-GB" smtClean="0"/>
              <a:t>15</a:t>
            </a:fld>
            <a:endParaRPr lang="en-GB"/>
          </a:p>
        </p:txBody>
      </p:sp>
      <p:sp>
        <p:nvSpPr>
          <p:cNvPr id="5" name="TextBox 4">
            <a:extLst>
              <a:ext uri="{FF2B5EF4-FFF2-40B4-BE49-F238E27FC236}">
                <a16:creationId xmlns:a16="http://schemas.microsoft.com/office/drawing/2014/main" id="{B9965CB8-8292-7678-215D-0B42DEE4CF06}"/>
              </a:ext>
            </a:extLst>
          </p:cNvPr>
          <p:cNvSpPr txBox="1"/>
          <p:nvPr/>
        </p:nvSpPr>
        <p:spPr>
          <a:xfrm>
            <a:off x="6226628" y="1129780"/>
            <a:ext cx="1842411" cy="369332"/>
          </a:xfrm>
          <a:prstGeom prst="rect">
            <a:avLst/>
          </a:prstGeom>
          <a:noFill/>
          <a:effectLst/>
        </p:spPr>
        <p:txBody>
          <a:bodyPr wrap="square" rtlCol="0">
            <a:spAutoFit/>
          </a:bodyPr>
          <a:lstStyle/>
          <a:p>
            <a:r>
              <a:rPr lang="en-GB" dirty="0">
                <a:ln w="0"/>
                <a:solidFill>
                  <a:schemeClr val="accent2"/>
                </a:solidFill>
                <a:effectLst>
                  <a:outerShdw blurRad="38100" dist="25400" dir="5400000" algn="ctr" rotWithShape="0">
                    <a:srgbClr val="6E747A">
                      <a:alpha val="43000"/>
                    </a:srgbClr>
                  </a:outerShdw>
                </a:effectLst>
              </a:rPr>
              <a:t>Experiment</a:t>
            </a:r>
            <a:endParaRPr lang="en-GB" dirty="0">
              <a:ln w="0"/>
              <a:solidFill>
                <a:schemeClr val="accent2"/>
              </a:solidFill>
              <a:effectLst>
                <a:outerShdw blurRad="38100" dist="19050" dir="2700000" algn="tl" rotWithShape="0">
                  <a:schemeClr val="dk1">
                    <a:alpha val="40000"/>
                  </a:schemeClr>
                </a:outerShdw>
              </a:effectLst>
            </a:endParaRPr>
          </a:p>
        </p:txBody>
      </p:sp>
      <p:sp>
        <p:nvSpPr>
          <p:cNvPr id="6" name="TextBox 5">
            <a:extLst>
              <a:ext uri="{FF2B5EF4-FFF2-40B4-BE49-F238E27FC236}">
                <a16:creationId xmlns:a16="http://schemas.microsoft.com/office/drawing/2014/main" id="{AFA052C1-BF51-1C92-345E-2483D46D9EF4}"/>
              </a:ext>
            </a:extLst>
          </p:cNvPr>
          <p:cNvSpPr txBox="1"/>
          <p:nvPr/>
        </p:nvSpPr>
        <p:spPr>
          <a:xfrm>
            <a:off x="6226627" y="5477315"/>
            <a:ext cx="1842411" cy="369332"/>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GB" b="1" dirty="0">
                <a:ln/>
                <a:solidFill>
                  <a:schemeClr val="accent4">
                    <a:lumMod val="75000"/>
                  </a:schemeClr>
                </a:solidFill>
              </a:rPr>
              <a:t>Workflow</a:t>
            </a:r>
          </a:p>
        </p:txBody>
      </p:sp>
      <p:sp>
        <p:nvSpPr>
          <p:cNvPr id="7" name="Left Brace 6">
            <a:extLst>
              <a:ext uri="{FF2B5EF4-FFF2-40B4-BE49-F238E27FC236}">
                <a16:creationId xmlns:a16="http://schemas.microsoft.com/office/drawing/2014/main" id="{AA541493-630D-4113-5826-03C6BE8B7354}"/>
              </a:ext>
            </a:extLst>
          </p:cNvPr>
          <p:cNvSpPr/>
          <p:nvPr/>
        </p:nvSpPr>
        <p:spPr>
          <a:xfrm rot="5400000">
            <a:off x="6623332" y="-198519"/>
            <a:ext cx="369332" cy="3773679"/>
          </a:xfrm>
          <a:prstGeom prst="leftBrace">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8" name="Left Brace 7">
            <a:extLst>
              <a:ext uri="{FF2B5EF4-FFF2-40B4-BE49-F238E27FC236}">
                <a16:creationId xmlns:a16="http://schemas.microsoft.com/office/drawing/2014/main" id="{C746D8BC-B908-3072-980E-68326320BE34}"/>
              </a:ext>
            </a:extLst>
          </p:cNvPr>
          <p:cNvSpPr/>
          <p:nvPr/>
        </p:nvSpPr>
        <p:spPr>
          <a:xfrm rot="16200000">
            <a:off x="6604566" y="3361459"/>
            <a:ext cx="369332" cy="3773679"/>
          </a:xfrm>
          <a:prstGeom prst="leftBrace">
            <a:avLst/>
          </a:prstGeom>
          <a:ln>
            <a:solidFill>
              <a:schemeClr val="accent4">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141571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0F1B5-3BB7-E530-6D23-CB85AB7EBF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288603F-113D-C901-1CEC-C60094C06F0A}"/>
              </a:ext>
            </a:extLst>
          </p:cNvPr>
          <p:cNvSpPr txBox="1"/>
          <p:nvPr/>
        </p:nvSpPr>
        <p:spPr>
          <a:xfrm>
            <a:off x="304799" y="228600"/>
            <a:ext cx="5507840" cy="461665"/>
          </a:xfrm>
          <a:prstGeom prst="rect">
            <a:avLst/>
          </a:prstGeom>
          <a:noFill/>
        </p:spPr>
        <p:txBody>
          <a:bodyPr wrap="square" rtlCol="0">
            <a:spAutoFit/>
          </a:bodyPr>
          <a:lstStyle/>
          <a:p>
            <a:r>
              <a:rPr lang="en-GB" sz="2400" b="1" dirty="0"/>
              <a:t>Future Directions</a:t>
            </a:r>
          </a:p>
        </p:txBody>
      </p:sp>
      <p:grpSp>
        <p:nvGrpSpPr>
          <p:cNvPr id="31" name="Group 30">
            <a:extLst>
              <a:ext uri="{FF2B5EF4-FFF2-40B4-BE49-F238E27FC236}">
                <a16:creationId xmlns:a16="http://schemas.microsoft.com/office/drawing/2014/main" id="{AECA9389-952A-273E-A5B7-9BD3F72F31EB}"/>
              </a:ext>
            </a:extLst>
          </p:cNvPr>
          <p:cNvGrpSpPr/>
          <p:nvPr/>
        </p:nvGrpSpPr>
        <p:grpSpPr>
          <a:xfrm>
            <a:off x="583250" y="979301"/>
            <a:ext cx="4677399" cy="4528781"/>
            <a:chOff x="6755450" y="979301"/>
            <a:chExt cx="4677399" cy="4528781"/>
          </a:xfrm>
        </p:grpSpPr>
        <p:sp>
          <p:nvSpPr>
            <p:cNvPr id="21" name="Freeform 20">
              <a:extLst>
                <a:ext uri="{FF2B5EF4-FFF2-40B4-BE49-F238E27FC236}">
                  <a16:creationId xmlns:a16="http://schemas.microsoft.com/office/drawing/2014/main" id="{A8E24CC7-1839-57D7-E1B8-0C2B3DD62A23}"/>
                </a:ext>
              </a:extLst>
            </p:cNvPr>
            <p:cNvSpPr/>
            <p:nvPr/>
          </p:nvSpPr>
          <p:spPr>
            <a:xfrm>
              <a:off x="7919578" y="1729494"/>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Repeat experiment</a:t>
              </a:r>
            </a:p>
          </p:txBody>
        </p:sp>
        <p:sp>
          <p:nvSpPr>
            <p:cNvPr id="22" name="Freeform 21">
              <a:extLst>
                <a:ext uri="{FF2B5EF4-FFF2-40B4-BE49-F238E27FC236}">
                  <a16:creationId xmlns:a16="http://schemas.microsoft.com/office/drawing/2014/main" id="{5CF7CA1D-415B-E04E-C89E-11A4A8BF8A4A}"/>
                </a:ext>
              </a:extLst>
            </p:cNvPr>
            <p:cNvSpPr/>
            <p:nvPr/>
          </p:nvSpPr>
          <p:spPr>
            <a:xfrm>
              <a:off x="7919578" y="3202211"/>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Experimental validation </a:t>
              </a:r>
              <a:r>
                <a:rPr lang="en-GB" dirty="0">
                  <a:solidFill>
                    <a:schemeClr val="tx1">
                      <a:lumMod val="85000"/>
                      <a:lumOff val="15000"/>
                    </a:schemeClr>
                  </a:solidFill>
                </a:rPr>
                <a:t>(e.g., RT-qPCR)</a:t>
              </a:r>
              <a:endParaRPr lang="en-GB" sz="2400" dirty="0">
                <a:solidFill>
                  <a:schemeClr val="tx1">
                    <a:lumMod val="85000"/>
                    <a:lumOff val="15000"/>
                  </a:schemeClr>
                </a:solidFill>
              </a:endParaRPr>
            </a:p>
          </p:txBody>
        </p:sp>
        <p:sp>
          <p:nvSpPr>
            <p:cNvPr id="23" name="Freeform 22">
              <a:extLst>
                <a:ext uri="{FF2B5EF4-FFF2-40B4-BE49-F238E27FC236}">
                  <a16:creationId xmlns:a16="http://schemas.microsoft.com/office/drawing/2014/main" id="{EE693B09-F503-A61B-B8C1-589100F3B224}"/>
                </a:ext>
              </a:extLst>
            </p:cNvPr>
            <p:cNvSpPr/>
            <p:nvPr/>
          </p:nvSpPr>
          <p:spPr>
            <a:xfrm>
              <a:off x="7919578" y="4625492"/>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Functional studies</a:t>
              </a:r>
            </a:p>
          </p:txBody>
        </p:sp>
        <p:sp>
          <p:nvSpPr>
            <p:cNvPr id="24" name="Freeform 23">
              <a:extLst>
                <a:ext uri="{FF2B5EF4-FFF2-40B4-BE49-F238E27FC236}">
                  <a16:creationId xmlns:a16="http://schemas.microsoft.com/office/drawing/2014/main" id="{597CD44E-F628-6E9A-C318-772DC745ACC4}"/>
                </a:ext>
              </a:extLst>
            </p:cNvPr>
            <p:cNvSpPr/>
            <p:nvPr/>
          </p:nvSpPr>
          <p:spPr>
            <a:xfrm>
              <a:off x="6755450" y="4785252"/>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3</a:t>
              </a:r>
            </a:p>
          </p:txBody>
        </p:sp>
        <p:sp>
          <p:nvSpPr>
            <p:cNvPr id="25" name="Freeform 24">
              <a:extLst>
                <a:ext uri="{FF2B5EF4-FFF2-40B4-BE49-F238E27FC236}">
                  <a16:creationId xmlns:a16="http://schemas.microsoft.com/office/drawing/2014/main" id="{A6349D11-D10A-5251-E7D8-5F039A580B7D}"/>
                </a:ext>
              </a:extLst>
            </p:cNvPr>
            <p:cNvSpPr/>
            <p:nvPr/>
          </p:nvSpPr>
          <p:spPr>
            <a:xfrm>
              <a:off x="6755450" y="3337288"/>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2</a:t>
              </a:r>
            </a:p>
          </p:txBody>
        </p:sp>
        <p:sp>
          <p:nvSpPr>
            <p:cNvPr id="26" name="Freeform 25">
              <a:extLst>
                <a:ext uri="{FF2B5EF4-FFF2-40B4-BE49-F238E27FC236}">
                  <a16:creationId xmlns:a16="http://schemas.microsoft.com/office/drawing/2014/main" id="{9F0D0645-2618-780A-FB90-2EA1639756A8}"/>
                </a:ext>
              </a:extLst>
            </p:cNvPr>
            <p:cNvSpPr/>
            <p:nvPr/>
          </p:nvSpPr>
          <p:spPr>
            <a:xfrm>
              <a:off x="6755450" y="1889324"/>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1</a:t>
              </a:r>
            </a:p>
          </p:txBody>
        </p:sp>
        <p:sp>
          <p:nvSpPr>
            <p:cNvPr id="27" name="TextBox 26">
              <a:extLst>
                <a:ext uri="{FF2B5EF4-FFF2-40B4-BE49-F238E27FC236}">
                  <a16:creationId xmlns:a16="http://schemas.microsoft.com/office/drawing/2014/main" id="{F88E7706-E019-6227-0DC8-3982720A8020}"/>
                </a:ext>
              </a:extLst>
            </p:cNvPr>
            <p:cNvSpPr txBox="1"/>
            <p:nvPr/>
          </p:nvSpPr>
          <p:spPr>
            <a:xfrm>
              <a:off x="6755450" y="979301"/>
              <a:ext cx="1749022" cy="400110"/>
            </a:xfrm>
            <a:prstGeom prst="rect">
              <a:avLst/>
            </a:prstGeom>
            <a:solidFill>
              <a:schemeClr val="bg1"/>
            </a:solidFill>
            <a:ln w="19050">
              <a:solidFill>
                <a:schemeClr val="bg2">
                  <a:lumMod val="50000"/>
                </a:schemeClr>
              </a:solidFill>
            </a:ln>
          </p:spPr>
          <p:txBody>
            <a:bodyPr wrap="square" rtlCol="0">
              <a:spAutoFit/>
            </a:bodyPr>
            <a:lstStyle/>
            <a:p>
              <a:r>
                <a:rPr lang="en-GB" sz="2000" b="1" dirty="0"/>
                <a:t>Experimental</a:t>
              </a:r>
            </a:p>
          </p:txBody>
        </p:sp>
      </p:grpSp>
      <p:sp>
        <p:nvSpPr>
          <p:cNvPr id="32" name="Slide Number Placeholder 31">
            <a:extLst>
              <a:ext uri="{FF2B5EF4-FFF2-40B4-BE49-F238E27FC236}">
                <a16:creationId xmlns:a16="http://schemas.microsoft.com/office/drawing/2014/main" id="{45483F1F-609A-4CD2-517F-3778B233BECC}"/>
              </a:ext>
            </a:extLst>
          </p:cNvPr>
          <p:cNvSpPr>
            <a:spLocks noGrp="1"/>
          </p:cNvSpPr>
          <p:nvPr>
            <p:ph type="sldNum" sz="quarter" idx="12"/>
          </p:nvPr>
        </p:nvSpPr>
        <p:spPr/>
        <p:txBody>
          <a:bodyPr/>
          <a:lstStyle/>
          <a:p>
            <a:fld id="{AAB2C436-2398-F34B-A706-69BC3409080B}" type="slidenum">
              <a:rPr lang="en-GB" smtClean="0"/>
              <a:t>16</a:t>
            </a:fld>
            <a:endParaRPr lang="en-GB" dirty="0"/>
          </a:p>
        </p:txBody>
      </p:sp>
      <p:cxnSp>
        <p:nvCxnSpPr>
          <p:cNvPr id="3" name="Straight Connector 2">
            <a:extLst>
              <a:ext uri="{FF2B5EF4-FFF2-40B4-BE49-F238E27FC236}">
                <a16:creationId xmlns:a16="http://schemas.microsoft.com/office/drawing/2014/main" id="{AB070344-1B51-3A98-61E2-E16F1187A830}"/>
              </a:ext>
            </a:extLst>
          </p:cNvPr>
          <p:cNvCxnSpPr>
            <a:cxnSpLocks/>
          </p:cNvCxnSpPr>
          <p:nvPr/>
        </p:nvCxnSpPr>
        <p:spPr>
          <a:xfrm>
            <a:off x="6021574" y="979301"/>
            <a:ext cx="0" cy="4541722"/>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064E2B05-53B6-34A0-73D5-D26AE8EC15C2}"/>
              </a:ext>
            </a:extLst>
          </p:cNvPr>
          <p:cNvGrpSpPr/>
          <p:nvPr/>
        </p:nvGrpSpPr>
        <p:grpSpPr>
          <a:xfrm>
            <a:off x="6931351" y="979301"/>
            <a:ext cx="4677399" cy="4505100"/>
            <a:chOff x="304799" y="1002982"/>
            <a:chExt cx="4677399" cy="4505100"/>
          </a:xfrm>
        </p:grpSpPr>
        <p:sp>
          <p:nvSpPr>
            <p:cNvPr id="6" name="Freeform 5">
              <a:extLst>
                <a:ext uri="{FF2B5EF4-FFF2-40B4-BE49-F238E27FC236}">
                  <a16:creationId xmlns:a16="http://schemas.microsoft.com/office/drawing/2014/main" id="{55614D28-1D68-AF31-C770-B3EE26530382}"/>
                </a:ext>
              </a:extLst>
            </p:cNvPr>
            <p:cNvSpPr/>
            <p:nvPr/>
          </p:nvSpPr>
          <p:spPr>
            <a:xfrm>
              <a:off x="1468927" y="1729494"/>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Spike-in controls</a:t>
              </a:r>
            </a:p>
          </p:txBody>
        </p:sp>
        <p:sp>
          <p:nvSpPr>
            <p:cNvPr id="8" name="Freeform 7">
              <a:extLst>
                <a:ext uri="{FF2B5EF4-FFF2-40B4-BE49-F238E27FC236}">
                  <a16:creationId xmlns:a16="http://schemas.microsoft.com/office/drawing/2014/main" id="{9C924216-4A40-28AF-9372-29F03674B36D}"/>
                </a:ext>
              </a:extLst>
            </p:cNvPr>
            <p:cNvSpPr/>
            <p:nvPr/>
          </p:nvSpPr>
          <p:spPr>
            <a:xfrm>
              <a:off x="1468927" y="3202211"/>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Validate workflow</a:t>
              </a:r>
            </a:p>
          </p:txBody>
        </p:sp>
        <p:sp>
          <p:nvSpPr>
            <p:cNvPr id="11" name="Freeform 10">
              <a:extLst>
                <a:ext uri="{FF2B5EF4-FFF2-40B4-BE49-F238E27FC236}">
                  <a16:creationId xmlns:a16="http://schemas.microsoft.com/office/drawing/2014/main" id="{718ED543-1134-C4C4-D500-A561F3631307}"/>
                </a:ext>
              </a:extLst>
            </p:cNvPr>
            <p:cNvSpPr/>
            <p:nvPr/>
          </p:nvSpPr>
          <p:spPr>
            <a:xfrm>
              <a:off x="1468927" y="4625492"/>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User-friendly workflow</a:t>
              </a:r>
            </a:p>
          </p:txBody>
        </p:sp>
        <p:sp>
          <p:nvSpPr>
            <p:cNvPr id="14" name="Freeform 13">
              <a:extLst>
                <a:ext uri="{FF2B5EF4-FFF2-40B4-BE49-F238E27FC236}">
                  <a16:creationId xmlns:a16="http://schemas.microsoft.com/office/drawing/2014/main" id="{F23B1418-AAA4-05E5-0465-7ABD3DA57630}"/>
                </a:ext>
              </a:extLst>
            </p:cNvPr>
            <p:cNvSpPr/>
            <p:nvPr/>
          </p:nvSpPr>
          <p:spPr>
            <a:xfrm>
              <a:off x="304799" y="4785252"/>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3</a:t>
              </a:r>
            </a:p>
          </p:txBody>
        </p:sp>
        <p:sp>
          <p:nvSpPr>
            <p:cNvPr id="15" name="Freeform 14">
              <a:extLst>
                <a:ext uri="{FF2B5EF4-FFF2-40B4-BE49-F238E27FC236}">
                  <a16:creationId xmlns:a16="http://schemas.microsoft.com/office/drawing/2014/main" id="{B1F46620-5C34-C0EF-C07A-B76F2B69D884}"/>
                </a:ext>
              </a:extLst>
            </p:cNvPr>
            <p:cNvSpPr/>
            <p:nvPr/>
          </p:nvSpPr>
          <p:spPr>
            <a:xfrm>
              <a:off x="304799" y="3337288"/>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2</a:t>
              </a:r>
            </a:p>
          </p:txBody>
        </p:sp>
        <p:sp>
          <p:nvSpPr>
            <p:cNvPr id="16" name="Freeform 15">
              <a:extLst>
                <a:ext uri="{FF2B5EF4-FFF2-40B4-BE49-F238E27FC236}">
                  <a16:creationId xmlns:a16="http://schemas.microsoft.com/office/drawing/2014/main" id="{0EF0F74D-6626-D8ED-82D1-5DCCD178CE33}"/>
                </a:ext>
              </a:extLst>
            </p:cNvPr>
            <p:cNvSpPr/>
            <p:nvPr/>
          </p:nvSpPr>
          <p:spPr>
            <a:xfrm>
              <a:off x="304799" y="1889324"/>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1</a:t>
              </a:r>
            </a:p>
          </p:txBody>
        </p:sp>
        <p:sp>
          <p:nvSpPr>
            <p:cNvPr id="17" name="TextBox 16">
              <a:extLst>
                <a:ext uri="{FF2B5EF4-FFF2-40B4-BE49-F238E27FC236}">
                  <a16:creationId xmlns:a16="http://schemas.microsoft.com/office/drawing/2014/main" id="{82C8703E-B51B-3644-8B7B-CC338BF2A5EB}"/>
                </a:ext>
              </a:extLst>
            </p:cNvPr>
            <p:cNvSpPr txBox="1"/>
            <p:nvPr/>
          </p:nvSpPr>
          <p:spPr>
            <a:xfrm>
              <a:off x="304799" y="1002982"/>
              <a:ext cx="1749022" cy="400110"/>
            </a:xfrm>
            <a:prstGeom prst="rect">
              <a:avLst/>
            </a:prstGeom>
            <a:solidFill>
              <a:schemeClr val="bg1"/>
            </a:solidFill>
            <a:ln w="19050">
              <a:solidFill>
                <a:schemeClr val="bg2">
                  <a:lumMod val="50000"/>
                </a:schemeClr>
              </a:solidFill>
            </a:ln>
          </p:spPr>
          <p:txBody>
            <a:bodyPr wrap="square" rtlCol="0">
              <a:spAutoFit/>
            </a:bodyPr>
            <a:lstStyle/>
            <a:p>
              <a:r>
                <a:rPr lang="en-GB" sz="2000" b="1" dirty="0"/>
                <a:t>Workflow</a:t>
              </a:r>
            </a:p>
          </p:txBody>
        </p:sp>
      </p:grpSp>
    </p:spTree>
    <p:extLst>
      <p:ext uri="{BB962C8B-B14F-4D97-AF65-F5344CB8AC3E}">
        <p14:creationId xmlns:p14="http://schemas.microsoft.com/office/powerpoint/2010/main" val="560276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FBEB3-2649-F3E8-A8C2-B31D5CCB90D9}"/>
            </a:ext>
          </a:extLst>
        </p:cNvPr>
        <p:cNvGrpSpPr/>
        <p:nvPr/>
      </p:nvGrpSpPr>
      <p:grpSpPr>
        <a:xfrm>
          <a:off x="0" y="0"/>
          <a:ext cx="0" cy="0"/>
          <a:chOff x="0" y="0"/>
          <a:chExt cx="0" cy="0"/>
        </a:xfrm>
      </p:grpSpPr>
      <p:sp>
        <p:nvSpPr>
          <p:cNvPr id="4" name="Snip Single Corner of Rectangle 3">
            <a:extLst>
              <a:ext uri="{FF2B5EF4-FFF2-40B4-BE49-F238E27FC236}">
                <a16:creationId xmlns:a16="http://schemas.microsoft.com/office/drawing/2014/main" id="{6FAC44B9-2E33-166D-8295-31C52F31974E}"/>
              </a:ext>
            </a:extLst>
          </p:cNvPr>
          <p:cNvSpPr/>
          <p:nvPr/>
        </p:nvSpPr>
        <p:spPr>
          <a:xfrm>
            <a:off x="1353579" y="1081651"/>
            <a:ext cx="9248159" cy="5274699"/>
          </a:xfrm>
          <a:prstGeom prst="snip1Rect">
            <a:avLst/>
          </a:prstGeom>
          <a:solidFill>
            <a:schemeClr val="bg2">
              <a:lumMod val="9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ED54B2D7-2A70-F9AE-087B-B1FD405D4F55}"/>
              </a:ext>
            </a:extLst>
          </p:cNvPr>
          <p:cNvSpPr txBox="1"/>
          <p:nvPr/>
        </p:nvSpPr>
        <p:spPr>
          <a:xfrm>
            <a:off x="304799" y="228600"/>
            <a:ext cx="5507840" cy="461665"/>
          </a:xfrm>
          <a:prstGeom prst="rect">
            <a:avLst/>
          </a:prstGeom>
          <a:noFill/>
        </p:spPr>
        <p:txBody>
          <a:bodyPr wrap="square" rtlCol="0">
            <a:spAutoFit/>
          </a:bodyPr>
          <a:lstStyle/>
          <a:p>
            <a:r>
              <a:rPr lang="en-GB" sz="2400" b="1" dirty="0"/>
              <a:t>Summary</a:t>
            </a:r>
          </a:p>
        </p:txBody>
      </p:sp>
      <p:sp>
        <p:nvSpPr>
          <p:cNvPr id="5" name="Rectangle 4">
            <a:extLst>
              <a:ext uri="{FF2B5EF4-FFF2-40B4-BE49-F238E27FC236}">
                <a16:creationId xmlns:a16="http://schemas.microsoft.com/office/drawing/2014/main" id="{E9862BEF-6E6D-C394-0AEE-5A38FDB33935}"/>
              </a:ext>
            </a:extLst>
          </p:cNvPr>
          <p:cNvSpPr/>
          <p:nvPr/>
        </p:nvSpPr>
        <p:spPr>
          <a:xfrm>
            <a:off x="2837203" y="1589517"/>
            <a:ext cx="6850135" cy="8289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lumMod val="85000"/>
                    <a:lumOff val="15000"/>
                  </a:schemeClr>
                </a:solidFill>
              </a:rPr>
              <a:t>Created an open-access workflow potentially suitable for in-house transcriptomics</a:t>
            </a:r>
          </a:p>
        </p:txBody>
      </p:sp>
      <p:sp>
        <p:nvSpPr>
          <p:cNvPr id="6" name="Rectangle 5">
            <a:extLst>
              <a:ext uri="{FF2B5EF4-FFF2-40B4-BE49-F238E27FC236}">
                <a16:creationId xmlns:a16="http://schemas.microsoft.com/office/drawing/2014/main" id="{28353EBE-6B81-9B86-9B4B-4B3B48847C4F}"/>
              </a:ext>
            </a:extLst>
          </p:cNvPr>
          <p:cNvSpPr/>
          <p:nvPr/>
        </p:nvSpPr>
        <p:spPr>
          <a:xfrm>
            <a:off x="2085174" y="1683521"/>
            <a:ext cx="632389" cy="529840"/>
          </a:xfrm>
          <a:prstGeom prst="rect">
            <a:avLst/>
          </a:prstGeom>
          <a:solidFill>
            <a:srgbClr val="5E6EB5">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lumMod val="85000"/>
                    <a:lumOff val="15000"/>
                  </a:schemeClr>
                </a:solidFill>
              </a:rPr>
              <a:t>1</a:t>
            </a:r>
          </a:p>
        </p:txBody>
      </p:sp>
      <p:grpSp>
        <p:nvGrpSpPr>
          <p:cNvPr id="14" name="Group 13">
            <a:extLst>
              <a:ext uri="{FF2B5EF4-FFF2-40B4-BE49-F238E27FC236}">
                <a16:creationId xmlns:a16="http://schemas.microsoft.com/office/drawing/2014/main" id="{0E4F2E1A-7DE2-FBDA-3259-E66AC53FECD8}"/>
              </a:ext>
            </a:extLst>
          </p:cNvPr>
          <p:cNvGrpSpPr/>
          <p:nvPr/>
        </p:nvGrpSpPr>
        <p:grpSpPr>
          <a:xfrm>
            <a:off x="2085174" y="2685324"/>
            <a:ext cx="7602164" cy="828942"/>
            <a:chOff x="2085174" y="2685324"/>
            <a:chExt cx="7602164" cy="828942"/>
          </a:xfrm>
        </p:grpSpPr>
        <p:sp>
          <p:nvSpPr>
            <p:cNvPr id="7" name="Rectangle 6">
              <a:extLst>
                <a:ext uri="{FF2B5EF4-FFF2-40B4-BE49-F238E27FC236}">
                  <a16:creationId xmlns:a16="http://schemas.microsoft.com/office/drawing/2014/main" id="{186C1190-29C9-A8D8-4462-9D1548BB165F}"/>
                </a:ext>
              </a:extLst>
            </p:cNvPr>
            <p:cNvSpPr/>
            <p:nvPr/>
          </p:nvSpPr>
          <p:spPr>
            <a:xfrm>
              <a:off x="2837203" y="2685324"/>
              <a:ext cx="6850135" cy="8289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lumMod val="85000"/>
                      <a:lumOff val="15000"/>
                    </a:schemeClr>
                  </a:solidFill>
                </a:rPr>
                <a:t>Biologically  plausible results detected in primary HBEC dataset</a:t>
              </a:r>
            </a:p>
          </p:txBody>
        </p:sp>
        <p:sp>
          <p:nvSpPr>
            <p:cNvPr id="8" name="Rectangle 7">
              <a:extLst>
                <a:ext uri="{FF2B5EF4-FFF2-40B4-BE49-F238E27FC236}">
                  <a16:creationId xmlns:a16="http://schemas.microsoft.com/office/drawing/2014/main" id="{5ADDD8D4-A699-3256-BAAF-4595DB41A342}"/>
                </a:ext>
              </a:extLst>
            </p:cNvPr>
            <p:cNvSpPr/>
            <p:nvPr/>
          </p:nvSpPr>
          <p:spPr>
            <a:xfrm>
              <a:off x="2085174" y="2779328"/>
              <a:ext cx="632389" cy="529840"/>
            </a:xfrm>
            <a:prstGeom prst="rect">
              <a:avLst/>
            </a:prstGeom>
            <a:solidFill>
              <a:srgbClr val="5E6EB5">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lumMod val="85000"/>
                      <a:lumOff val="15000"/>
                    </a:schemeClr>
                  </a:solidFill>
                </a:rPr>
                <a:t>2</a:t>
              </a:r>
            </a:p>
          </p:txBody>
        </p:sp>
      </p:grpSp>
      <p:grpSp>
        <p:nvGrpSpPr>
          <p:cNvPr id="15" name="Group 14">
            <a:extLst>
              <a:ext uri="{FF2B5EF4-FFF2-40B4-BE49-F238E27FC236}">
                <a16:creationId xmlns:a16="http://schemas.microsoft.com/office/drawing/2014/main" id="{223BCB37-046E-472C-FB08-1A704054B256}"/>
              </a:ext>
            </a:extLst>
          </p:cNvPr>
          <p:cNvGrpSpPr/>
          <p:nvPr/>
        </p:nvGrpSpPr>
        <p:grpSpPr>
          <a:xfrm>
            <a:off x="2085174" y="3781131"/>
            <a:ext cx="7602164" cy="828942"/>
            <a:chOff x="2085174" y="3781131"/>
            <a:chExt cx="7602164" cy="828942"/>
          </a:xfrm>
        </p:grpSpPr>
        <p:sp>
          <p:nvSpPr>
            <p:cNvPr id="9" name="Rectangle 8">
              <a:extLst>
                <a:ext uri="{FF2B5EF4-FFF2-40B4-BE49-F238E27FC236}">
                  <a16:creationId xmlns:a16="http://schemas.microsoft.com/office/drawing/2014/main" id="{3B61D82C-C962-CEA2-07A7-659480566971}"/>
                </a:ext>
              </a:extLst>
            </p:cNvPr>
            <p:cNvSpPr/>
            <p:nvPr/>
          </p:nvSpPr>
          <p:spPr>
            <a:xfrm>
              <a:off x="2837203" y="3781131"/>
              <a:ext cx="6850135" cy="8289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lumMod val="85000"/>
                      <a:lumOff val="15000"/>
                    </a:schemeClr>
                  </a:solidFill>
                </a:rPr>
                <a:t>Calu-3 dataset was underpowered which constrained analyses</a:t>
              </a:r>
            </a:p>
          </p:txBody>
        </p:sp>
        <p:sp>
          <p:nvSpPr>
            <p:cNvPr id="10" name="Rectangle 9">
              <a:extLst>
                <a:ext uri="{FF2B5EF4-FFF2-40B4-BE49-F238E27FC236}">
                  <a16:creationId xmlns:a16="http://schemas.microsoft.com/office/drawing/2014/main" id="{8D19E02F-2E3E-EEF2-F562-0E4AB46B3C43}"/>
                </a:ext>
              </a:extLst>
            </p:cNvPr>
            <p:cNvSpPr/>
            <p:nvPr/>
          </p:nvSpPr>
          <p:spPr>
            <a:xfrm>
              <a:off x="2085174" y="3875135"/>
              <a:ext cx="632389" cy="529840"/>
            </a:xfrm>
            <a:prstGeom prst="rect">
              <a:avLst/>
            </a:prstGeom>
            <a:solidFill>
              <a:srgbClr val="5E6EB5">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lumMod val="85000"/>
                      <a:lumOff val="15000"/>
                    </a:schemeClr>
                  </a:solidFill>
                </a:rPr>
                <a:t>3</a:t>
              </a:r>
            </a:p>
          </p:txBody>
        </p:sp>
      </p:grpSp>
      <p:grpSp>
        <p:nvGrpSpPr>
          <p:cNvPr id="16" name="Group 15">
            <a:extLst>
              <a:ext uri="{FF2B5EF4-FFF2-40B4-BE49-F238E27FC236}">
                <a16:creationId xmlns:a16="http://schemas.microsoft.com/office/drawing/2014/main" id="{3BC8B924-C8BA-3A07-4D41-466794C8341B}"/>
              </a:ext>
            </a:extLst>
          </p:cNvPr>
          <p:cNvGrpSpPr/>
          <p:nvPr/>
        </p:nvGrpSpPr>
        <p:grpSpPr>
          <a:xfrm>
            <a:off x="2085174" y="4970942"/>
            <a:ext cx="7602164" cy="828942"/>
            <a:chOff x="2085174" y="4970942"/>
            <a:chExt cx="7602164" cy="828942"/>
          </a:xfrm>
        </p:grpSpPr>
        <p:sp>
          <p:nvSpPr>
            <p:cNvPr id="11" name="Rectangle 10">
              <a:extLst>
                <a:ext uri="{FF2B5EF4-FFF2-40B4-BE49-F238E27FC236}">
                  <a16:creationId xmlns:a16="http://schemas.microsoft.com/office/drawing/2014/main" id="{A4011673-79B8-23FD-5E41-C02ECFC8E05A}"/>
                </a:ext>
              </a:extLst>
            </p:cNvPr>
            <p:cNvSpPr/>
            <p:nvPr/>
          </p:nvSpPr>
          <p:spPr>
            <a:xfrm>
              <a:off x="2837203" y="4970942"/>
              <a:ext cx="6850135" cy="8289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lumMod val="85000"/>
                      <a:lumOff val="15000"/>
                    </a:schemeClr>
                  </a:solidFill>
                </a:rPr>
                <a:t>Context-specific filtering would improve target gene-level enrichment</a:t>
              </a:r>
            </a:p>
          </p:txBody>
        </p:sp>
        <p:sp>
          <p:nvSpPr>
            <p:cNvPr id="12" name="Rectangle 11">
              <a:extLst>
                <a:ext uri="{FF2B5EF4-FFF2-40B4-BE49-F238E27FC236}">
                  <a16:creationId xmlns:a16="http://schemas.microsoft.com/office/drawing/2014/main" id="{8E5042FF-9499-4F9E-4544-E42631AD5E70}"/>
                </a:ext>
              </a:extLst>
            </p:cNvPr>
            <p:cNvSpPr/>
            <p:nvPr/>
          </p:nvSpPr>
          <p:spPr>
            <a:xfrm>
              <a:off x="2085174" y="5064946"/>
              <a:ext cx="632389" cy="529840"/>
            </a:xfrm>
            <a:prstGeom prst="rect">
              <a:avLst/>
            </a:prstGeom>
            <a:solidFill>
              <a:srgbClr val="5E6EB5">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lumMod val="85000"/>
                      <a:lumOff val="15000"/>
                    </a:schemeClr>
                  </a:solidFill>
                </a:rPr>
                <a:t>4</a:t>
              </a:r>
            </a:p>
          </p:txBody>
        </p:sp>
      </p:grpSp>
      <p:sp>
        <p:nvSpPr>
          <p:cNvPr id="17" name="Slide Number Placeholder 16">
            <a:extLst>
              <a:ext uri="{FF2B5EF4-FFF2-40B4-BE49-F238E27FC236}">
                <a16:creationId xmlns:a16="http://schemas.microsoft.com/office/drawing/2014/main" id="{5D17D513-C5D5-9D4E-EE8A-E394A549D6D7}"/>
              </a:ext>
            </a:extLst>
          </p:cNvPr>
          <p:cNvSpPr>
            <a:spLocks noGrp="1"/>
          </p:cNvSpPr>
          <p:nvPr>
            <p:ph type="sldNum" sz="quarter" idx="12"/>
          </p:nvPr>
        </p:nvSpPr>
        <p:spPr/>
        <p:txBody>
          <a:bodyPr/>
          <a:lstStyle/>
          <a:p>
            <a:fld id="{AAB2C436-2398-F34B-A706-69BC3409080B}" type="slidenum">
              <a:rPr lang="en-GB" smtClean="0"/>
              <a:t>17</a:t>
            </a:fld>
            <a:endParaRPr lang="en-GB"/>
          </a:p>
        </p:txBody>
      </p:sp>
    </p:spTree>
    <p:extLst>
      <p:ext uri="{BB962C8B-B14F-4D97-AF65-F5344CB8AC3E}">
        <p14:creationId xmlns:p14="http://schemas.microsoft.com/office/powerpoint/2010/main" val="713342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1887E-A621-D637-25F0-CC17BF01AB9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A31C63D-BDE2-7677-3679-DD088EE5B3A5}"/>
              </a:ext>
            </a:extLst>
          </p:cNvPr>
          <p:cNvSpPr txBox="1"/>
          <p:nvPr/>
        </p:nvSpPr>
        <p:spPr>
          <a:xfrm>
            <a:off x="313923" y="1225558"/>
            <a:ext cx="11272603" cy="1862048"/>
          </a:xfrm>
          <a:prstGeom prst="rect">
            <a:avLst/>
          </a:prstGeom>
          <a:noFill/>
          <a:ln>
            <a:noFill/>
          </a:ln>
        </p:spPr>
        <p:txBody>
          <a:bodyPr wrap="square" rtlCol="0">
            <a:spAutoFit/>
          </a:bodyPr>
          <a:lstStyle/>
          <a:p>
            <a:r>
              <a:rPr lang="en-GB" sz="11500" dirty="0">
                <a:solidFill>
                  <a:srgbClr val="002060"/>
                </a:solidFill>
              </a:rPr>
              <a:t>Thank you</a:t>
            </a:r>
          </a:p>
        </p:txBody>
      </p:sp>
      <p:sp>
        <p:nvSpPr>
          <p:cNvPr id="4" name="TextBox 3">
            <a:extLst>
              <a:ext uri="{FF2B5EF4-FFF2-40B4-BE49-F238E27FC236}">
                <a16:creationId xmlns:a16="http://schemas.microsoft.com/office/drawing/2014/main" id="{DAFB39C7-D04B-4E75-F5D9-33B150E3BB00}"/>
              </a:ext>
            </a:extLst>
          </p:cNvPr>
          <p:cNvSpPr txBox="1"/>
          <p:nvPr/>
        </p:nvSpPr>
        <p:spPr>
          <a:xfrm>
            <a:off x="795132" y="3296317"/>
            <a:ext cx="6294782" cy="2062103"/>
          </a:xfrm>
          <a:prstGeom prst="rect">
            <a:avLst/>
          </a:prstGeom>
          <a:noFill/>
        </p:spPr>
        <p:txBody>
          <a:bodyPr wrap="square" rtlCol="0">
            <a:spAutoFit/>
          </a:bodyPr>
          <a:lstStyle/>
          <a:p>
            <a:r>
              <a:rPr lang="en-GB" sz="2000" u="sng" dirty="0"/>
              <a:t>Acknowledgements</a:t>
            </a:r>
            <a:endParaRPr lang="en-GB" u="sng" dirty="0"/>
          </a:p>
          <a:p>
            <a:endParaRPr lang="en-GB" dirty="0"/>
          </a:p>
          <a:p>
            <a:r>
              <a:rPr lang="en-GB" dirty="0"/>
              <a:t>I would like to acknowledge and thank my project supervisors:</a:t>
            </a:r>
          </a:p>
          <a:p>
            <a:endParaRPr lang="en-GB" dirty="0"/>
          </a:p>
          <a:p>
            <a:r>
              <a:rPr lang="en-GB" dirty="0"/>
              <a:t>Professor Lucy Fairclough</a:t>
            </a:r>
          </a:p>
          <a:p>
            <a:r>
              <a:rPr lang="en-GB" dirty="0"/>
              <a:t>Dr Georgina Hopkins</a:t>
            </a:r>
          </a:p>
          <a:p>
            <a:r>
              <a:rPr lang="en-GB" dirty="0"/>
              <a:t>Dr Hannah Jackson</a:t>
            </a:r>
          </a:p>
        </p:txBody>
      </p:sp>
      <p:sp>
        <p:nvSpPr>
          <p:cNvPr id="5" name="Slide Number Placeholder 4">
            <a:extLst>
              <a:ext uri="{FF2B5EF4-FFF2-40B4-BE49-F238E27FC236}">
                <a16:creationId xmlns:a16="http://schemas.microsoft.com/office/drawing/2014/main" id="{CF06E89D-1531-CBCB-D4E8-C5B6DD92EBD8}"/>
              </a:ext>
            </a:extLst>
          </p:cNvPr>
          <p:cNvSpPr>
            <a:spLocks noGrp="1"/>
          </p:cNvSpPr>
          <p:nvPr>
            <p:ph type="sldNum" sz="quarter" idx="12"/>
          </p:nvPr>
        </p:nvSpPr>
        <p:spPr/>
        <p:txBody>
          <a:bodyPr/>
          <a:lstStyle/>
          <a:p>
            <a:fld id="{AAB2C436-2398-F34B-A706-69BC3409080B}" type="slidenum">
              <a:rPr lang="en-GB" smtClean="0"/>
              <a:t>18</a:t>
            </a:fld>
            <a:endParaRPr lang="en-GB"/>
          </a:p>
        </p:txBody>
      </p:sp>
    </p:spTree>
    <p:extLst>
      <p:ext uri="{BB962C8B-B14F-4D97-AF65-F5344CB8AC3E}">
        <p14:creationId xmlns:p14="http://schemas.microsoft.com/office/powerpoint/2010/main" val="8600901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6471</TotalTime>
  <Words>5031</Words>
  <Application>Microsoft Macintosh PowerPoint</Application>
  <PresentationFormat>Widescreen</PresentationFormat>
  <Paragraphs>562</Paragraphs>
  <Slides>18</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Wingdings</vt:lpstr>
      <vt:lpstr>Office Theme</vt:lpstr>
      <vt:lpstr>Transcriptomic analysis of extracellular vesicle miRNA cargo derived from allergen-exposed airway epithelial cells using open-access software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Janschke</dc:creator>
  <cp:lastModifiedBy>Chris Janschke</cp:lastModifiedBy>
  <cp:revision>222</cp:revision>
  <dcterms:created xsi:type="dcterms:W3CDTF">2026-08-03T12:33:40Z</dcterms:created>
  <dcterms:modified xsi:type="dcterms:W3CDTF">2026-09-04T15:00:42Z</dcterms:modified>
</cp:coreProperties>
</file>